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84"/>
  </p:notesMasterIdLst>
  <p:sldIdLst>
    <p:sldId id="351" r:id="rId2"/>
    <p:sldId id="352" r:id="rId3"/>
    <p:sldId id="368" r:id="rId4"/>
    <p:sldId id="421" r:id="rId5"/>
    <p:sldId id="35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422" r:id="rId26"/>
    <p:sldId id="423" r:id="rId27"/>
    <p:sldId id="424" r:id="rId28"/>
    <p:sldId id="278" r:id="rId29"/>
    <p:sldId id="279" r:id="rId30"/>
    <p:sldId id="280" r:id="rId31"/>
    <p:sldId id="281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54" r:id="rId68"/>
    <p:sldId id="355" r:id="rId69"/>
    <p:sldId id="356" r:id="rId70"/>
    <p:sldId id="357" r:id="rId71"/>
    <p:sldId id="358" r:id="rId72"/>
    <p:sldId id="359" r:id="rId73"/>
    <p:sldId id="360" r:id="rId74"/>
    <p:sldId id="361" r:id="rId75"/>
    <p:sldId id="362" r:id="rId76"/>
    <p:sldId id="363" r:id="rId77"/>
    <p:sldId id="364" r:id="rId78"/>
    <p:sldId id="365" r:id="rId79"/>
    <p:sldId id="366" r:id="rId80"/>
    <p:sldId id="367" r:id="rId81"/>
    <p:sldId id="328" r:id="rId82"/>
    <p:sldId id="350" r:id="rId83"/>
  </p:sldIdLst>
  <p:sldSz cx="12192000" cy="6858000"/>
  <p:notesSz cx="6858000" cy="9144000"/>
  <p:embeddedFontLst>
    <p:embeddedFont>
      <p:font typeface="Cambria" panose="02040503050406030204" pitchFamily="18" charset="0"/>
      <p:regular r:id="rId85"/>
      <p:bold r:id="rId86"/>
      <p:italic r:id="rId87"/>
      <p:boldItalic r:id="rId88"/>
    </p:embeddedFont>
    <p:embeddedFont>
      <p:font typeface="Cambria Math" panose="02040503050406030204" pitchFamily="18" charset="0"/>
      <p:regular r:id="rId89"/>
    </p:embeddedFont>
    <p:embeddedFont>
      <p:font typeface="Inter" panose="020B0604020202020204" charset="0"/>
      <p:regular r:id="rId90"/>
      <p:bold r:id="rId91"/>
    </p:embeddedFont>
    <p:embeddedFont>
      <p:font typeface="Noto Sans Symbols" panose="020B0604020202020204" charset="0"/>
      <p:regular r:id="rId92"/>
      <p:bold r:id="rId93"/>
    </p:embeddedFont>
    <p:embeddedFont>
      <p:font typeface="Proxima Nova" panose="020B0604020202020204" charset="0"/>
      <p:regular r:id="rId94"/>
      <p:bold r:id="rId95"/>
      <p:italic r:id="rId96"/>
      <p:boldItalic r:id="rId97"/>
    </p:embeddedFont>
    <p:embeddedFont>
      <p:font typeface="Roboto Condensed" panose="02000000000000000000" pitchFamily="2" charset="0"/>
      <p:regular r:id="rId98"/>
      <p:bold r:id="rId99"/>
      <p:italic r:id="rId100"/>
      <p:boldItalic r:id="rId101"/>
    </p:embeddedFont>
    <p:embeddedFont>
      <p:font typeface="Roboto Condensed Light" panose="02000000000000000000" pitchFamily="2" charset="0"/>
      <p:regular r:id="rId102"/>
      <p:italic r:id="rId103"/>
    </p:embeddedFont>
    <p:embeddedFont>
      <p:font typeface="Wingdings 3" panose="05040102010807070707" pitchFamily="18" charset="2"/>
      <p:regular r:id="rId10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9" roundtripDataSignature="AMtx7mj8bnz0hxwlAkPHLIo3jxSRTBGH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750480-3EDC-4DEC-B7F8-BA636A272CAC}">
  <a:tblStyle styleId="{FE750480-3EDC-4DEC-B7F8-BA636A272CAC}" styleName="Table_0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7E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E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Roboto Condensed"/>
          <a:ea typeface="Roboto Condensed"/>
          <a:cs typeface="Roboto Condensed"/>
        </a:font>
        <a:schemeClr val="dk1"/>
      </a:tcTxStyle>
      <a:tcStyle>
        <a:tcBdr/>
      </a:tcStyle>
    </a:seCell>
    <a:swCell>
      <a:tcTxStyle b="on" i="off">
        <a:font>
          <a:latin typeface="Roboto Condensed"/>
          <a:ea typeface="Roboto Condensed"/>
          <a:cs typeface="Roboto Condensed"/>
        </a:font>
        <a:schemeClr val="dk1"/>
      </a:tcTxStyle>
      <a:tcStyle>
        <a:tcBdr/>
      </a:tcStyle>
    </a:swCell>
    <a:firstRow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E06E4E-EA1E-47CB-A569-03130AA0B858}" styleName="Table_1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DD9269F-9A89-4867-B555-6547D0BA0393}" styleName="Table_2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EEEE"/>
          </a:solidFill>
        </a:fill>
      </a:tcStyle>
    </a:wholeTbl>
    <a:band1H>
      <a:tcTxStyle/>
      <a:tcStyle>
        <a:tcBdr/>
        <a:fill>
          <a:solidFill>
            <a:srgbClr val="DBDBD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BDBD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8.fntdata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font" Target="fonts/font1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9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7.fntdata"/><Relationship Id="rId96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19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99" Type="http://schemas.openxmlformats.org/officeDocument/2006/relationships/font" Target="fonts/font15.fntdata"/><Relationship Id="rId101" Type="http://schemas.openxmlformats.org/officeDocument/2006/relationships/font" Target="fonts/font17.fntdata"/><Relationship Id="rId12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3.fntdata"/><Relationship Id="rId104" Type="http://schemas.openxmlformats.org/officeDocument/2006/relationships/font" Target="fonts/font20.fntdata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font" Target="fonts/font14.fntdata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8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1111051-2C90-46E2-CDB0-894B35A5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6586A94B-7349-7BDF-1C7C-0C5659383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741E8E4E-719E-3B0C-E1EF-11C414577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6440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846D519B-D112-0926-5D59-B6F3FE6C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>
            <a:extLst>
              <a:ext uri="{FF2B5EF4-FFF2-40B4-BE49-F238E27FC236}">
                <a16:creationId xmlns:a16="http://schemas.microsoft.com/office/drawing/2014/main" id="{0735FFBA-E8B0-A19E-C25F-6919C3D80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7:notes">
            <a:extLst>
              <a:ext uri="{FF2B5EF4-FFF2-40B4-BE49-F238E27FC236}">
                <a16:creationId xmlns:a16="http://schemas.microsoft.com/office/drawing/2014/main" id="{7959CF89-E92B-B232-0A07-9080CC4B9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2514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6B58CCEA-F204-487B-29D2-BD9E303BC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>
            <a:extLst>
              <a:ext uri="{FF2B5EF4-FFF2-40B4-BE49-F238E27FC236}">
                <a16:creationId xmlns:a16="http://schemas.microsoft.com/office/drawing/2014/main" id="{E65EEABA-8CC0-AC23-969D-2B24178964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7:notes">
            <a:extLst>
              <a:ext uri="{FF2B5EF4-FFF2-40B4-BE49-F238E27FC236}">
                <a16:creationId xmlns:a16="http://schemas.microsoft.com/office/drawing/2014/main" id="{1E5566EA-43B4-4965-7D80-0F2BCC9A0B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03505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C71229FF-7586-B1BF-13B1-F8DF29CAA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>
            <a:extLst>
              <a:ext uri="{FF2B5EF4-FFF2-40B4-BE49-F238E27FC236}">
                <a16:creationId xmlns:a16="http://schemas.microsoft.com/office/drawing/2014/main" id="{5045045C-A17B-F80D-1AE0-E4FAA6FE7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7:notes">
            <a:extLst>
              <a:ext uri="{FF2B5EF4-FFF2-40B4-BE49-F238E27FC236}">
                <a16:creationId xmlns:a16="http://schemas.microsoft.com/office/drawing/2014/main" id="{7896F46F-10A9-9983-E3B3-95B1646E8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2036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Member attributes depend on LoanID alone (part of composite PK).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9160583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Author depends on BookTitle; move to Book to avoid non-key → non-key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7837223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Author uniquely determines BookTitle in this dataset: Author → BookTitle; split to meet BCNF.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0468508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StudentName depends only on StudentID (part of composite PK), so we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depends on Course; separate Course → Instructor to remove non-key → non-key.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'Instructor teaches exactly one Course', then Instructor → Course; split into BCNF.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6417CA-5CE5-44ED-ACBB-76CC4074926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42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7464"/>
            <a:ext cx="10515600" cy="563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16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7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91953"/>
            <a:ext cx="10515600" cy="733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688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36342"/>
            <a:ext cx="10515600" cy="5543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06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71852"/>
            <a:ext cx="10515600" cy="116690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221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13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18586"/>
            <a:ext cx="3932237" cy="9388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18586"/>
            <a:ext cx="6172200" cy="4742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97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18586"/>
            <a:ext cx="3932237" cy="9388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18586"/>
            <a:ext cx="6172200" cy="47424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0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0831"/>
            <a:ext cx="10515600" cy="5898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419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207361"/>
            <a:ext cx="2628900" cy="4969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07363"/>
            <a:ext cx="7734300" cy="49696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123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R">
  <p:cSld name="Title and Content - Logo on B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9"/>
          <p:cNvSpPr txBox="1">
            <a:spLocks noGrp="1"/>
          </p:cNvSpPr>
          <p:nvPr>
            <p:ph type="body" idx="1"/>
          </p:nvPr>
        </p:nvSpPr>
        <p:spPr>
          <a:xfrm>
            <a:off x="292963" y="1118586"/>
            <a:ext cx="11567604" cy="533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2" name="Google Shape;32;p99"/>
          <p:cNvSpPr txBox="1">
            <a:spLocks noGrp="1"/>
          </p:cNvSpPr>
          <p:nvPr>
            <p:ph type="title"/>
          </p:nvPr>
        </p:nvSpPr>
        <p:spPr>
          <a:xfrm>
            <a:off x="62144" y="153916"/>
            <a:ext cx="8993079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8596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Maroon">
  <p:cSld name="Title Slide - Maroon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83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2" y="6558876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Rachit Adhvaryu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6089374" cy="2359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#01CE3302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-3 </a:t>
            </a:r>
            <a:r>
              <a:rPr lang="en-IN" dirty="0"/>
              <a:t>Relational Data Model: Introduction, Degree, Cardinality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26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oogle Shape;67;p15">
            <a:extLst>
              <a:ext uri="{FF2B5EF4-FFF2-40B4-BE49-F238E27FC236}">
                <a16:creationId xmlns:a16="http://schemas.microsoft.com/office/drawing/2014/main" id="{43F2B25C-5CED-7229-4E36-79CBC6C0F167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" y="18069"/>
            <a:ext cx="12191998" cy="6597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5">
            <a:extLst>
              <a:ext uri="{FF2B5EF4-FFF2-40B4-BE49-F238E27FC236}">
                <a16:creationId xmlns:a16="http://schemas.microsoft.com/office/drawing/2014/main" id="{E0D7786A-46CB-9A6F-5545-A444D4D465B3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" y="-69117"/>
            <a:ext cx="12190960" cy="6663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B32B0F-EDE9-A819-E262-DA1A0AD346C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8039" y="-35905"/>
            <a:ext cx="2706859" cy="89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6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3A372-BE42-451E-B14C-5FF9C6C0F46F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6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01786-4A29-220A-F690-4E9E38A18181}"/>
              </a:ext>
            </a:extLst>
          </p:cNvPr>
          <p:cNvSpPr txBox="1"/>
          <p:nvPr/>
        </p:nvSpPr>
        <p:spPr>
          <a:xfrm>
            <a:off x="8199864" y="254638"/>
            <a:ext cx="3630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Department of Computer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 Engineering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3AEBC-2BA4-2659-CD5F-95D99DED786B}"/>
              </a:ext>
            </a:extLst>
          </p:cNvPr>
          <p:cNvSpPr txBox="1"/>
          <p:nvPr/>
        </p:nvSpPr>
        <p:spPr>
          <a:xfrm>
            <a:off x="263259" y="4256049"/>
            <a:ext cx="6410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Database Management</a:t>
            </a:r>
            <a:r>
              <a:rPr lang="en-IN" sz="1800" b="1" kern="1200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Systems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(O1CE3302)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Module #4 – Functional Dependency &amp; Normalization</a:t>
            </a:r>
          </a:p>
        </p:txBody>
      </p:sp>
      <p:sp>
        <p:nvSpPr>
          <p:cNvPr id="7" name="Google Shape;89;p1">
            <a:extLst>
              <a:ext uri="{FF2B5EF4-FFF2-40B4-BE49-F238E27FC236}">
                <a16:creationId xmlns:a16="http://schemas.microsoft.com/office/drawing/2014/main" id="{5FA9B07C-E1AD-9A5B-C89E-B796AECF96CC}"/>
              </a:ext>
            </a:extLst>
          </p:cNvPr>
          <p:cNvSpPr txBox="1"/>
          <p:nvPr/>
        </p:nvSpPr>
        <p:spPr>
          <a:xfrm>
            <a:off x="351283" y="6007085"/>
            <a:ext cx="44166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Asst. Prof. Twinkle Bhimani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3742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8;p4">
            <a:extLst>
              <a:ext uri="{FF2B5EF4-FFF2-40B4-BE49-F238E27FC236}">
                <a16:creationId xmlns:a16="http://schemas.microsoft.com/office/drawing/2014/main" id="{1F9C8DFE-79F5-129B-CCE2-C0C3C4A57EC8}"/>
              </a:ext>
            </a:extLst>
          </p:cNvPr>
          <p:cNvSpPr/>
          <p:nvPr/>
        </p:nvSpPr>
        <p:spPr>
          <a:xfrm>
            <a:off x="0" y="0"/>
            <a:ext cx="4238148" cy="98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Outline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223035" y="974257"/>
            <a:ext cx="8820000" cy="572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2" indent="-2857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Functional Dependency</a:t>
            </a:r>
            <a:endParaRPr dirty="0"/>
          </a:p>
          <a:p>
            <a:pPr marL="900113" marR="0" lvl="2" indent="-276225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Definition and types of FD</a:t>
            </a:r>
            <a:endParaRPr dirty="0"/>
          </a:p>
          <a:p>
            <a:pPr marL="900113" marR="0" lvl="2" indent="-276225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Armstrong's axioms (inference rules)</a:t>
            </a:r>
            <a:endParaRPr dirty="0"/>
          </a:p>
          <a:p>
            <a:pPr marL="285750" marR="0" lvl="2" indent="-2857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Closure of FD set</a:t>
            </a:r>
            <a:endParaRPr dirty="0"/>
          </a:p>
          <a:p>
            <a:pPr marL="285750" marR="0" lvl="2" indent="-2857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Closure of attribute set</a:t>
            </a:r>
            <a:endParaRPr dirty="0"/>
          </a:p>
          <a:p>
            <a:pPr marL="285750" marR="0" lvl="2" indent="-2857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Canonical cover</a:t>
            </a:r>
            <a:endParaRPr dirty="0"/>
          </a:p>
          <a:p>
            <a:pPr marL="285750" marR="0" lvl="2" indent="-2857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Decomposition and its types</a:t>
            </a:r>
            <a:endParaRPr dirty="0"/>
          </a:p>
          <a:p>
            <a:pPr marL="285750" marR="0" lvl="2" indent="-2857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Anomaly in database design and its types</a:t>
            </a:r>
            <a:endParaRPr dirty="0"/>
          </a:p>
          <a:p>
            <a:pPr marL="285750" marR="0" lvl="2" indent="-2857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Normalization and normal forms</a:t>
            </a:r>
            <a:endParaRPr dirty="0"/>
          </a:p>
          <a:p>
            <a:pPr marL="900113" marR="0" lvl="2" indent="-276225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1NF</a:t>
            </a:r>
            <a:endParaRPr dirty="0"/>
          </a:p>
          <a:p>
            <a:pPr marL="900113" marR="0" lvl="2" indent="-276225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2NF</a:t>
            </a:r>
            <a:endParaRPr dirty="0"/>
          </a:p>
          <a:p>
            <a:pPr marL="900113" marR="0" lvl="2" indent="-276225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3NF</a:t>
            </a:r>
            <a:endParaRPr dirty="0"/>
          </a:p>
          <a:p>
            <a:pPr marL="900113" marR="0" lvl="2" indent="-276225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BCNF</a:t>
            </a:r>
            <a:endParaRPr dirty="0"/>
          </a:p>
          <a:p>
            <a:pPr marL="900113" marR="0" lvl="2" indent="-276225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4NF</a:t>
            </a:r>
            <a:endParaRPr dirty="0"/>
          </a:p>
          <a:p>
            <a:pPr marL="900113" marR="0" lvl="2" indent="-276225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5NF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976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Super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1042553"/>
            <a:ext cx="11929641" cy="5590565"/>
          </a:xfrm>
        </p:spPr>
        <p:txBody>
          <a:bodyPr/>
          <a:lstStyle/>
          <a:p>
            <a:r>
              <a:rPr lang="en-US" dirty="0"/>
              <a:t>A super key is a set of one or more </a:t>
            </a:r>
            <a:r>
              <a:rPr lang="en-US" b="1" dirty="0">
                <a:solidFill>
                  <a:schemeClr val="accent6"/>
                </a:solidFill>
              </a:rPr>
              <a:t>attributes whose values uniquely identifies each record</a:t>
            </a:r>
            <a:r>
              <a:rPr lang="en-US" dirty="0"/>
              <a:t> within a relation (table).</a:t>
            </a: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2663819" y="2977039"/>
          <a:ext cx="5821620" cy="3291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8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190540107001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190540107002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190540106001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190540106002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180540107001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180540106001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CI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Tarun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180540106002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CI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674185" y="2958206"/>
            <a:ext cx="1584961" cy="3310128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2521787" y="1874737"/>
            <a:ext cx="1737360" cy="731520"/>
          </a:xfrm>
          <a:prstGeom prst="wedgeRoundRectCallout">
            <a:avLst>
              <a:gd name="adj1" fmla="val -21348"/>
              <a:gd name="adj2" fmla="val 9697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Super Key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</a:rPr>
              <a:t>EnrollNo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59146" y="2962971"/>
            <a:ext cx="2363327" cy="3320166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ular Callout 13"/>
          <p:cNvSpPr/>
          <p:nvPr/>
        </p:nvSpPr>
        <p:spPr>
          <a:xfrm>
            <a:off x="4531330" y="1874737"/>
            <a:ext cx="2560320" cy="731520"/>
          </a:xfrm>
          <a:prstGeom prst="wedgeRoundRectCallout">
            <a:avLst>
              <a:gd name="adj1" fmla="val -21233"/>
              <a:gd name="adj2" fmla="val 9909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Super Key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RollNo</a:t>
            </a:r>
            <a:r>
              <a:rPr lang="en-US" sz="2000" dirty="0">
                <a:solidFill>
                  <a:schemeClr val="tx1"/>
                </a:solidFill>
              </a:rPr>
              <a:t>, Branch, </a:t>
            </a:r>
            <a:r>
              <a:rPr lang="en-US" sz="2000" dirty="0" err="1">
                <a:solidFill>
                  <a:schemeClr val="tx1"/>
                </a:solidFill>
              </a:rPr>
              <a:t>Sem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7363832" y="1873201"/>
            <a:ext cx="1836000" cy="731520"/>
          </a:xfrm>
          <a:prstGeom prst="wedgeRoundRectCallout">
            <a:avLst>
              <a:gd name="adj1" fmla="val -21233"/>
              <a:gd name="adj2" fmla="val 9909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Super Key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(SPI, Name, BL)</a:t>
            </a:r>
          </a:p>
        </p:txBody>
      </p:sp>
      <p:sp>
        <p:nvSpPr>
          <p:cNvPr id="16" name="Multiply 15"/>
          <p:cNvSpPr/>
          <p:nvPr/>
        </p:nvSpPr>
        <p:spPr>
          <a:xfrm>
            <a:off x="7870669" y="1679787"/>
            <a:ext cx="822325" cy="1118347"/>
          </a:xfrm>
          <a:prstGeom prst="mathMultiply">
            <a:avLst>
              <a:gd name="adj1" fmla="val 5659"/>
            </a:avLst>
          </a:prstGeom>
          <a:solidFill>
            <a:srgbClr val="B84742"/>
          </a:solidFill>
          <a:ln w="25400" cap="flat" cmpd="sng" algn="ctr">
            <a:solidFill>
              <a:srgbClr val="B8474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340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Candidate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1023700"/>
            <a:ext cx="11929641" cy="5590565"/>
          </a:xfrm>
        </p:spPr>
        <p:txBody>
          <a:bodyPr/>
          <a:lstStyle/>
          <a:p>
            <a:r>
              <a:rPr lang="en-US" dirty="0"/>
              <a:t>A candidate key is a </a:t>
            </a:r>
            <a:r>
              <a:rPr lang="en-US" b="1" dirty="0">
                <a:solidFill>
                  <a:schemeClr val="accent6"/>
                </a:solidFill>
              </a:rPr>
              <a:t>subset of a super key</a:t>
            </a:r>
            <a:r>
              <a:rPr lang="en-US" dirty="0"/>
              <a:t>.</a:t>
            </a:r>
          </a:p>
          <a:p>
            <a:r>
              <a:rPr lang="en-US" dirty="0"/>
              <a:t>A candidate key is a single attribute or the least combination of attributes that uniquely identifies each record in the table. </a:t>
            </a:r>
          </a:p>
          <a:p>
            <a:r>
              <a:rPr lang="en-US" dirty="0"/>
              <a:t>A candidate key is a </a:t>
            </a:r>
            <a:r>
              <a:rPr lang="en-US" b="1" dirty="0">
                <a:solidFill>
                  <a:schemeClr val="accent6"/>
                </a:solidFill>
              </a:rPr>
              <a:t>super key for which no proper subset is a super key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Every candidate key is a super key </a:t>
            </a:r>
            <a:r>
              <a:rPr lang="en-US" dirty="0"/>
              <a:t>but </a:t>
            </a:r>
            <a:r>
              <a:rPr lang="en-US" b="1" dirty="0">
                <a:solidFill>
                  <a:schemeClr val="accent6"/>
                </a:solidFill>
              </a:rPr>
              <a:t>every super key is not a candidate key</a:t>
            </a:r>
            <a:r>
              <a:rPr lang="en-US" dirty="0"/>
              <a:t>.</a:t>
            </a: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2663819" y="4334785"/>
          <a:ext cx="5821620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8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190540107001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180540107002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190540106001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180540106002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674185" y="4315952"/>
            <a:ext cx="1584961" cy="2059982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2521787" y="3232483"/>
            <a:ext cx="1737360" cy="731520"/>
          </a:xfrm>
          <a:prstGeom prst="wedgeRoundRectCallout">
            <a:avLst>
              <a:gd name="adj1" fmla="val -21348"/>
              <a:gd name="adj2" fmla="val 9697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Candidate Key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</a:rPr>
              <a:t>EnrollNo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59146" y="4320717"/>
            <a:ext cx="2363327" cy="2066229"/>
          </a:xfrm>
          <a:prstGeom prst="roundRect">
            <a:avLst>
              <a:gd name="adj" fmla="val 4514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ular Callout 13"/>
          <p:cNvSpPr/>
          <p:nvPr/>
        </p:nvSpPr>
        <p:spPr>
          <a:xfrm>
            <a:off x="4531330" y="3232483"/>
            <a:ext cx="2560320" cy="731520"/>
          </a:xfrm>
          <a:prstGeom prst="wedgeRoundRectCallout">
            <a:avLst>
              <a:gd name="adj1" fmla="val -21233"/>
              <a:gd name="adj2" fmla="val 99090"/>
              <a:gd name="adj3" fmla="val 16667"/>
            </a:avLst>
          </a:prstGeom>
          <a:solidFill>
            <a:srgbClr val="FAFAF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Candidate Key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RollNo</a:t>
            </a:r>
            <a:r>
              <a:rPr lang="en-US" sz="2000" dirty="0">
                <a:solidFill>
                  <a:schemeClr val="tx1"/>
                </a:solidFill>
              </a:rPr>
              <a:t>, Branch, </a:t>
            </a:r>
            <a:r>
              <a:rPr lang="en-US" sz="2000" dirty="0" err="1">
                <a:solidFill>
                  <a:schemeClr val="tx1"/>
                </a:solidFill>
              </a:rPr>
              <a:t>Sem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442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7F0FB314-EDBB-C3C6-E3AA-5FEEC6C6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>
            <a:extLst>
              <a:ext uri="{FF2B5EF4-FFF2-40B4-BE49-F238E27FC236}">
                <a16:creationId xmlns:a16="http://schemas.microsoft.com/office/drawing/2014/main" id="{EC65EC88-E684-B9F5-6C8B-799820D1F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179" y="1010733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Let R be a relation schema having n attributes A1, A2, A3,…, An.</a:t>
            </a: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Let attributes X and Y are two subsets of attributes of relation 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If the </a:t>
            </a:r>
            <a:r>
              <a:rPr lang="en-US" b="1" dirty="0">
                <a:solidFill>
                  <a:schemeClr val="accent6"/>
                </a:solidFill>
              </a:rPr>
              <a:t>values of the X component of a tuple uniquely </a:t>
            </a:r>
            <a:r>
              <a:rPr lang="en-US" dirty="0"/>
              <a:t>(or functionally) </a:t>
            </a:r>
            <a:r>
              <a:rPr lang="en-US" b="1" dirty="0">
                <a:solidFill>
                  <a:schemeClr val="accent6"/>
                </a:solidFill>
              </a:rPr>
              <a:t>determine the values of the Y component</a:t>
            </a:r>
            <a:r>
              <a:rPr lang="en-US" dirty="0"/>
              <a:t>, then there is a </a:t>
            </a:r>
            <a:r>
              <a:rPr lang="en-US" b="1" dirty="0">
                <a:solidFill>
                  <a:schemeClr val="accent6"/>
                </a:solidFill>
              </a:rPr>
              <a:t>functional dependency from X to Y</a:t>
            </a:r>
            <a:r>
              <a:rPr lang="en-US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This is denoted by </a:t>
            </a:r>
            <a:r>
              <a:rPr lang="en-US" b="1" dirty="0">
                <a:solidFill>
                  <a:schemeClr val="accent6"/>
                </a:solidFill>
              </a:rPr>
              <a:t>X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Y </a:t>
            </a:r>
            <a:r>
              <a:rPr lang="en-US" dirty="0"/>
              <a:t>(</a:t>
            </a:r>
            <a:r>
              <a:rPr lang="en-US" dirty="0" err="1"/>
              <a:t>i.e</a:t>
            </a:r>
            <a:r>
              <a:rPr lang="en-US" dirty="0"/>
              <a:t> </a:t>
            </a:r>
            <a:r>
              <a:rPr lang="en-US" dirty="0" err="1"/>
              <a:t>RollNo</a:t>
            </a:r>
            <a:r>
              <a:rPr lang="en-US" dirty="0"/>
              <a:t>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Name, SPI, BL).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It is referred as: </a:t>
            </a:r>
            <a:r>
              <a:rPr lang="en-US" b="1" dirty="0">
                <a:solidFill>
                  <a:schemeClr val="accent6"/>
                </a:solidFill>
              </a:rPr>
              <a:t>Y is functionally dependent on the X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/>
                </a:solidFill>
              </a:rPr>
              <a:t>X functionally determines Y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28DF0DF8-A7E8-A7FE-DCC1-79F5649BF5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995"/>
            <a:ext cx="12192000" cy="859389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What is Functional Dependency (FD)?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71" name="Google Shape;71;p3">
            <a:extLst>
              <a:ext uri="{FF2B5EF4-FFF2-40B4-BE49-F238E27FC236}">
                <a16:creationId xmlns:a16="http://schemas.microsoft.com/office/drawing/2014/main" id="{57DBB461-4AF1-57F6-E723-23D62363DA97}"/>
              </a:ext>
            </a:extLst>
          </p:cNvPr>
          <p:cNvGraphicFramePr/>
          <p:nvPr/>
        </p:nvGraphicFramePr>
        <p:xfrm>
          <a:off x="591600" y="1748641"/>
          <a:ext cx="2727025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8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RollNo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104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" name="Google Shape;72;p3">
            <a:extLst>
              <a:ext uri="{FF2B5EF4-FFF2-40B4-BE49-F238E27FC236}">
                <a16:creationId xmlns:a16="http://schemas.microsoft.com/office/drawing/2014/main" id="{AFC90F9F-37A3-50CF-5A41-3E7D769B3890}"/>
              </a:ext>
            </a:extLst>
          </p:cNvPr>
          <p:cNvGraphicFramePr/>
          <p:nvPr/>
        </p:nvGraphicFramePr>
        <p:xfrm>
          <a:off x="590421" y="1381812"/>
          <a:ext cx="9144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Student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12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the relation Account(account_no, balance, branch).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lang="en-US">
                <a:solidFill>
                  <a:schemeClr val="dk2"/>
                </a:solidFill>
              </a:rPr>
              <a:t>account_no</a:t>
            </a:r>
            <a:r>
              <a:rPr lang="en-US"/>
              <a:t> can </a:t>
            </a:r>
            <a:r>
              <a:rPr lang="en-US">
                <a:solidFill>
                  <a:schemeClr val="dk2"/>
                </a:solidFill>
              </a:rPr>
              <a:t>determine balance and branch</a:t>
            </a:r>
            <a:r>
              <a:rPr lang="en-US"/>
              <a:t>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So, there is a functional dependency from </a:t>
            </a:r>
            <a:r>
              <a:rPr lang="en-US">
                <a:solidFill>
                  <a:schemeClr val="dk2"/>
                </a:solidFill>
              </a:rPr>
              <a:t>account_no to balance and branch</a:t>
            </a:r>
            <a:r>
              <a:rPr lang="en-US"/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can be denoted by </a:t>
            </a:r>
            <a:r>
              <a:rPr lang="en-US">
                <a:solidFill>
                  <a:schemeClr val="dk2"/>
                </a:solidFill>
              </a:rPr>
              <a:t>account_no </a:t>
            </a: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>
                <a:solidFill>
                  <a:schemeClr val="dk2"/>
                </a:solidFill>
              </a:rPr>
              <a:t> {balance, branch}</a:t>
            </a:r>
            <a:r>
              <a:rPr lang="en-US"/>
              <a:t>.</a:t>
            </a:r>
            <a:endParaRPr/>
          </a:p>
        </p:txBody>
      </p:sp>
      <p:sp>
        <p:nvSpPr>
          <p:cNvPr id="77" name="Google Shape;7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Diagrammatic representation of FD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838200" y="1435388"/>
            <a:ext cx="76200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</a:t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1600200" y="1435387"/>
            <a:ext cx="76200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</a:t>
            </a:r>
            <a:endParaRPr/>
          </a:p>
        </p:txBody>
      </p:sp>
      <p:cxnSp>
        <p:nvCxnSpPr>
          <p:cNvPr id="81" name="Google Shape;81;p4"/>
          <p:cNvCxnSpPr/>
          <p:nvPr/>
        </p:nvCxnSpPr>
        <p:spPr>
          <a:xfrm>
            <a:off x="1219200" y="2012951"/>
            <a:ext cx="0" cy="329624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" name="Google Shape;82;p4"/>
          <p:cNvCxnSpPr/>
          <p:nvPr/>
        </p:nvCxnSpPr>
        <p:spPr>
          <a:xfrm>
            <a:off x="1219200" y="2329270"/>
            <a:ext cx="762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3" name="Google Shape;83;p4"/>
          <p:cNvCxnSpPr/>
          <p:nvPr/>
        </p:nvCxnSpPr>
        <p:spPr>
          <a:xfrm rot="10800000">
            <a:off x="1981200" y="2012950"/>
            <a:ext cx="0" cy="32962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84;p4"/>
          <p:cNvSpPr txBox="1"/>
          <p:nvPr/>
        </p:nvSpPr>
        <p:spPr>
          <a:xfrm>
            <a:off x="3124200" y="1435388"/>
            <a:ext cx="76200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X1</a:t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3886200" y="1435387"/>
            <a:ext cx="76200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X2</a:t>
            </a:r>
            <a:endParaRPr/>
          </a:p>
        </p:txBody>
      </p:sp>
      <p:cxnSp>
        <p:nvCxnSpPr>
          <p:cNvPr id="86" name="Google Shape;86;p4"/>
          <p:cNvCxnSpPr/>
          <p:nvPr/>
        </p:nvCxnSpPr>
        <p:spPr>
          <a:xfrm>
            <a:off x="3505200" y="2032575"/>
            <a:ext cx="0" cy="329624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7" name="Google Shape;87;p4"/>
          <p:cNvCxnSpPr/>
          <p:nvPr/>
        </p:nvCxnSpPr>
        <p:spPr>
          <a:xfrm rot="10800000" flipH="1">
            <a:off x="3505200" y="2349787"/>
            <a:ext cx="762000" cy="4763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4"/>
          <p:cNvSpPr txBox="1"/>
          <p:nvPr/>
        </p:nvSpPr>
        <p:spPr>
          <a:xfrm>
            <a:off x="4648200" y="1435387"/>
            <a:ext cx="76200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</a:t>
            </a:r>
            <a:endParaRPr/>
          </a:p>
        </p:txBody>
      </p:sp>
      <p:cxnSp>
        <p:nvCxnSpPr>
          <p:cNvPr id="89" name="Google Shape;89;p4"/>
          <p:cNvCxnSpPr/>
          <p:nvPr/>
        </p:nvCxnSpPr>
        <p:spPr>
          <a:xfrm rot="10800000">
            <a:off x="5029200" y="2032576"/>
            <a:ext cx="0" cy="626318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" name="Google Shape;90;p4"/>
          <p:cNvCxnSpPr/>
          <p:nvPr/>
        </p:nvCxnSpPr>
        <p:spPr>
          <a:xfrm>
            <a:off x="4267200" y="2032575"/>
            <a:ext cx="0" cy="329624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4"/>
          <p:cNvSpPr txBox="1"/>
          <p:nvPr/>
        </p:nvSpPr>
        <p:spPr>
          <a:xfrm>
            <a:off x="6172200" y="1435388"/>
            <a:ext cx="76200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</a:t>
            </a:r>
            <a:endParaRPr/>
          </a:p>
        </p:txBody>
      </p:sp>
      <p:sp>
        <p:nvSpPr>
          <p:cNvPr id="92" name="Google Shape;92;p4"/>
          <p:cNvSpPr txBox="1"/>
          <p:nvPr/>
        </p:nvSpPr>
        <p:spPr>
          <a:xfrm>
            <a:off x="6934200" y="1435387"/>
            <a:ext cx="76200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Y1</a:t>
            </a:r>
            <a:endParaRPr/>
          </a:p>
        </p:txBody>
      </p:sp>
      <p:cxnSp>
        <p:nvCxnSpPr>
          <p:cNvPr id="93" name="Google Shape;93;p4"/>
          <p:cNvCxnSpPr/>
          <p:nvPr/>
        </p:nvCxnSpPr>
        <p:spPr>
          <a:xfrm>
            <a:off x="6400800" y="2015490"/>
            <a:ext cx="0" cy="64008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" name="Google Shape;94;p4"/>
          <p:cNvCxnSpPr/>
          <p:nvPr/>
        </p:nvCxnSpPr>
        <p:spPr>
          <a:xfrm rot="10800000" flipH="1">
            <a:off x="6698457" y="2342575"/>
            <a:ext cx="630936" cy="721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" name="Google Shape;95;p4"/>
          <p:cNvSpPr txBox="1"/>
          <p:nvPr/>
        </p:nvSpPr>
        <p:spPr>
          <a:xfrm>
            <a:off x="7696200" y="1435387"/>
            <a:ext cx="76200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Y2</a:t>
            </a:r>
            <a:endParaRPr/>
          </a:p>
        </p:txBody>
      </p:sp>
      <p:cxnSp>
        <p:nvCxnSpPr>
          <p:cNvPr id="96" name="Google Shape;96;p4"/>
          <p:cNvCxnSpPr/>
          <p:nvPr/>
        </p:nvCxnSpPr>
        <p:spPr>
          <a:xfrm rot="10800000">
            <a:off x="8077200" y="2015491"/>
            <a:ext cx="0" cy="64008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7" name="Google Shape;97;p4"/>
          <p:cNvCxnSpPr/>
          <p:nvPr/>
        </p:nvCxnSpPr>
        <p:spPr>
          <a:xfrm rot="10800000">
            <a:off x="7315200" y="2020162"/>
            <a:ext cx="0" cy="32962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8" name="Google Shape;98;p4"/>
          <p:cNvSpPr txBox="1"/>
          <p:nvPr/>
        </p:nvSpPr>
        <p:spPr>
          <a:xfrm>
            <a:off x="1196139" y="978872"/>
            <a:ext cx="93746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 </a:t>
            </a:r>
            <a:r>
              <a:rPr lang="en-US" sz="20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0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</a:t>
            </a:r>
            <a:endParaRPr sz="2000" b="0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3454400" y="975042"/>
            <a:ext cx="155448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{X1, X2} </a:t>
            </a:r>
            <a:r>
              <a:rPr lang="en-US" sz="20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</a:t>
            </a:r>
            <a:endParaRPr sz="2000" b="0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6578599" y="976914"/>
            <a:ext cx="155448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 </a:t>
            </a:r>
            <a:r>
              <a:rPr lang="en-US" sz="20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{Y1, Y2}</a:t>
            </a:r>
            <a:endParaRPr sz="2000" b="0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3886200" y="2341175"/>
            <a:ext cx="0" cy="32004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2" name="Google Shape;102;p4"/>
          <p:cNvCxnSpPr/>
          <p:nvPr/>
        </p:nvCxnSpPr>
        <p:spPr>
          <a:xfrm>
            <a:off x="3874295" y="2652798"/>
            <a:ext cx="1161288" cy="371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3" name="Google Shape;103;p4"/>
          <p:cNvCxnSpPr/>
          <p:nvPr/>
        </p:nvCxnSpPr>
        <p:spPr>
          <a:xfrm>
            <a:off x="6705600" y="2032575"/>
            <a:ext cx="0" cy="329624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" name="Google Shape;104;p4"/>
          <p:cNvCxnSpPr/>
          <p:nvPr/>
        </p:nvCxnSpPr>
        <p:spPr>
          <a:xfrm>
            <a:off x="6400800" y="2641368"/>
            <a:ext cx="1676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4"/>
          <p:cNvSpPr txBox="1"/>
          <p:nvPr/>
        </p:nvSpPr>
        <p:spPr>
          <a:xfrm>
            <a:off x="1143000" y="5464942"/>
            <a:ext cx="265176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sng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account_no</a:t>
            </a:r>
            <a:endParaRPr sz="3200" b="0" i="0" u="sng" strike="noStrike" cap="non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3794760" y="5464942"/>
            <a:ext cx="152400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balance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5318760" y="5464942"/>
            <a:ext cx="1920240" cy="58477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branch</a:t>
            </a:r>
            <a:endParaRPr/>
          </a:p>
        </p:txBody>
      </p:sp>
      <p:grpSp>
        <p:nvGrpSpPr>
          <p:cNvPr id="108" name="Google Shape;108;p4"/>
          <p:cNvGrpSpPr/>
          <p:nvPr/>
        </p:nvGrpSpPr>
        <p:grpSpPr>
          <a:xfrm>
            <a:off x="2590800" y="6054097"/>
            <a:ext cx="3483381" cy="374904"/>
            <a:chOff x="2590800" y="5882640"/>
            <a:chExt cx="3483381" cy="374904"/>
          </a:xfrm>
        </p:grpSpPr>
        <p:cxnSp>
          <p:nvCxnSpPr>
            <p:cNvPr id="109" name="Google Shape;109;p4"/>
            <p:cNvCxnSpPr/>
            <p:nvPr/>
          </p:nvCxnSpPr>
          <p:spPr>
            <a:xfrm>
              <a:off x="2590800" y="5882640"/>
              <a:ext cx="0" cy="374904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" name="Google Shape;110;p4"/>
            <p:cNvCxnSpPr/>
            <p:nvPr/>
          </p:nvCxnSpPr>
          <p:spPr>
            <a:xfrm rot="10800000">
              <a:off x="4542989" y="5882640"/>
              <a:ext cx="0" cy="36576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11" name="Google Shape;111;p4"/>
            <p:cNvCxnSpPr/>
            <p:nvPr/>
          </p:nvCxnSpPr>
          <p:spPr>
            <a:xfrm rot="10800000">
              <a:off x="6062399" y="5882640"/>
              <a:ext cx="0" cy="36576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12" name="Google Shape;112;p4"/>
            <p:cNvCxnSpPr/>
            <p:nvPr/>
          </p:nvCxnSpPr>
          <p:spPr>
            <a:xfrm>
              <a:off x="2590800" y="6248400"/>
              <a:ext cx="3483381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Full Functional Dependency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Partial Functional Dependency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Transitive Functional Dependency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Trivial Functional Dependency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Non-Trivial Functional Dependency</a:t>
            </a: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Types of Functional Dependency (FD)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>
            <a:spLocks noGrp="1"/>
          </p:cNvSpPr>
          <p:nvPr>
            <p:ph type="body" idx="1"/>
          </p:nvPr>
        </p:nvSpPr>
        <p:spPr>
          <a:xfrm>
            <a:off x="262360" y="1113519"/>
            <a:ext cx="11728536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Full Functional Dependency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In a relation, the attribute B is fully functional dependent on A if </a:t>
            </a:r>
            <a:r>
              <a:rPr lang="en-US" b="1" dirty="0">
                <a:solidFill>
                  <a:schemeClr val="accent6"/>
                </a:solidFill>
              </a:rPr>
              <a:t>B is functionally dependent on A, but not on any proper subset of A</a:t>
            </a:r>
            <a:r>
              <a:rPr lang="en-US" dirty="0"/>
              <a:t>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Eg.</a:t>
            </a:r>
            <a:r>
              <a:rPr lang="en-US" dirty="0"/>
              <a:t> {</a:t>
            </a:r>
            <a:r>
              <a:rPr lang="en-US" dirty="0" err="1"/>
              <a:t>Roll_No</a:t>
            </a:r>
            <a:r>
              <a:rPr lang="en-US" dirty="0"/>
              <a:t>, Semester, </a:t>
            </a:r>
            <a:r>
              <a:rPr lang="en-US" dirty="0" err="1"/>
              <a:t>Department_Name</a:t>
            </a:r>
            <a:r>
              <a:rPr lang="en-US" dirty="0"/>
              <a:t>}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SPI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We </a:t>
            </a:r>
            <a:r>
              <a:rPr lang="en-US" b="1" dirty="0">
                <a:solidFill>
                  <a:schemeClr val="accent6"/>
                </a:solidFill>
              </a:rPr>
              <a:t>need all three {</a:t>
            </a:r>
            <a:r>
              <a:rPr lang="en-US" b="1" dirty="0" err="1">
                <a:solidFill>
                  <a:schemeClr val="accent6"/>
                </a:solidFill>
              </a:rPr>
              <a:t>Roll_No</a:t>
            </a:r>
            <a:r>
              <a:rPr lang="en-US" b="1" dirty="0">
                <a:solidFill>
                  <a:schemeClr val="accent6"/>
                </a:solidFill>
              </a:rPr>
              <a:t>, Semester, </a:t>
            </a:r>
            <a:r>
              <a:rPr lang="en-US" b="1" dirty="0" err="1">
                <a:solidFill>
                  <a:schemeClr val="accent6"/>
                </a:solidFill>
              </a:rPr>
              <a:t>Department_Name</a:t>
            </a:r>
            <a:r>
              <a:rPr lang="en-US" b="1" dirty="0">
                <a:solidFill>
                  <a:schemeClr val="accent6"/>
                </a:solidFill>
              </a:rPr>
              <a:t>} to find SPI</a:t>
            </a:r>
            <a:r>
              <a:rPr lang="en-US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Partial Functional Dependency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In a relation, the attribute B is partial functional dependent on A if </a:t>
            </a:r>
            <a:r>
              <a:rPr lang="en-US" b="1" dirty="0">
                <a:solidFill>
                  <a:schemeClr val="accent6"/>
                </a:solidFill>
              </a:rPr>
              <a:t>B is functionally dependent on A as well as on any proper subset of A</a:t>
            </a:r>
            <a:r>
              <a:rPr lang="en-US" dirty="0"/>
              <a:t>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If there is some attribute that can be removed from A and the still dependency holds then it is partial functional </a:t>
            </a:r>
            <a:r>
              <a:rPr lang="en-US" dirty="0" err="1"/>
              <a:t>dependancy</a:t>
            </a:r>
            <a:r>
              <a:rPr lang="en-US" dirty="0"/>
              <a:t>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Eg.</a:t>
            </a:r>
            <a:r>
              <a:rPr lang="en-US" dirty="0"/>
              <a:t> {</a:t>
            </a:r>
            <a:r>
              <a:rPr lang="en-US" dirty="0" err="1"/>
              <a:t>Enrollment_No</a:t>
            </a:r>
            <a:r>
              <a:rPr lang="en-US" dirty="0"/>
              <a:t>, </a:t>
            </a:r>
            <a:r>
              <a:rPr lang="en-US" dirty="0" err="1"/>
              <a:t>Department_Name</a:t>
            </a:r>
            <a:r>
              <a:rPr lang="en-US" dirty="0"/>
              <a:t>}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dirty="0"/>
              <a:t>SPI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</a:pPr>
            <a:r>
              <a:rPr lang="en-US" b="1" dirty="0" err="1">
                <a:solidFill>
                  <a:schemeClr val="accent6"/>
                </a:solidFill>
              </a:rPr>
              <a:t>Enrollment_No</a:t>
            </a:r>
            <a:r>
              <a:rPr lang="en-US" b="1" dirty="0">
                <a:solidFill>
                  <a:schemeClr val="accent6"/>
                </a:solidFill>
              </a:rPr>
              <a:t> is sufficient to find SPI</a:t>
            </a:r>
            <a:r>
              <a:rPr lang="en-US" dirty="0"/>
              <a:t>, </a:t>
            </a:r>
            <a:r>
              <a:rPr lang="en-US" dirty="0" err="1"/>
              <a:t>Department_Name</a:t>
            </a:r>
            <a:r>
              <a:rPr lang="en-US" dirty="0"/>
              <a:t> is not required to find SPI.</a:t>
            </a:r>
            <a:endParaRPr dirty="0"/>
          </a:p>
        </p:txBody>
      </p:sp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Types of Functional Dependency (FD)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body" idx="1"/>
          </p:nvPr>
        </p:nvSpPr>
        <p:spPr>
          <a:xfrm>
            <a:off x="131179" y="1120796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Transitive Functional Dependency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In a relation, if attribute(s) </a:t>
            </a:r>
            <a:r>
              <a:rPr lang="en-US" b="1" dirty="0">
                <a:solidFill>
                  <a:schemeClr val="accent6"/>
                </a:solidFill>
              </a:rPr>
              <a:t>A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B and B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C, then A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C (means C is transitively depends on A </a:t>
            </a:r>
            <a:r>
              <a:rPr lang="en-US" dirty="0"/>
              <a:t>via B).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Eg.</a:t>
            </a:r>
            <a:r>
              <a:rPr lang="en-US" dirty="0"/>
              <a:t> Subject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Faculty   &amp;   Faculty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Age     then     Subject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Age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Therefore as per the rule of transitive dependency: Subject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Age should hold, that makes sense because if we know the subject name we can know the faculty’s age.</a:t>
            </a:r>
            <a:endParaRPr dirty="0"/>
          </a:p>
        </p:txBody>
      </p:sp>
      <p:sp>
        <p:nvSpPr>
          <p:cNvPr id="129" name="Google Shape;129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Types of Functional Dependency (FD)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131" name="Google Shape;131;p7"/>
          <p:cNvGraphicFramePr/>
          <p:nvPr/>
        </p:nvGraphicFramePr>
        <p:xfrm>
          <a:off x="1027027" y="2608943"/>
          <a:ext cx="2333000" cy="164590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Subject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Faculty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Age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35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DBMS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Patel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35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2" name="Google Shape;132;p7"/>
          <p:cNvGraphicFramePr/>
          <p:nvPr/>
        </p:nvGraphicFramePr>
        <p:xfrm>
          <a:off x="1025848" y="2242114"/>
          <a:ext cx="9972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9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Sub_Fac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262359" y="111351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Trivial Functional Dependency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X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Y is trivial FD if </a:t>
            </a:r>
            <a:r>
              <a:rPr lang="en-US" b="1" dirty="0">
                <a:solidFill>
                  <a:schemeClr val="accent6"/>
                </a:solidFill>
              </a:rPr>
              <a:t>Y is a subset of X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Eg.</a:t>
            </a:r>
            <a:r>
              <a:rPr lang="en-US" dirty="0"/>
              <a:t> {</a:t>
            </a:r>
            <a:r>
              <a:rPr lang="en-US" dirty="0" err="1"/>
              <a:t>Roll_No</a:t>
            </a:r>
            <a:r>
              <a:rPr lang="en-US" dirty="0"/>
              <a:t>, </a:t>
            </a:r>
            <a:r>
              <a:rPr lang="en-US" dirty="0" err="1"/>
              <a:t>Department_Name</a:t>
            </a:r>
            <a:r>
              <a:rPr lang="en-US" dirty="0"/>
              <a:t>, Semester}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</a:t>
            </a:r>
            <a:r>
              <a:rPr lang="en-US" dirty="0" err="1"/>
              <a:t>Roll_No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Nontrivial Functional Dependency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X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dirty="0"/>
              <a:t>Y is nontrivial FD if </a:t>
            </a:r>
            <a:r>
              <a:rPr lang="en-US" b="1" dirty="0">
                <a:solidFill>
                  <a:schemeClr val="accent6"/>
                </a:solidFill>
              </a:rPr>
              <a:t>Y is not a subset of X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Eg.</a:t>
            </a:r>
            <a:r>
              <a:rPr lang="en-US" dirty="0"/>
              <a:t> {</a:t>
            </a:r>
            <a:r>
              <a:rPr lang="en-US" dirty="0" err="1"/>
              <a:t>Roll_No</a:t>
            </a:r>
            <a:r>
              <a:rPr lang="en-US" dirty="0"/>
              <a:t>, </a:t>
            </a:r>
            <a:r>
              <a:rPr lang="en-US" dirty="0" err="1"/>
              <a:t>Department_Name</a:t>
            </a:r>
            <a:r>
              <a:rPr lang="en-US" dirty="0"/>
              <a:t>, Semester}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</a:t>
            </a:r>
            <a:r>
              <a:rPr lang="en-US" dirty="0" err="1"/>
              <a:t>Student_Name</a:t>
            </a:r>
            <a:endParaRPr dirty="0"/>
          </a:p>
        </p:txBody>
      </p:sp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Types of Functional Dependency (FD)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131179" y="1092515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Armstrong's axioms are a set of rules used to infer (derive) all the functional dependencies on a relational database.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Armstrong's axioms OR Inference rules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97360" y="2392887"/>
            <a:ext cx="2880000" cy="82296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1" indent="-3460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B is a subset of A </a:t>
            </a:r>
            <a:endParaRPr/>
          </a:p>
          <a:p>
            <a:pPr marL="914400" marR="0" lvl="2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497360" y="1960888"/>
            <a:ext cx="118872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Reflexivity</a:t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4587450" y="2392887"/>
            <a:ext cx="2880000" cy="82296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1" indent="-3460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 </a:t>
            </a:r>
            <a:endParaRPr/>
          </a:p>
          <a:p>
            <a:pPr marL="914400" marR="0" lvl="2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 AC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BC</a:t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4587450" y="1960888"/>
            <a:ext cx="146304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Augmentation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97360" y="4063742"/>
            <a:ext cx="2880000" cy="82296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1" indent="-3460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 and B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 </a:t>
            </a:r>
            <a:endParaRPr/>
          </a:p>
          <a:p>
            <a:pPr marL="914400" marR="0" lvl="2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497360" y="3631743"/>
            <a:ext cx="118872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Transitivity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4587450" y="4063742"/>
            <a:ext cx="2880000" cy="82296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1" indent="-3460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 and BD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 </a:t>
            </a:r>
            <a:endParaRPr/>
          </a:p>
          <a:p>
            <a:pPr marL="914400" marR="0" lvl="2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 AD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4587450" y="3631743"/>
            <a:ext cx="192024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Pseudo Transitivity</a:t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8677540" y="2392887"/>
            <a:ext cx="2880000" cy="4572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1" indent="-346075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8677540" y="1960888"/>
            <a:ext cx="192024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Self-determination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8677540" y="4063742"/>
            <a:ext cx="2880000" cy="82296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1" indent="-346075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Noto Sans Symbols"/>
              <a:buChar char="⮩"/>
            </a:pPr>
            <a:r>
              <a:rPr lang="en-US" sz="17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A </a:t>
            </a:r>
            <a:r>
              <a:rPr lang="en-US"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7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BC </a:t>
            </a:r>
            <a:endParaRPr/>
          </a:p>
          <a:p>
            <a:pPr marL="914400" marR="0" lvl="2" indent="-346075" algn="just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Noto Sans Symbols"/>
              <a:buChar char="⮩"/>
            </a:pPr>
            <a:r>
              <a:rPr lang="en-US" sz="17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 A </a:t>
            </a:r>
            <a:r>
              <a:rPr lang="en-US"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7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 &amp; A </a:t>
            </a:r>
            <a:r>
              <a:rPr lang="en-US"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7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8677540" y="3631743"/>
            <a:ext cx="155448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Decomposition</a:t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497360" y="5705217"/>
            <a:ext cx="2880000" cy="82296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1" indent="-3460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 and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 </a:t>
            </a:r>
            <a:endParaRPr/>
          </a:p>
          <a:p>
            <a:pPr marL="914400" marR="0" lvl="2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BC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497360" y="5273218"/>
            <a:ext cx="73152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Union</a:t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4587450" y="5705217"/>
            <a:ext cx="2880000" cy="82296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1" indent="-3460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 and C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 </a:t>
            </a:r>
            <a:endParaRPr/>
          </a:p>
          <a:p>
            <a:pPr marL="914400" marR="0" lvl="2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 AC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BD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587450" y="5273218"/>
            <a:ext cx="137160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Composition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>
            <a:spLocks noGrp="1"/>
          </p:cNvSpPr>
          <p:nvPr>
            <p:ph type="body" idx="1"/>
          </p:nvPr>
        </p:nvSpPr>
        <p:spPr>
          <a:xfrm>
            <a:off x="131179" y="111136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Given a F set of functional dependencies, there are certain other </a:t>
            </a:r>
            <a:r>
              <a:rPr lang="en-US" b="1" dirty="0">
                <a:solidFill>
                  <a:schemeClr val="accent6"/>
                </a:solidFill>
              </a:rPr>
              <a:t>functional dependencies that are logically implied by F</a:t>
            </a:r>
            <a:r>
              <a:rPr lang="en-US" dirty="0"/>
              <a:t>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E.g.:  F = {A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dirty="0"/>
              <a:t>B and  B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C},  then we can infer that A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C (by transitivity rule)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set of </a:t>
            </a:r>
            <a:r>
              <a:rPr lang="en-US" b="1" dirty="0">
                <a:solidFill>
                  <a:schemeClr val="accent6"/>
                </a:solidFill>
              </a:rPr>
              <a:t>functional dependencies (FDs) that is logically implied by F </a:t>
            </a:r>
            <a:r>
              <a:rPr lang="en-US" dirty="0"/>
              <a:t>is called the closure of F.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It is denoted by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b="1" baseline="30000" dirty="0">
                <a:solidFill>
                  <a:schemeClr val="accent6"/>
                </a:solidFill>
              </a:rPr>
              <a:t>+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65" name="Google Shape;165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What is closure of a set of FDs?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71" name="Google Shape;171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Closure of a set of FDs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130025" y="857555"/>
            <a:ext cx="11932920" cy="18288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Suppose we are given a relation schema </a:t>
            </a:r>
            <a:r>
              <a:rPr lang="en-US" sz="2400" b="1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R(A,B,C,G,H,I)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the set of functional dependencies are:</a:t>
            </a:r>
            <a:endParaRPr dirty="0"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⮩"/>
            </a:pP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 = (A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B,  A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 CG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H,  CG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I,  B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H)</a:t>
            </a:r>
            <a:endParaRPr dirty="0"/>
          </a:p>
          <a:p>
            <a:pPr marL="342900" marR="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functional dependency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logical implied. </a:t>
            </a:r>
            <a:endParaRPr dirty="0"/>
          </a:p>
          <a:p>
            <a:pPr marL="809625" marR="0" lvl="1" indent="-225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2760598" y="3666063"/>
            <a:ext cx="1463040" cy="109728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 </a:t>
            </a:r>
            <a:endParaRPr/>
          </a:p>
          <a:p>
            <a:pPr marL="0" marR="0" lvl="1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</a:t>
            </a:r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2852038" y="3204398"/>
            <a:ext cx="1280160" cy="461665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have</a:t>
            </a:r>
            <a:endParaRPr/>
          </a:p>
        </p:txBody>
      </p:sp>
      <p:sp>
        <p:nvSpPr>
          <p:cNvPr id="176" name="Google Shape;176;p11"/>
          <p:cNvSpPr txBox="1"/>
          <p:nvPr/>
        </p:nvSpPr>
        <p:spPr>
          <a:xfrm>
            <a:off x="5036207" y="3986103"/>
            <a:ext cx="2103120" cy="4572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Transitivity rule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7951896" y="3940383"/>
            <a:ext cx="1463040" cy="54864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</a:t>
            </a:r>
            <a:endParaRPr/>
          </a:p>
        </p:txBody>
      </p:sp>
      <p:cxnSp>
        <p:nvCxnSpPr>
          <p:cNvPr id="178" name="Google Shape;178;p11"/>
          <p:cNvCxnSpPr>
            <a:stCxn id="174" idx="3"/>
            <a:endCxn id="176" idx="1"/>
          </p:cNvCxnSpPr>
          <p:nvPr/>
        </p:nvCxnSpPr>
        <p:spPr>
          <a:xfrm>
            <a:off x="4223638" y="4214703"/>
            <a:ext cx="812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9" name="Google Shape;179;p11"/>
          <p:cNvCxnSpPr/>
          <p:nvPr/>
        </p:nvCxnSpPr>
        <p:spPr>
          <a:xfrm>
            <a:off x="7139327" y="4214703"/>
            <a:ext cx="812569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0" name="Google Shape;180;p11"/>
          <p:cNvCxnSpPr/>
          <p:nvPr/>
        </p:nvCxnSpPr>
        <p:spPr>
          <a:xfrm>
            <a:off x="1558928" y="2006390"/>
            <a:ext cx="77724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1" name="Google Shape;181;p11"/>
          <p:cNvCxnSpPr/>
          <p:nvPr/>
        </p:nvCxnSpPr>
        <p:spPr>
          <a:xfrm>
            <a:off x="5768978" y="1999830"/>
            <a:ext cx="77724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86" name="Google Shape;186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Closure of a set of FDs [Example Cont.]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30025" y="857555"/>
            <a:ext cx="11932920" cy="18288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Suppose we are given a relation schema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R(A,B,C,G,H,I)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the set of functional dependencies are: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⮩"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 = (A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B,  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 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H,  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I,  B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H)</a:t>
            </a:r>
            <a:endParaRPr/>
          </a:p>
          <a:p>
            <a:pPr marL="342900" marR="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functional dependency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logical implied. </a:t>
            </a:r>
            <a:endParaRPr/>
          </a:p>
          <a:p>
            <a:pPr marL="809625" marR="0" lvl="1" indent="-225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2760598" y="3666063"/>
            <a:ext cx="1463040" cy="109728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 </a:t>
            </a:r>
            <a:endParaRPr/>
          </a:p>
          <a:p>
            <a:pPr marL="0" marR="0" lvl="1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2852038" y="3204398"/>
            <a:ext cx="1280160" cy="461665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have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5036207" y="3986103"/>
            <a:ext cx="2103120" cy="4572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Union rule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7951896" y="3940383"/>
            <a:ext cx="1463040" cy="54864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</a:t>
            </a:r>
            <a:endParaRPr/>
          </a:p>
        </p:txBody>
      </p:sp>
      <p:cxnSp>
        <p:nvCxnSpPr>
          <p:cNvPr id="193" name="Google Shape;193;p12"/>
          <p:cNvCxnSpPr>
            <a:stCxn id="189" idx="3"/>
            <a:endCxn id="191" idx="1"/>
          </p:cNvCxnSpPr>
          <p:nvPr/>
        </p:nvCxnSpPr>
        <p:spPr>
          <a:xfrm>
            <a:off x="4223638" y="4214703"/>
            <a:ext cx="812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4" name="Google Shape;194;p12"/>
          <p:cNvCxnSpPr/>
          <p:nvPr/>
        </p:nvCxnSpPr>
        <p:spPr>
          <a:xfrm>
            <a:off x="7139327" y="4214703"/>
            <a:ext cx="812569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5" name="Google Shape;195;p12"/>
          <p:cNvCxnSpPr/>
          <p:nvPr/>
        </p:nvCxnSpPr>
        <p:spPr>
          <a:xfrm>
            <a:off x="3552828" y="2006390"/>
            <a:ext cx="914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" name="Google Shape;196;p12"/>
          <p:cNvCxnSpPr/>
          <p:nvPr/>
        </p:nvCxnSpPr>
        <p:spPr>
          <a:xfrm>
            <a:off x="4723768" y="2006390"/>
            <a:ext cx="82296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Closure of a set of FDs [Example Cont.]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130025" y="857555"/>
            <a:ext cx="11932920" cy="18288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Suppose we are given a relation schema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R(A,B,C,G,H,I)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the set of functional dependencies are: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⮩"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 = (A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B,  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 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H,  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I,  B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H)</a:t>
            </a:r>
            <a:endParaRPr/>
          </a:p>
          <a:p>
            <a:pPr marL="342900" marR="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functional dependency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logical implied. </a:t>
            </a:r>
            <a:endParaRPr/>
          </a:p>
          <a:p>
            <a:pPr marL="809625" marR="0" lvl="1" indent="-225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2760598" y="3666063"/>
            <a:ext cx="1463040" cy="109728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 </a:t>
            </a:r>
            <a:endParaRPr/>
          </a:p>
          <a:p>
            <a:pPr marL="0" marR="0" lvl="1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</a:t>
            </a:r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2852038" y="3204398"/>
            <a:ext cx="1280160" cy="461665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have</a:t>
            </a:r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5036207" y="3799205"/>
            <a:ext cx="2103120" cy="830997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Pseudo-transitivity rule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7951896" y="3940383"/>
            <a:ext cx="1463040" cy="54864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</a:t>
            </a:r>
            <a:endParaRPr/>
          </a:p>
        </p:txBody>
      </p:sp>
      <p:cxnSp>
        <p:nvCxnSpPr>
          <p:cNvPr id="208" name="Google Shape;208;p13"/>
          <p:cNvCxnSpPr>
            <a:stCxn id="204" idx="3"/>
            <a:endCxn id="206" idx="1"/>
          </p:cNvCxnSpPr>
          <p:nvPr/>
        </p:nvCxnSpPr>
        <p:spPr>
          <a:xfrm>
            <a:off x="4223638" y="4214703"/>
            <a:ext cx="812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9" name="Google Shape;209;p13"/>
          <p:cNvCxnSpPr/>
          <p:nvPr/>
        </p:nvCxnSpPr>
        <p:spPr>
          <a:xfrm>
            <a:off x="7139327" y="4214703"/>
            <a:ext cx="812569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0" name="Google Shape;210;p13"/>
          <p:cNvCxnSpPr/>
          <p:nvPr/>
        </p:nvCxnSpPr>
        <p:spPr>
          <a:xfrm>
            <a:off x="2536828" y="2006390"/>
            <a:ext cx="77724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1" name="Google Shape;211;p13"/>
          <p:cNvCxnSpPr/>
          <p:nvPr/>
        </p:nvCxnSpPr>
        <p:spPr>
          <a:xfrm>
            <a:off x="4723768" y="2006390"/>
            <a:ext cx="82296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Closure of a set of FDs [Example Cont.]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30025" y="857555"/>
            <a:ext cx="11932920" cy="18288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Suppose we are given a relation schema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R(A,B,C,G,H,I)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the set of functional dependencies are: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⮩"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 = (A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B,  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 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H,  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I,  B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H)</a:t>
            </a:r>
            <a:endParaRPr/>
          </a:p>
          <a:p>
            <a:pPr marL="342900" marR="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functional dependency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 </a:t>
            </a: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logical implied. 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2577716" y="3475562"/>
            <a:ext cx="1463040" cy="54864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2669156" y="3013897"/>
            <a:ext cx="1280160" cy="461665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have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4853325" y="3342004"/>
            <a:ext cx="2468880" cy="830997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Augmentation rule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8137314" y="3483182"/>
            <a:ext cx="1463040" cy="54864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CG</a:t>
            </a:r>
            <a:endParaRPr/>
          </a:p>
        </p:txBody>
      </p:sp>
      <p:cxnSp>
        <p:nvCxnSpPr>
          <p:cNvPr id="223" name="Google Shape;223;p14"/>
          <p:cNvCxnSpPr>
            <a:stCxn id="219" idx="3"/>
            <a:endCxn id="221" idx="1"/>
          </p:cNvCxnSpPr>
          <p:nvPr/>
        </p:nvCxnSpPr>
        <p:spPr>
          <a:xfrm>
            <a:off x="4040756" y="3749882"/>
            <a:ext cx="812700" cy="750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4" name="Google Shape;224;p14"/>
          <p:cNvCxnSpPr/>
          <p:nvPr/>
        </p:nvCxnSpPr>
        <p:spPr>
          <a:xfrm>
            <a:off x="7324745" y="3757502"/>
            <a:ext cx="812569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5" name="Google Shape;225;p14"/>
          <p:cNvSpPr txBox="1"/>
          <p:nvPr/>
        </p:nvSpPr>
        <p:spPr>
          <a:xfrm>
            <a:off x="2592230" y="4941439"/>
            <a:ext cx="1463040" cy="109728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CG </a:t>
            </a:r>
            <a:endParaRPr/>
          </a:p>
          <a:p>
            <a:pPr marL="0" marR="0" lvl="1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4867839" y="5259247"/>
            <a:ext cx="2468880" cy="461665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Transitivity rule</a:t>
            </a:r>
            <a:endParaRPr/>
          </a:p>
        </p:txBody>
      </p:sp>
      <p:sp>
        <p:nvSpPr>
          <p:cNvPr id="227" name="Google Shape;227;p14"/>
          <p:cNvSpPr txBox="1"/>
          <p:nvPr/>
        </p:nvSpPr>
        <p:spPr>
          <a:xfrm>
            <a:off x="8146385" y="5215759"/>
            <a:ext cx="1463040" cy="548640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</a:t>
            </a:r>
            <a:endParaRPr/>
          </a:p>
        </p:txBody>
      </p:sp>
      <p:cxnSp>
        <p:nvCxnSpPr>
          <p:cNvPr id="228" name="Google Shape;228;p14"/>
          <p:cNvCxnSpPr>
            <a:stCxn id="225" idx="3"/>
            <a:endCxn id="226" idx="1"/>
          </p:cNvCxnSpPr>
          <p:nvPr/>
        </p:nvCxnSpPr>
        <p:spPr>
          <a:xfrm>
            <a:off x="4055270" y="5490079"/>
            <a:ext cx="812700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9" name="Google Shape;229;p14"/>
          <p:cNvCxnSpPr/>
          <p:nvPr/>
        </p:nvCxnSpPr>
        <p:spPr>
          <a:xfrm>
            <a:off x="7333816" y="5490079"/>
            <a:ext cx="812569" cy="0"/>
          </a:xfrm>
          <a:prstGeom prst="straightConnector1">
            <a:avLst/>
          </a:prstGeom>
          <a:noFill/>
          <a:ln w="2857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0" name="Google Shape;230;p14"/>
          <p:cNvCxnSpPr/>
          <p:nvPr/>
        </p:nvCxnSpPr>
        <p:spPr>
          <a:xfrm>
            <a:off x="2536828" y="2006390"/>
            <a:ext cx="77724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1" name="Google Shape;231;p14"/>
          <p:cNvCxnSpPr/>
          <p:nvPr/>
        </p:nvCxnSpPr>
        <p:spPr>
          <a:xfrm>
            <a:off x="4723768" y="2006390"/>
            <a:ext cx="82296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36" name="Google Shape;23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Closure of a set of FDs [Example Cont.]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2743197" y="3581400"/>
            <a:ext cx="6480000" cy="6858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(A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BC, 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H,</a:t>
            </a:r>
            <a:r>
              <a:rPr lang="en-US" sz="24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HI, AG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H, AG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I)</a:t>
            </a:r>
            <a:r>
              <a:rPr lang="en-US" sz="2400" b="1" i="0" u="none" strike="noStrike" cap="none" baseline="30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4154397" y="3120530"/>
            <a:ext cx="3657600" cy="461665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Several members of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</a:t>
            </a:r>
            <a:r>
              <a:rPr lang="en-US" sz="2400" b="1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</a:t>
            </a:r>
            <a:r>
              <a:rPr lang="en-US" sz="2400" b="1" baseline="30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130025" y="857555"/>
            <a:ext cx="11932920" cy="18288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Suppose we are given a relation schema </a:t>
            </a:r>
            <a:r>
              <a:rPr lang="en-US" sz="2400" b="1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R(A,B,C,G,H,I)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the set of functional dependencies are:</a:t>
            </a:r>
            <a:endParaRPr dirty="0"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⮩"/>
            </a:pP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 = (A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B,  A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 CG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H,  CG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I,  B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H)</a:t>
            </a:r>
            <a:endParaRPr dirty="0"/>
          </a:p>
          <a:p>
            <a:pPr marL="342900" marR="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Find out the closure of F.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45" name="Google Shape;245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Closure of a set of FDs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130025" y="857555"/>
            <a:ext cx="11932920" cy="173736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 the closure of the following set F of functional dependencies FDs for relational schema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 = (A,B,C,D,E,F):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⮩"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 = (A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B, 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CD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E, CD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F, B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E)</a:t>
            </a:r>
            <a:endParaRPr/>
          </a:p>
          <a:p>
            <a:pPr marL="342900" marR="0" lvl="1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Find out the closure of F.</a:t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2949390" y="5401953"/>
            <a:ext cx="6309360" cy="6858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(A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BC, CD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EF, A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E, AD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E, AD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F)</a:t>
            </a:r>
            <a:r>
              <a:rPr lang="en-US" sz="2400" b="1" i="0" u="none" strike="noStrike" cap="none" baseline="30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49" name="Google Shape;249;p16"/>
          <p:cNvGraphicFramePr/>
          <p:nvPr/>
        </p:nvGraphicFramePr>
        <p:xfrm>
          <a:off x="2895601" y="2838450"/>
          <a:ext cx="6390625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202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B &amp; A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C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Union Rule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A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 BC</a:t>
                      </a:r>
                      <a:endParaRPr sz="2000" b="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0" name="Google Shape;250;p16"/>
          <p:cNvGraphicFramePr/>
          <p:nvPr/>
        </p:nvGraphicFramePr>
        <p:xfrm>
          <a:off x="2895601" y="3240087"/>
          <a:ext cx="6390625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202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CD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E &amp; CD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F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Union Rule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CD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 EF</a:t>
                      </a:r>
                      <a:endParaRPr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1" name="Google Shape;251;p16"/>
          <p:cNvGraphicFramePr/>
          <p:nvPr/>
        </p:nvGraphicFramePr>
        <p:xfrm>
          <a:off x="2895601" y="3641724"/>
          <a:ext cx="6390625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202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B &amp; B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E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Transitivity Rule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accent6"/>
                          </a:solidFill>
                        </a:rPr>
                        <a:t>A </a:t>
                      </a:r>
                      <a:r>
                        <a:rPr lang="en-US" sz="2000" b="1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1" u="none" strike="noStrike" cap="none">
                          <a:solidFill>
                            <a:schemeClr val="accent6"/>
                          </a:solidFill>
                        </a:rPr>
                        <a:t> E</a:t>
                      </a:r>
                      <a:endParaRPr sz="2000" u="none" strike="noStrike" cap="none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" name="Google Shape;252;p16"/>
          <p:cNvGraphicFramePr/>
          <p:nvPr/>
        </p:nvGraphicFramePr>
        <p:xfrm>
          <a:off x="2895601" y="4043361"/>
          <a:ext cx="6391650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202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C &amp; CD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E</a:t>
                      </a:r>
                      <a:endParaRPr sz="20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Pseudo-transitivity Rule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AD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 E</a:t>
                      </a:r>
                      <a:endParaRPr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3" name="Google Shape;253;p16"/>
          <p:cNvGraphicFramePr/>
          <p:nvPr/>
        </p:nvGraphicFramePr>
        <p:xfrm>
          <a:off x="2895601" y="4444996"/>
          <a:ext cx="6390625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202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C &amp; CD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F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Pseudo-transitivity Rule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AD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 F</a:t>
                      </a:r>
                      <a:endParaRPr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solidFill>
                <a:schemeClr val="dk1"/>
              </a:solidFill>
            </a:endParaRPr>
          </a:p>
        </p:txBody>
      </p:sp>
      <p:sp>
        <p:nvSpPr>
          <p:cNvPr id="258" name="Google Shape;25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Closure of a set of FDs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130025" y="857555"/>
            <a:ext cx="11932920" cy="173736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 the closure of the following set F of functional dependencies FDs for relational schema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 = (A,B,C,D,E):</a:t>
            </a:r>
            <a:endParaRPr/>
          </a:p>
          <a:p>
            <a:pPr marL="809625" marR="0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⮩"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 = (AB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AC, 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 ,  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 )</a:t>
            </a:r>
            <a:endParaRPr/>
          </a:p>
          <a:p>
            <a:pPr marL="342900" marR="0" lvl="1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Find out the closure of F.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2949390" y="5401953"/>
            <a:ext cx="6309360" cy="6858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(D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A, 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AE, DB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D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ACE )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2400" b="0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62" name="Google Shape;262;p17"/>
          <p:cNvGraphicFramePr/>
          <p:nvPr/>
        </p:nvGraphicFramePr>
        <p:xfrm>
          <a:off x="2882154" y="2838450"/>
          <a:ext cx="6428225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202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AC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Decomposition Rule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D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 A &amp; D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C</a:t>
                      </a:r>
                      <a:endParaRPr sz="2000" b="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3" name="Google Shape;263;p17"/>
          <p:cNvGraphicFramePr/>
          <p:nvPr/>
        </p:nvGraphicFramePr>
        <p:xfrm>
          <a:off x="2882154" y="3240087"/>
          <a:ext cx="6428225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202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A &amp; D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E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Union Rule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D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 AE</a:t>
                      </a:r>
                      <a:endParaRPr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" name="Google Shape;264;p17"/>
          <p:cNvGraphicFramePr/>
          <p:nvPr/>
        </p:nvGraphicFramePr>
        <p:xfrm>
          <a:off x="2881884" y="3636327"/>
          <a:ext cx="6428225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202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A &amp; AB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C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Pseudo-transitivity Rule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DB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 C</a:t>
                      </a:r>
                      <a:endParaRPr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5" name="Google Shape;265;p17"/>
          <p:cNvGraphicFramePr/>
          <p:nvPr/>
        </p:nvGraphicFramePr>
        <p:xfrm>
          <a:off x="2881884" y="4032567"/>
          <a:ext cx="6428225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202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AC &amp; D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E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Union Rule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D 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1">
                          <a:solidFill>
                            <a:schemeClr val="accent6"/>
                          </a:solidFill>
                        </a:rPr>
                        <a:t> ACE</a:t>
                      </a:r>
                      <a:endParaRPr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>
            <a:spLocks noGrp="1"/>
          </p:cNvSpPr>
          <p:nvPr>
            <p:ph type="body" idx="1"/>
          </p:nvPr>
        </p:nvSpPr>
        <p:spPr>
          <a:xfrm>
            <a:off x="131179" y="111351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Given a set of attributes α, the closure of α under F is the </a:t>
            </a:r>
            <a:r>
              <a:rPr lang="en-US" b="1" dirty="0">
                <a:solidFill>
                  <a:schemeClr val="accent6"/>
                </a:solidFill>
              </a:rPr>
              <a:t>set of attributes that are functionally determined by α under F</a:t>
            </a:r>
            <a:r>
              <a:rPr lang="en-US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It is denoted by </a:t>
            </a:r>
            <a:r>
              <a:rPr lang="en-US" b="1" dirty="0">
                <a:solidFill>
                  <a:schemeClr val="accent6"/>
                </a:solidFill>
              </a:rPr>
              <a:t>α</a:t>
            </a:r>
            <a:r>
              <a:rPr lang="en-US" b="1" baseline="30000" dirty="0">
                <a:solidFill>
                  <a:schemeClr val="accent6"/>
                </a:solidFill>
              </a:rPr>
              <a:t>+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What is a closure of attribute sets?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 txBox="1">
            <a:spLocks noGrp="1"/>
          </p:cNvSpPr>
          <p:nvPr>
            <p:ph type="body" idx="1"/>
          </p:nvPr>
        </p:nvSpPr>
        <p:spPr>
          <a:xfrm>
            <a:off x="131179" y="1056521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Given a set of attributes α, the closure of α under F is the </a:t>
            </a:r>
            <a:r>
              <a:rPr lang="en-US" b="1" dirty="0">
                <a:solidFill>
                  <a:schemeClr val="accent6"/>
                </a:solidFill>
              </a:rPr>
              <a:t>set of attributes that are functionally determined by α under F</a:t>
            </a:r>
            <a:r>
              <a:rPr lang="en-US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It is denoted by </a:t>
            </a:r>
            <a:r>
              <a:rPr lang="en-US" b="1" dirty="0">
                <a:solidFill>
                  <a:schemeClr val="accent6"/>
                </a:solidFill>
              </a:rPr>
              <a:t>α</a:t>
            </a:r>
            <a:r>
              <a:rPr lang="en-US" b="1" baseline="30000" dirty="0">
                <a:solidFill>
                  <a:schemeClr val="accent6"/>
                </a:solidFill>
              </a:rPr>
              <a:t>+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76" name="Google Shape;276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What is a closure of attribute sets?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505888" y="2808473"/>
            <a:ext cx="6746250" cy="32004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1" indent="-3460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Algorithm to compute α</a:t>
            </a:r>
            <a:r>
              <a:rPr lang="en-US" sz="2000" b="0" i="0" u="none" strike="noStrike" cap="none" baseline="300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the closure of α under F</a:t>
            </a:r>
            <a:endParaRPr dirty="0"/>
          </a:p>
          <a:p>
            <a:pPr marL="914400" marR="0" lvl="2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Steps</a:t>
            </a:r>
            <a:endParaRPr dirty="0"/>
          </a:p>
          <a:p>
            <a:pPr marL="1482725" marR="0" lvl="3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US" sz="20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= α</a:t>
            </a:r>
            <a:endParaRPr dirty="0"/>
          </a:p>
          <a:p>
            <a:pPr marL="1482725" marR="0" lvl="3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US" sz="20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while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changes to result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</a:t>
            </a:r>
            <a:endParaRPr dirty="0"/>
          </a:p>
          <a:p>
            <a:pPr marL="1828800" marR="0" lvl="4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each 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β 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γ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 F do</a:t>
            </a:r>
            <a:endParaRPr dirty="0"/>
          </a:p>
          <a:p>
            <a:pPr marL="2286000" marR="0" lvl="5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begin</a:t>
            </a:r>
            <a:endParaRPr dirty="0"/>
          </a:p>
          <a:p>
            <a:pPr marL="2743200" marR="0" lvl="6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β ⊆ result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 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= result U γ</a:t>
            </a:r>
            <a:endParaRPr dirty="0"/>
          </a:p>
          <a:p>
            <a:pPr marL="2743200" marR="0" lvl="6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else 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= result</a:t>
            </a:r>
            <a:endParaRPr dirty="0"/>
          </a:p>
          <a:p>
            <a:pPr marL="2286000" marR="0" lvl="5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end</a:t>
            </a:r>
            <a:endParaRPr dirty="0"/>
          </a:p>
        </p:txBody>
      </p:sp>
      <p:sp>
        <p:nvSpPr>
          <p:cNvPr id="279" name="Google Shape;279;p19"/>
          <p:cNvSpPr/>
          <p:nvPr/>
        </p:nvSpPr>
        <p:spPr>
          <a:xfrm>
            <a:off x="505888" y="2376474"/>
            <a:ext cx="109728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Algorithm</a:t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7809061" y="2808473"/>
            <a:ext cx="3581322" cy="32004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AutoNum type="arabicPeriod"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Add the attributes contained in the attribute set for which closure is being calculated to the result set.</a:t>
            </a:r>
            <a:endParaRPr/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None/>
            </a:pP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AutoNum type="arabicPeriod"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Recursively add the attributes to the result set which can be functionally determined from the attributes already contained in the result set.</a:t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7809061" y="2376474"/>
            <a:ext cx="109728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Algorithm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dirty="0"/>
              <a:t>Consider the relation schema R = (A, B, C, G, H, I). For this relation, a set of functional dependencies F can be given as F = {A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B, A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C, CG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H, CG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I, B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H}</a:t>
            </a:r>
            <a:endParaRPr dirty="0"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dirty="0"/>
              <a:t>Find out the closure of (AG)</a:t>
            </a:r>
            <a:r>
              <a:rPr lang="en-US" baseline="30000" dirty="0"/>
              <a:t>+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87" name="Google Shape;28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Closure of attribute sets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190577" y="2443877"/>
            <a:ext cx="6492240" cy="2790275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1" indent="-3460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Algorithm to compute α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the closure of α under F, Steps</a:t>
            </a:r>
            <a:endParaRPr sz="2000" b="0" i="0" u="none" strike="noStrike" cap="non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482725" marR="0" lvl="3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= α</a:t>
            </a:r>
            <a:endParaRPr/>
          </a:p>
          <a:p>
            <a:pPr marL="1482725" marR="0" lvl="3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US" sz="2000" b="0" i="1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changes to result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</a:t>
            </a:r>
            <a:r>
              <a:rPr lang="en-US" sz="2000" b="0" i="1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</a:t>
            </a:r>
            <a:endParaRPr/>
          </a:p>
          <a:p>
            <a:pPr marL="1828800" marR="0" lvl="4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each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β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γ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 F do</a:t>
            </a:r>
            <a:endParaRPr/>
          </a:p>
          <a:p>
            <a:pPr marL="2286000" marR="0" lvl="5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begin</a:t>
            </a:r>
            <a:endParaRPr/>
          </a:p>
          <a:p>
            <a:pPr marL="2743200" marR="0" lvl="6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β ⊆ result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= result U γ</a:t>
            </a:r>
            <a:endParaRPr/>
          </a:p>
          <a:p>
            <a:pPr marL="2743200" marR="0" lvl="6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else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= result</a:t>
            </a:r>
            <a:endParaRPr/>
          </a:p>
          <a:p>
            <a:pPr marL="2286000" marR="0" lvl="5" indent="-34607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end</a:t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190577" y="2011878"/>
            <a:ext cx="109728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Algorithm</a:t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7235597" y="2056166"/>
            <a:ext cx="4663440" cy="800424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2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1.</a:t>
            </a:r>
            <a:endParaRPr dirty="0"/>
          </a:p>
          <a:p>
            <a:pPr marL="342900" marR="0" lvl="3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	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= α    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= AG</a:t>
            </a:r>
            <a:endParaRPr dirty="0"/>
          </a:p>
        </p:txBody>
      </p:sp>
      <p:graphicFrame>
        <p:nvGraphicFramePr>
          <p:cNvPr id="291" name="Google Shape;291;p20"/>
          <p:cNvGraphicFramePr/>
          <p:nvPr>
            <p:extLst>
              <p:ext uri="{D42A27DB-BD31-4B8C-83A1-F6EECF244321}">
                <p14:modId xmlns:p14="http://schemas.microsoft.com/office/powerpoint/2010/main" val="3342350393"/>
              </p:ext>
            </p:extLst>
          </p:nvPr>
        </p:nvGraphicFramePr>
        <p:xfrm>
          <a:off x="7258536" y="3025499"/>
          <a:ext cx="4663450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B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⊆ AG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dirty="0">
                          <a:solidFill>
                            <a:schemeClr val="accent6"/>
                          </a:solidFill>
                        </a:rPr>
                        <a:t>result = ABG</a:t>
                      </a:r>
                      <a:endParaRPr sz="2000" b="0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2" name="Google Shape;292;p20"/>
          <p:cNvGraphicFramePr/>
          <p:nvPr/>
        </p:nvGraphicFramePr>
        <p:xfrm>
          <a:off x="7258536" y="3002929"/>
          <a:ext cx="4663450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C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⊆ ABG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dirty="0">
                          <a:solidFill>
                            <a:schemeClr val="accent6"/>
                          </a:solidFill>
                        </a:rPr>
                        <a:t>result = ABCG</a:t>
                      </a:r>
                      <a:endParaRPr sz="2000" b="0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3" name="Google Shape;293;p20"/>
          <p:cNvGraphicFramePr/>
          <p:nvPr/>
        </p:nvGraphicFramePr>
        <p:xfrm>
          <a:off x="7258536" y="3404566"/>
          <a:ext cx="4663450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CG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H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CG ⊆ ABCG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accent6"/>
                          </a:solidFill>
                        </a:rPr>
                        <a:t>result = ABCGH</a:t>
                      </a:r>
                      <a:endParaRPr sz="20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4" name="Google Shape;294;p20"/>
          <p:cNvGraphicFramePr/>
          <p:nvPr/>
        </p:nvGraphicFramePr>
        <p:xfrm>
          <a:off x="7258536" y="3806203"/>
          <a:ext cx="4663450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CG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I</a:t>
                      </a:r>
                      <a:endParaRPr sz="20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CG ⊆ ABCGH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accent6"/>
                          </a:solidFill>
                        </a:rPr>
                        <a:t>result = ABCGHI</a:t>
                      </a:r>
                      <a:endParaRPr sz="20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5" name="Google Shape;295;p20"/>
          <p:cNvGraphicFramePr/>
          <p:nvPr/>
        </p:nvGraphicFramePr>
        <p:xfrm>
          <a:off x="7258536" y="4207838"/>
          <a:ext cx="4663450" cy="396250"/>
        </p:xfrm>
        <a:graphic>
          <a:graphicData uri="http://schemas.openxmlformats.org/drawingml/2006/table">
            <a:tbl>
              <a:tblPr firstRow="1" bandRow="1">
                <a:noFill/>
                <a:tableStyleId>{D9E06E4E-EA1E-47CB-A569-03130AA0B858}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H</a:t>
                      </a:r>
                      <a:endParaRPr sz="2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 ⊆ ABCGHI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>
                          <a:solidFill>
                            <a:schemeClr val="accent6"/>
                          </a:solidFill>
                        </a:rPr>
                        <a:t>result = ABCGHI</a:t>
                      </a:r>
                      <a:endParaRPr sz="2000" b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Google Shape;296;p20"/>
          <p:cNvSpPr txBox="1"/>
          <p:nvPr/>
        </p:nvSpPr>
        <p:spPr>
          <a:xfrm>
            <a:off x="7258536" y="4651132"/>
            <a:ext cx="4663440" cy="68580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 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ABCGHI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2400" b="0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174812" y="5321470"/>
            <a:ext cx="8180912" cy="1205453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AutoNum type="arabicPeriod"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Add the attributes contained in the attribute set for which closure is being calculated to the result set.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AutoNum type="arabicPeriod"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Recursively add the attributes to the result set which can be functionally determined from the attributes already contained in the result set.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dirty="0"/>
              <a:t>Given functional dependencies (FDs) for relational schema R = (A,B,C,D,E):</a:t>
            </a:r>
            <a:endParaRPr dirty="0"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dirty="0"/>
              <a:t>F = {A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BC,  CD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E,  B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D, E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A}</a:t>
            </a:r>
            <a:endParaRPr dirty="0"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dirty="0"/>
              <a:t>Find Closure for A</a:t>
            </a:r>
            <a:endParaRPr dirty="0"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dirty="0"/>
              <a:t>Find Closure for CD</a:t>
            </a:r>
            <a:endParaRPr dirty="0"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dirty="0"/>
              <a:t>Find Closure for B</a:t>
            </a:r>
            <a:endParaRPr dirty="0"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dirty="0"/>
              <a:t>Find Closure for BC</a:t>
            </a:r>
            <a:endParaRPr dirty="0"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 dirty="0"/>
              <a:t>Find Closure for E</a:t>
            </a:r>
            <a:endParaRPr dirty="0"/>
          </a:p>
        </p:txBody>
      </p:sp>
      <p:sp>
        <p:nvSpPr>
          <p:cNvPr id="303" name="Google Shape;303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Closure of attribute sets [Exercise]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952986" y="3965755"/>
            <a:ext cx="2286000" cy="2468880"/>
          </a:xfrm>
          <a:prstGeom prst="rect">
            <a:avLst/>
          </a:prstGeom>
          <a:solidFill>
            <a:srgbClr val="F0D9D8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ABCDE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ABCDE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BD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BC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ABCDE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2400" b="1" i="0" u="none" strike="noStrike" cap="none" baseline="30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</a:t>
            </a:r>
            <a:r>
              <a:rPr lang="en-US" sz="24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ABCDE</a:t>
            </a:r>
            <a:endParaRPr sz="2400" b="0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952986" y="3533755"/>
            <a:ext cx="1097280" cy="432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Answer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AutoNum type="arabicPeriod"/>
            </a:pPr>
            <a:r>
              <a:rPr lang="en-US" sz="2800" dirty="0"/>
              <a:t>Consider schema </a:t>
            </a: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800" dirty="0"/>
              <a:t>	EMPLOYEE ( E-ID, E-NAME, E-CITY, E-STATE) </a:t>
            </a: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800" dirty="0"/>
              <a:t>	and </a:t>
            </a: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800" dirty="0"/>
              <a:t>	FD = {E-ID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800" dirty="0"/>
              <a:t> E-NAME, E-ID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800" dirty="0"/>
              <a:t> E-CITY, E-ID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800" dirty="0"/>
              <a:t> E-STATE, E-CITY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800" dirty="0"/>
              <a:t>E-STATE}</a:t>
            </a:r>
            <a:endParaRPr dirty="0"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 dirty="0"/>
              <a:t>Find out the closure of (FD)</a:t>
            </a:r>
            <a:r>
              <a:rPr lang="en-US" sz="2400" baseline="30000" dirty="0"/>
              <a:t>+</a:t>
            </a:r>
            <a:endParaRPr sz="2400" baseline="30000" dirty="0"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 dirty="0"/>
              <a:t>Find attribute closure for: (E-ID)</a:t>
            </a:r>
            <a:r>
              <a:rPr lang="en-US" sz="2400" baseline="30000" dirty="0"/>
              <a:t>+</a:t>
            </a:r>
            <a:endParaRPr dirty="0"/>
          </a:p>
          <a:p>
            <a:pPr marL="809625" lvl="1" indent="-352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 dirty="0"/>
              <a:t>Find attribute closure for: (E-STATE)</a:t>
            </a:r>
            <a:r>
              <a:rPr lang="en-US" sz="2400" baseline="30000" dirty="0"/>
              <a:t>+</a:t>
            </a:r>
            <a:endParaRPr sz="2400" baseline="300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</p:txBody>
      </p:sp>
      <p:sp>
        <p:nvSpPr>
          <p:cNvPr id="311" name="Google Shape;31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Example: 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242778BA-9F85-2F01-18A6-25810290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>
            <a:extLst>
              <a:ext uri="{FF2B5EF4-FFF2-40B4-BE49-F238E27FC236}">
                <a16:creationId xmlns:a16="http://schemas.microsoft.com/office/drawing/2014/main" id="{BD1FD6BB-5508-1788-C795-ED3C4BC7E4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Finding a Candidate Key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17883C-1BD1-A129-B586-141488D67BA2}"/>
              </a:ext>
            </a:extLst>
          </p:cNvPr>
          <p:cNvSpPr/>
          <p:nvPr/>
        </p:nvSpPr>
        <p:spPr>
          <a:xfrm>
            <a:off x="439335" y="869677"/>
            <a:ext cx="11579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Consider a relation R (A,B,C,D,E,F,G,H) with following functional dependencies: </a:t>
            </a:r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AB → C, A → DE, B → F, F → GH. Find Candidate Key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222411-3060-7742-80DC-63AA6F146B5E}"/>
              </a:ext>
            </a:extLst>
          </p:cNvPr>
          <p:cNvSpPr/>
          <p:nvPr/>
        </p:nvSpPr>
        <p:spPr>
          <a:xfrm>
            <a:off x="595030" y="1832513"/>
            <a:ext cx="12151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AB → C</a:t>
            </a:r>
            <a:endParaRPr lang="en-US" sz="2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6FD48E-B765-E35A-DC50-30EA06B72FFF}"/>
              </a:ext>
            </a:extLst>
          </p:cNvPr>
          <p:cNvCxnSpPr>
            <a:cxnSpLocks/>
          </p:cNvCxnSpPr>
          <p:nvPr/>
        </p:nvCxnSpPr>
        <p:spPr>
          <a:xfrm>
            <a:off x="1702749" y="2028153"/>
            <a:ext cx="530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4F6182E-1B09-E2A1-F987-EB1942F29CF2}"/>
              </a:ext>
            </a:extLst>
          </p:cNvPr>
          <p:cNvSpPr/>
          <p:nvPr/>
        </p:nvSpPr>
        <p:spPr>
          <a:xfrm>
            <a:off x="2271566" y="1832513"/>
            <a:ext cx="27714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 B  C  D  E  F  G  H</a:t>
            </a:r>
            <a:endParaRPr lang="en-US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EC8267-04C1-8E7B-64D8-EB551EEB21B3}"/>
              </a:ext>
            </a:extLst>
          </p:cNvPr>
          <p:cNvCxnSpPr>
            <a:cxnSpLocks/>
          </p:cNvCxnSpPr>
          <p:nvPr/>
        </p:nvCxnSpPr>
        <p:spPr>
          <a:xfrm flipV="1">
            <a:off x="2413257" y="1670210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540E7D-9100-71F7-7A3B-EF1FD9E21211}"/>
              </a:ext>
            </a:extLst>
          </p:cNvPr>
          <p:cNvCxnSpPr>
            <a:cxnSpLocks/>
          </p:cNvCxnSpPr>
          <p:nvPr/>
        </p:nvCxnSpPr>
        <p:spPr>
          <a:xfrm flipV="1">
            <a:off x="2669351" y="1670209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682ECB-60B2-BBC7-07F4-A27D98046B20}"/>
              </a:ext>
            </a:extLst>
          </p:cNvPr>
          <p:cNvCxnSpPr>
            <a:cxnSpLocks/>
          </p:cNvCxnSpPr>
          <p:nvPr/>
        </p:nvCxnSpPr>
        <p:spPr>
          <a:xfrm>
            <a:off x="2403830" y="1659110"/>
            <a:ext cx="7608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69DDA6-C503-23CE-8A7A-AADEF0D768C7}"/>
              </a:ext>
            </a:extLst>
          </p:cNvPr>
          <p:cNvCxnSpPr>
            <a:cxnSpLocks/>
          </p:cNvCxnSpPr>
          <p:nvPr/>
        </p:nvCxnSpPr>
        <p:spPr>
          <a:xfrm>
            <a:off x="3004003" y="1670209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0876175-649B-D8CC-87B3-4CD4B0EAFE3F}"/>
              </a:ext>
            </a:extLst>
          </p:cNvPr>
          <p:cNvSpPr/>
          <p:nvPr/>
        </p:nvSpPr>
        <p:spPr>
          <a:xfrm>
            <a:off x="4562325" y="1764857"/>
            <a:ext cx="12348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A → DE</a:t>
            </a:r>
            <a:endParaRPr lang="en-US" sz="2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2D53EE-1AA3-B3E7-96FD-E4643442D14D}"/>
              </a:ext>
            </a:extLst>
          </p:cNvPr>
          <p:cNvCxnSpPr>
            <a:cxnSpLocks/>
          </p:cNvCxnSpPr>
          <p:nvPr/>
        </p:nvCxnSpPr>
        <p:spPr>
          <a:xfrm>
            <a:off x="5511305" y="1915306"/>
            <a:ext cx="526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24AC4A5-5AD2-0A14-BB66-E5020AF60208}"/>
              </a:ext>
            </a:extLst>
          </p:cNvPr>
          <p:cNvSpPr/>
          <p:nvPr/>
        </p:nvSpPr>
        <p:spPr>
          <a:xfrm>
            <a:off x="6066969" y="1705174"/>
            <a:ext cx="27714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 B  C  D  E  F  G  H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3AE125-5F98-9A09-B0A8-818BC96D22AB}"/>
              </a:ext>
            </a:extLst>
          </p:cNvPr>
          <p:cNvCxnSpPr>
            <a:cxnSpLocks/>
          </p:cNvCxnSpPr>
          <p:nvPr/>
        </p:nvCxnSpPr>
        <p:spPr>
          <a:xfrm flipV="1">
            <a:off x="6208660" y="1542871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3B3C73-0A8C-37F5-BFB6-790926BC1845}"/>
              </a:ext>
            </a:extLst>
          </p:cNvPr>
          <p:cNvCxnSpPr>
            <a:cxnSpLocks/>
          </p:cNvCxnSpPr>
          <p:nvPr/>
        </p:nvCxnSpPr>
        <p:spPr>
          <a:xfrm flipV="1">
            <a:off x="6464754" y="1542870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69039A-D730-E979-5980-F1B5AA682B7D}"/>
              </a:ext>
            </a:extLst>
          </p:cNvPr>
          <p:cNvCxnSpPr>
            <a:cxnSpLocks/>
          </p:cNvCxnSpPr>
          <p:nvPr/>
        </p:nvCxnSpPr>
        <p:spPr>
          <a:xfrm flipV="1">
            <a:off x="6208413" y="1520594"/>
            <a:ext cx="706261" cy="12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A60728-AB8D-8B2E-CAE1-814B243670C9}"/>
              </a:ext>
            </a:extLst>
          </p:cNvPr>
          <p:cNvCxnSpPr>
            <a:cxnSpLocks/>
          </p:cNvCxnSpPr>
          <p:nvPr/>
        </p:nvCxnSpPr>
        <p:spPr>
          <a:xfrm>
            <a:off x="6774268" y="1542870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672BE2-7190-CC19-80CA-434E0B4DAF2F}"/>
              </a:ext>
            </a:extLst>
          </p:cNvPr>
          <p:cNvCxnSpPr>
            <a:cxnSpLocks/>
          </p:cNvCxnSpPr>
          <p:nvPr/>
        </p:nvCxnSpPr>
        <p:spPr>
          <a:xfrm flipV="1">
            <a:off x="6229085" y="1959680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1157CA-E28D-94AC-123B-712588F3AD64}"/>
              </a:ext>
            </a:extLst>
          </p:cNvPr>
          <p:cNvCxnSpPr>
            <a:cxnSpLocks/>
          </p:cNvCxnSpPr>
          <p:nvPr/>
        </p:nvCxnSpPr>
        <p:spPr>
          <a:xfrm flipV="1">
            <a:off x="6229085" y="2197392"/>
            <a:ext cx="1343848" cy="6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9838F8-1CC2-ED47-3CED-FF565B4DE02E}"/>
              </a:ext>
            </a:extLst>
          </p:cNvPr>
          <p:cNvCxnSpPr>
            <a:cxnSpLocks/>
          </p:cNvCxnSpPr>
          <p:nvPr/>
        </p:nvCxnSpPr>
        <p:spPr>
          <a:xfrm flipV="1">
            <a:off x="7025237" y="1977129"/>
            <a:ext cx="0" cy="245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F42F5EB-6C5E-82BA-B548-5EE3E94EE452}"/>
              </a:ext>
            </a:extLst>
          </p:cNvPr>
          <p:cNvCxnSpPr>
            <a:cxnSpLocks/>
          </p:cNvCxnSpPr>
          <p:nvPr/>
        </p:nvCxnSpPr>
        <p:spPr>
          <a:xfrm flipV="1">
            <a:off x="7302169" y="1977129"/>
            <a:ext cx="0" cy="197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3EB6340-ADBF-CD2F-294C-EFD61A69E6EF}"/>
              </a:ext>
            </a:extLst>
          </p:cNvPr>
          <p:cNvSpPr/>
          <p:nvPr/>
        </p:nvSpPr>
        <p:spPr>
          <a:xfrm>
            <a:off x="591779" y="2775791"/>
            <a:ext cx="10067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B → F</a:t>
            </a:r>
            <a:endParaRPr lang="en-US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8338A4-A6B7-2FD3-5032-016C85859D0E}"/>
              </a:ext>
            </a:extLst>
          </p:cNvPr>
          <p:cNvCxnSpPr>
            <a:cxnSpLocks/>
          </p:cNvCxnSpPr>
          <p:nvPr/>
        </p:nvCxnSpPr>
        <p:spPr>
          <a:xfrm>
            <a:off x="1376057" y="2977196"/>
            <a:ext cx="5431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3E2D20B-C283-3151-B6E2-EAA87A9BD8A7}"/>
              </a:ext>
            </a:extLst>
          </p:cNvPr>
          <p:cNvSpPr/>
          <p:nvPr/>
        </p:nvSpPr>
        <p:spPr>
          <a:xfrm>
            <a:off x="1903175" y="2783828"/>
            <a:ext cx="27714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 B  C  D  E  F  G  H</a:t>
            </a:r>
            <a:endParaRPr lang="en-US" sz="20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330DED-63C8-2645-0FB1-956E85181237}"/>
              </a:ext>
            </a:extLst>
          </p:cNvPr>
          <p:cNvCxnSpPr>
            <a:cxnSpLocks/>
          </p:cNvCxnSpPr>
          <p:nvPr/>
        </p:nvCxnSpPr>
        <p:spPr>
          <a:xfrm flipV="1">
            <a:off x="2044866" y="2621525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EF831B-32AD-B8DD-3016-59FC1D58EE2F}"/>
              </a:ext>
            </a:extLst>
          </p:cNvPr>
          <p:cNvCxnSpPr>
            <a:cxnSpLocks/>
          </p:cNvCxnSpPr>
          <p:nvPr/>
        </p:nvCxnSpPr>
        <p:spPr>
          <a:xfrm flipV="1">
            <a:off x="2300960" y="2621524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03205C-5A4E-491F-95CB-8F90CE1BD4AB}"/>
              </a:ext>
            </a:extLst>
          </p:cNvPr>
          <p:cNvCxnSpPr>
            <a:cxnSpLocks/>
          </p:cNvCxnSpPr>
          <p:nvPr/>
        </p:nvCxnSpPr>
        <p:spPr>
          <a:xfrm>
            <a:off x="2044866" y="2610425"/>
            <a:ext cx="779438" cy="249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7F8109-D858-57A7-8355-FC6C20B3D750}"/>
              </a:ext>
            </a:extLst>
          </p:cNvPr>
          <p:cNvCxnSpPr>
            <a:cxnSpLocks/>
          </p:cNvCxnSpPr>
          <p:nvPr/>
        </p:nvCxnSpPr>
        <p:spPr>
          <a:xfrm>
            <a:off x="2659173" y="2641396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6FDE387-4D06-A718-13DE-CF8160C3D3A1}"/>
              </a:ext>
            </a:extLst>
          </p:cNvPr>
          <p:cNvCxnSpPr>
            <a:cxnSpLocks/>
          </p:cNvCxnSpPr>
          <p:nvPr/>
        </p:nvCxnSpPr>
        <p:spPr>
          <a:xfrm flipV="1">
            <a:off x="2065291" y="3038334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3F65FBF-7C08-69F6-940A-3408A2C567BD}"/>
              </a:ext>
            </a:extLst>
          </p:cNvPr>
          <p:cNvCxnSpPr>
            <a:cxnSpLocks/>
          </p:cNvCxnSpPr>
          <p:nvPr/>
        </p:nvCxnSpPr>
        <p:spPr>
          <a:xfrm flipV="1">
            <a:off x="2053798" y="3251098"/>
            <a:ext cx="1314474" cy="323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F37662-5ADF-2ABE-483A-CE196DA0452C}"/>
              </a:ext>
            </a:extLst>
          </p:cNvPr>
          <p:cNvCxnSpPr>
            <a:cxnSpLocks/>
          </p:cNvCxnSpPr>
          <p:nvPr/>
        </p:nvCxnSpPr>
        <p:spPr>
          <a:xfrm flipV="1">
            <a:off x="2829908" y="3038335"/>
            <a:ext cx="0" cy="245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54F5D4-6641-2CBE-85B1-047030A8623F}"/>
              </a:ext>
            </a:extLst>
          </p:cNvPr>
          <p:cNvCxnSpPr>
            <a:cxnSpLocks/>
          </p:cNvCxnSpPr>
          <p:nvPr/>
        </p:nvCxnSpPr>
        <p:spPr>
          <a:xfrm flipV="1">
            <a:off x="3106952" y="3052103"/>
            <a:ext cx="0" cy="197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FBB6649-56FC-9B98-1644-BD16394E6D2B}"/>
              </a:ext>
            </a:extLst>
          </p:cNvPr>
          <p:cNvCxnSpPr>
            <a:cxnSpLocks/>
          </p:cNvCxnSpPr>
          <p:nvPr/>
        </p:nvCxnSpPr>
        <p:spPr>
          <a:xfrm flipV="1">
            <a:off x="2308814" y="3047627"/>
            <a:ext cx="0" cy="4428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67DE61B-42E7-9F39-8CAA-9BB082D3CC1F}"/>
              </a:ext>
            </a:extLst>
          </p:cNvPr>
          <p:cNvCxnSpPr>
            <a:cxnSpLocks/>
          </p:cNvCxnSpPr>
          <p:nvPr/>
        </p:nvCxnSpPr>
        <p:spPr>
          <a:xfrm>
            <a:off x="2300960" y="3490495"/>
            <a:ext cx="13226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083CD1F-330C-5742-FA94-BB59F392A0D3}"/>
              </a:ext>
            </a:extLst>
          </p:cNvPr>
          <p:cNvCxnSpPr>
            <a:cxnSpLocks/>
          </p:cNvCxnSpPr>
          <p:nvPr/>
        </p:nvCxnSpPr>
        <p:spPr>
          <a:xfrm flipV="1">
            <a:off x="3360633" y="3028372"/>
            <a:ext cx="0" cy="44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12012B7-8E31-854B-8130-8945B21F7EC0}"/>
              </a:ext>
            </a:extLst>
          </p:cNvPr>
          <p:cNvSpPr/>
          <p:nvPr/>
        </p:nvSpPr>
        <p:spPr>
          <a:xfrm>
            <a:off x="4472271" y="2727440"/>
            <a:ext cx="12268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F → GH</a:t>
            </a:r>
            <a:endParaRPr lang="en-US" sz="20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7142BD-94F4-A51A-1EF6-6500A53E848E}"/>
              </a:ext>
            </a:extLst>
          </p:cNvPr>
          <p:cNvCxnSpPr>
            <a:cxnSpLocks/>
          </p:cNvCxnSpPr>
          <p:nvPr/>
        </p:nvCxnSpPr>
        <p:spPr>
          <a:xfrm>
            <a:off x="5383641" y="2932469"/>
            <a:ext cx="458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B942576-C89E-2FA1-1F20-BB628CFA9B37}"/>
              </a:ext>
            </a:extLst>
          </p:cNvPr>
          <p:cNvSpPr/>
          <p:nvPr/>
        </p:nvSpPr>
        <p:spPr>
          <a:xfrm>
            <a:off x="5769188" y="2719307"/>
            <a:ext cx="27714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 B  C  D  E  F  G  H</a:t>
            </a:r>
            <a:endParaRPr lang="en-US" sz="20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0085447-1DF3-4F7E-5DB1-CA8D67A5F22B}"/>
              </a:ext>
            </a:extLst>
          </p:cNvPr>
          <p:cNvCxnSpPr>
            <a:cxnSpLocks/>
          </p:cNvCxnSpPr>
          <p:nvPr/>
        </p:nvCxnSpPr>
        <p:spPr>
          <a:xfrm flipV="1">
            <a:off x="5910879" y="2557004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345CF4-E6C8-CA17-CBDC-5D9B3757EF1E}"/>
              </a:ext>
            </a:extLst>
          </p:cNvPr>
          <p:cNvCxnSpPr>
            <a:cxnSpLocks/>
          </p:cNvCxnSpPr>
          <p:nvPr/>
        </p:nvCxnSpPr>
        <p:spPr>
          <a:xfrm flipV="1">
            <a:off x="6166973" y="2557003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0D86C5A-CBD4-682F-5B49-53F972A55BEC}"/>
              </a:ext>
            </a:extLst>
          </p:cNvPr>
          <p:cNvCxnSpPr>
            <a:cxnSpLocks/>
          </p:cNvCxnSpPr>
          <p:nvPr/>
        </p:nvCxnSpPr>
        <p:spPr>
          <a:xfrm>
            <a:off x="5910879" y="2545904"/>
            <a:ext cx="691308" cy="9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64B95EB-2D7B-8EC4-6EA1-E668BC007820}"/>
              </a:ext>
            </a:extLst>
          </p:cNvPr>
          <p:cNvCxnSpPr>
            <a:cxnSpLocks/>
          </p:cNvCxnSpPr>
          <p:nvPr/>
        </p:nvCxnSpPr>
        <p:spPr>
          <a:xfrm>
            <a:off x="6464754" y="2547921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2947BC-6FB9-B94B-DF08-25162272C807}"/>
              </a:ext>
            </a:extLst>
          </p:cNvPr>
          <p:cNvCxnSpPr>
            <a:cxnSpLocks/>
          </p:cNvCxnSpPr>
          <p:nvPr/>
        </p:nvCxnSpPr>
        <p:spPr>
          <a:xfrm flipV="1">
            <a:off x="5931304" y="2973813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01EA14-7E21-507D-EC06-AFE767613A8D}"/>
              </a:ext>
            </a:extLst>
          </p:cNvPr>
          <p:cNvCxnSpPr>
            <a:cxnSpLocks/>
          </p:cNvCxnSpPr>
          <p:nvPr/>
        </p:nvCxnSpPr>
        <p:spPr>
          <a:xfrm>
            <a:off x="5919811" y="3218910"/>
            <a:ext cx="13797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D47576F-E0AB-0E7B-CB37-65CC5C570710}"/>
              </a:ext>
            </a:extLst>
          </p:cNvPr>
          <p:cNvCxnSpPr>
            <a:cxnSpLocks/>
          </p:cNvCxnSpPr>
          <p:nvPr/>
        </p:nvCxnSpPr>
        <p:spPr>
          <a:xfrm flipV="1">
            <a:off x="6699176" y="2960573"/>
            <a:ext cx="0" cy="245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EBC154A-263E-6061-F970-6E06898E54A8}"/>
              </a:ext>
            </a:extLst>
          </p:cNvPr>
          <p:cNvCxnSpPr>
            <a:cxnSpLocks/>
          </p:cNvCxnSpPr>
          <p:nvPr/>
        </p:nvCxnSpPr>
        <p:spPr>
          <a:xfrm flipV="1">
            <a:off x="7016083" y="3000351"/>
            <a:ext cx="0" cy="197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2B4B568-E249-8B40-A4AE-3AFC1B1074A6}"/>
              </a:ext>
            </a:extLst>
          </p:cNvPr>
          <p:cNvCxnSpPr>
            <a:cxnSpLocks/>
          </p:cNvCxnSpPr>
          <p:nvPr/>
        </p:nvCxnSpPr>
        <p:spPr>
          <a:xfrm flipV="1">
            <a:off x="6174827" y="2983106"/>
            <a:ext cx="0" cy="4428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2DF21B6-92A2-A9A7-8ADE-F196EA4FDE70}"/>
              </a:ext>
            </a:extLst>
          </p:cNvPr>
          <p:cNvCxnSpPr>
            <a:cxnSpLocks/>
          </p:cNvCxnSpPr>
          <p:nvPr/>
        </p:nvCxnSpPr>
        <p:spPr>
          <a:xfrm>
            <a:off x="6166973" y="3425974"/>
            <a:ext cx="13519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307AD51-ACB8-470F-1994-3C9D8605B898}"/>
              </a:ext>
            </a:extLst>
          </p:cNvPr>
          <p:cNvCxnSpPr>
            <a:cxnSpLocks/>
          </p:cNvCxnSpPr>
          <p:nvPr/>
        </p:nvCxnSpPr>
        <p:spPr>
          <a:xfrm flipV="1">
            <a:off x="7250135" y="2973814"/>
            <a:ext cx="0" cy="452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720676B-1589-E41E-AD09-0BAD23935D6E}"/>
              </a:ext>
            </a:extLst>
          </p:cNvPr>
          <p:cNvCxnSpPr>
            <a:cxnSpLocks/>
          </p:cNvCxnSpPr>
          <p:nvPr/>
        </p:nvCxnSpPr>
        <p:spPr>
          <a:xfrm flipV="1">
            <a:off x="7270285" y="2557003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741453C-2E08-E649-A9B7-3704E9B15395}"/>
              </a:ext>
            </a:extLst>
          </p:cNvPr>
          <p:cNvCxnSpPr>
            <a:cxnSpLocks/>
          </p:cNvCxnSpPr>
          <p:nvPr/>
        </p:nvCxnSpPr>
        <p:spPr>
          <a:xfrm flipV="1">
            <a:off x="7270285" y="2540774"/>
            <a:ext cx="623591" cy="63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41304F7-578C-36B6-99B5-AB71052D7742}"/>
              </a:ext>
            </a:extLst>
          </p:cNvPr>
          <p:cNvCxnSpPr>
            <a:cxnSpLocks/>
          </p:cNvCxnSpPr>
          <p:nvPr/>
        </p:nvCxnSpPr>
        <p:spPr>
          <a:xfrm>
            <a:off x="7520095" y="2557003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8498B6F-1773-E8D1-A85D-8EF677B838C1}"/>
              </a:ext>
            </a:extLst>
          </p:cNvPr>
          <p:cNvCxnSpPr>
            <a:cxnSpLocks/>
          </p:cNvCxnSpPr>
          <p:nvPr/>
        </p:nvCxnSpPr>
        <p:spPr>
          <a:xfrm>
            <a:off x="7742948" y="2547921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DCF141CD-16BC-3B22-ED17-7974BE7A0963}"/>
              </a:ext>
            </a:extLst>
          </p:cNvPr>
          <p:cNvSpPr/>
          <p:nvPr/>
        </p:nvSpPr>
        <p:spPr>
          <a:xfrm>
            <a:off x="591779" y="3627379"/>
            <a:ext cx="94612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 out all the attributes which do not have incoming edge(arrow).</a:t>
            </a:r>
            <a:endParaRPr 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CB92D9F-C10A-A4D4-F1ED-3B25445864B9}"/>
              </a:ext>
            </a:extLst>
          </p:cNvPr>
          <p:cNvSpPr/>
          <p:nvPr/>
        </p:nvSpPr>
        <p:spPr>
          <a:xfrm>
            <a:off x="596985" y="4315776"/>
            <a:ext cx="2763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C  D  E  F  G  H</a:t>
            </a:r>
            <a:endParaRPr lang="en-US" sz="200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AD4F9B6-6F7B-05ED-C370-7244B314A2BF}"/>
              </a:ext>
            </a:extLst>
          </p:cNvPr>
          <p:cNvCxnSpPr>
            <a:cxnSpLocks/>
          </p:cNvCxnSpPr>
          <p:nvPr/>
        </p:nvCxnSpPr>
        <p:spPr>
          <a:xfrm flipV="1">
            <a:off x="738677" y="4153473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9D5BD32-79BB-67C7-5283-D49747167418}"/>
              </a:ext>
            </a:extLst>
          </p:cNvPr>
          <p:cNvCxnSpPr>
            <a:cxnSpLocks/>
          </p:cNvCxnSpPr>
          <p:nvPr/>
        </p:nvCxnSpPr>
        <p:spPr>
          <a:xfrm flipV="1">
            <a:off x="994771" y="4153472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27F1DD2-B238-F8BB-4F04-8AE3457348C5}"/>
              </a:ext>
            </a:extLst>
          </p:cNvPr>
          <p:cNvCxnSpPr>
            <a:cxnSpLocks/>
          </p:cNvCxnSpPr>
          <p:nvPr/>
        </p:nvCxnSpPr>
        <p:spPr>
          <a:xfrm>
            <a:off x="738677" y="4132946"/>
            <a:ext cx="698414" cy="206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9702B61-8F0A-99FB-C484-877D02EFDB25}"/>
              </a:ext>
            </a:extLst>
          </p:cNvPr>
          <p:cNvCxnSpPr>
            <a:cxnSpLocks/>
          </p:cNvCxnSpPr>
          <p:nvPr/>
        </p:nvCxnSpPr>
        <p:spPr>
          <a:xfrm>
            <a:off x="1298245" y="4153472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6EBFE2A-15D4-B032-A89D-1E15FE51A36A}"/>
              </a:ext>
            </a:extLst>
          </p:cNvPr>
          <p:cNvCxnSpPr>
            <a:cxnSpLocks/>
          </p:cNvCxnSpPr>
          <p:nvPr/>
        </p:nvCxnSpPr>
        <p:spPr>
          <a:xfrm flipV="1">
            <a:off x="759102" y="4570282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2B69881-BD0B-5FD8-ABC9-8308D5359E2C}"/>
              </a:ext>
            </a:extLst>
          </p:cNvPr>
          <p:cNvCxnSpPr>
            <a:cxnSpLocks/>
          </p:cNvCxnSpPr>
          <p:nvPr/>
        </p:nvCxnSpPr>
        <p:spPr>
          <a:xfrm>
            <a:off x="747609" y="4815379"/>
            <a:ext cx="13275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E26FBBD-D446-C651-F9EB-03050D6C36C8}"/>
              </a:ext>
            </a:extLst>
          </p:cNvPr>
          <p:cNvCxnSpPr>
            <a:cxnSpLocks/>
          </p:cNvCxnSpPr>
          <p:nvPr/>
        </p:nvCxnSpPr>
        <p:spPr>
          <a:xfrm flipV="1">
            <a:off x="1540331" y="4570282"/>
            <a:ext cx="0" cy="245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64284A6-9B78-4337-FCA6-4AE9FDC10CE5}"/>
              </a:ext>
            </a:extLst>
          </p:cNvPr>
          <p:cNvCxnSpPr>
            <a:cxnSpLocks/>
          </p:cNvCxnSpPr>
          <p:nvPr/>
        </p:nvCxnSpPr>
        <p:spPr>
          <a:xfrm flipV="1">
            <a:off x="1811265" y="4587108"/>
            <a:ext cx="0" cy="197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AF266EB-9BDC-6C5C-B7FA-F8E2D981E898}"/>
              </a:ext>
            </a:extLst>
          </p:cNvPr>
          <p:cNvCxnSpPr>
            <a:cxnSpLocks/>
          </p:cNvCxnSpPr>
          <p:nvPr/>
        </p:nvCxnSpPr>
        <p:spPr>
          <a:xfrm flipV="1">
            <a:off x="1002625" y="4579575"/>
            <a:ext cx="0" cy="4428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03D5A5FA-8DBA-C705-A85C-479E1FCF0CCC}"/>
              </a:ext>
            </a:extLst>
          </p:cNvPr>
          <p:cNvCxnSpPr>
            <a:cxnSpLocks/>
          </p:cNvCxnSpPr>
          <p:nvPr/>
        </p:nvCxnSpPr>
        <p:spPr>
          <a:xfrm>
            <a:off x="977491" y="5022443"/>
            <a:ext cx="13577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CD717DC3-C8F6-C69A-512E-7C77992D070F}"/>
              </a:ext>
            </a:extLst>
          </p:cNvPr>
          <p:cNvCxnSpPr>
            <a:cxnSpLocks/>
          </p:cNvCxnSpPr>
          <p:nvPr/>
        </p:nvCxnSpPr>
        <p:spPr>
          <a:xfrm flipV="1">
            <a:off x="2075716" y="4570282"/>
            <a:ext cx="0" cy="44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8F9DF753-A0DD-105C-69D6-7D6E2988FDD0}"/>
              </a:ext>
            </a:extLst>
          </p:cNvPr>
          <p:cNvCxnSpPr>
            <a:cxnSpLocks/>
          </p:cNvCxnSpPr>
          <p:nvPr/>
        </p:nvCxnSpPr>
        <p:spPr>
          <a:xfrm flipV="1">
            <a:off x="2101249" y="4143619"/>
            <a:ext cx="0" cy="24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E1232E18-65C0-7C2B-2095-C3030AF720CB}"/>
              </a:ext>
            </a:extLst>
          </p:cNvPr>
          <p:cNvCxnSpPr>
            <a:cxnSpLocks/>
          </p:cNvCxnSpPr>
          <p:nvPr/>
        </p:nvCxnSpPr>
        <p:spPr>
          <a:xfrm flipV="1">
            <a:off x="2101249" y="4127390"/>
            <a:ext cx="623591" cy="63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48B9C5D8-E7BB-D1F6-A3B8-AE2BF0E5244B}"/>
              </a:ext>
            </a:extLst>
          </p:cNvPr>
          <p:cNvCxnSpPr>
            <a:cxnSpLocks/>
          </p:cNvCxnSpPr>
          <p:nvPr/>
        </p:nvCxnSpPr>
        <p:spPr>
          <a:xfrm>
            <a:off x="2351059" y="4143619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4B8E7920-2923-3534-7B9C-B6EC4E9DFCCF}"/>
              </a:ext>
            </a:extLst>
          </p:cNvPr>
          <p:cNvCxnSpPr>
            <a:cxnSpLocks/>
          </p:cNvCxnSpPr>
          <p:nvPr/>
        </p:nvCxnSpPr>
        <p:spPr>
          <a:xfrm>
            <a:off x="2573912" y="4134537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0" name="Rectangle 269">
            <a:extLst>
              <a:ext uri="{FF2B5EF4-FFF2-40B4-BE49-F238E27FC236}">
                <a16:creationId xmlns:a16="http://schemas.microsoft.com/office/drawing/2014/main" id="{75F4DB86-9BD2-39C8-8137-55AB64C3769B}"/>
              </a:ext>
            </a:extLst>
          </p:cNvPr>
          <p:cNvSpPr/>
          <p:nvPr/>
        </p:nvSpPr>
        <p:spPr>
          <a:xfrm>
            <a:off x="2796765" y="4252711"/>
            <a:ext cx="7068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From this, A and B are the attributes with no incoming edge.</a:t>
            </a:r>
            <a:endParaRPr lang="en-US" sz="2000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5D969A46-C403-C9A8-EB2B-C43BACA4DE5D}"/>
              </a:ext>
            </a:extLst>
          </p:cNvPr>
          <p:cNvSpPr/>
          <p:nvPr/>
        </p:nvSpPr>
        <p:spPr>
          <a:xfrm>
            <a:off x="591779" y="5147512"/>
            <a:ext cx="10126497" cy="1733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Now, check whether A &amp; B together can identify all other attributes of R. For this, find (AB)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i.e. Find Closure of AB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aseline="30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(AB)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{A,B,C,D,E,F,G,H} = 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aseline="30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Thus, AB finds the complete Relation R and hence, </a:t>
            </a: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AB is a candidate key.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62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0" grpId="0"/>
      <p:bldP spid="12" grpId="0"/>
      <p:bldP spid="21" grpId="0"/>
      <p:bldP spid="23" grpId="0"/>
      <p:bldP spid="35" grpId="0"/>
      <p:bldP spid="37" grpId="0"/>
      <p:bldP spid="53" grpId="0"/>
      <p:bldP spid="54" grpId="0"/>
      <p:bldP spid="27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37B70A59-B78E-B660-7A5A-950C2757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>
            <a:extLst>
              <a:ext uri="{FF2B5EF4-FFF2-40B4-BE49-F238E27FC236}">
                <a16:creationId xmlns:a16="http://schemas.microsoft.com/office/drawing/2014/main" id="{D0763B1C-FAF2-7FE2-18BB-BD1C205D2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Finding a Candidate Key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CE8B9182-9C47-449E-F6B0-8CC0F6E864C4}"/>
              </a:ext>
            </a:extLst>
          </p:cNvPr>
          <p:cNvSpPr/>
          <p:nvPr/>
        </p:nvSpPr>
        <p:spPr>
          <a:xfrm>
            <a:off x="354828" y="1019634"/>
            <a:ext cx="114663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Consider a relation R (A,B,C,D,E) with following functional dependencies: </a:t>
            </a:r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BC → ADE, D → B. Find Candidate Key 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6E94C33-85C2-4C0C-A599-55B90A3CC6DA}"/>
              </a:ext>
            </a:extLst>
          </p:cNvPr>
          <p:cNvSpPr/>
          <p:nvPr/>
        </p:nvSpPr>
        <p:spPr>
          <a:xfrm>
            <a:off x="370788" y="1727520"/>
            <a:ext cx="17836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BC → ADE</a:t>
            </a:r>
            <a:endParaRPr lang="en-US" sz="2000" dirty="0"/>
          </a:p>
        </p:txBody>
      </p: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A2392BF0-739D-755E-A7A5-BD7475C2AD48}"/>
              </a:ext>
            </a:extLst>
          </p:cNvPr>
          <p:cNvCxnSpPr>
            <a:cxnSpLocks/>
          </p:cNvCxnSpPr>
          <p:nvPr/>
        </p:nvCxnSpPr>
        <p:spPr>
          <a:xfrm>
            <a:off x="1749962" y="1934155"/>
            <a:ext cx="554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Rectangle 261">
            <a:extLst>
              <a:ext uri="{FF2B5EF4-FFF2-40B4-BE49-F238E27FC236}">
                <a16:creationId xmlns:a16="http://schemas.microsoft.com/office/drawing/2014/main" id="{2424ECE8-AF86-325D-395A-ACE7DA459260}"/>
              </a:ext>
            </a:extLst>
          </p:cNvPr>
          <p:cNvSpPr/>
          <p:nvPr/>
        </p:nvSpPr>
        <p:spPr>
          <a:xfrm>
            <a:off x="2394934" y="1844782"/>
            <a:ext cx="18436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 B  C  D  E</a:t>
            </a:r>
            <a:endParaRPr lang="en-US" sz="2000" dirty="0"/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EBCD78F1-8DC8-13C7-4532-222BD8C41347}"/>
              </a:ext>
            </a:extLst>
          </p:cNvPr>
          <p:cNvCxnSpPr>
            <a:cxnSpLocks/>
          </p:cNvCxnSpPr>
          <p:nvPr/>
        </p:nvCxnSpPr>
        <p:spPr>
          <a:xfrm flipV="1">
            <a:off x="3098676" y="1659458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F95D815E-F8F7-3B5D-94E1-767EF2BC299F}"/>
              </a:ext>
            </a:extLst>
          </p:cNvPr>
          <p:cNvCxnSpPr>
            <a:cxnSpLocks/>
          </p:cNvCxnSpPr>
          <p:nvPr/>
        </p:nvCxnSpPr>
        <p:spPr>
          <a:xfrm flipV="1">
            <a:off x="2827264" y="1644683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1537B668-A064-8C23-AC46-6D7B49591949}"/>
              </a:ext>
            </a:extLst>
          </p:cNvPr>
          <p:cNvCxnSpPr>
            <a:cxnSpLocks/>
          </p:cNvCxnSpPr>
          <p:nvPr/>
        </p:nvCxnSpPr>
        <p:spPr>
          <a:xfrm>
            <a:off x="2536625" y="1652525"/>
            <a:ext cx="14649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2" name="Rectangle 271">
            <a:extLst>
              <a:ext uri="{FF2B5EF4-FFF2-40B4-BE49-F238E27FC236}">
                <a16:creationId xmlns:a16="http://schemas.microsoft.com/office/drawing/2014/main" id="{10D34613-62A6-1398-8430-92F4C7A834EB}"/>
              </a:ext>
            </a:extLst>
          </p:cNvPr>
          <p:cNvSpPr/>
          <p:nvPr/>
        </p:nvSpPr>
        <p:spPr>
          <a:xfrm>
            <a:off x="4386343" y="1739332"/>
            <a:ext cx="10930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D → B</a:t>
            </a:r>
            <a:endParaRPr lang="en-US" sz="2000" dirty="0"/>
          </a:p>
        </p:txBody>
      </p: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73FB3BC1-CB12-DD0E-826B-315E35772155}"/>
              </a:ext>
            </a:extLst>
          </p:cNvPr>
          <p:cNvCxnSpPr>
            <a:cxnSpLocks/>
          </p:cNvCxnSpPr>
          <p:nvPr/>
        </p:nvCxnSpPr>
        <p:spPr>
          <a:xfrm>
            <a:off x="5335323" y="1889781"/>
            <a:ext cx="549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4" name="Rectangle 273">
            <a:extLst>
              <a:ext uri="{FF2B5EF4-FFF2-40B4-BE49-F238E27FC236}">
                <a16:creationId xmlns:a16="http://schemas.microsoft.com/office/drawing/2014/main" id="{FE3CE1D5-6CF5-B0C6-A99A-7C206624DD49}"/>
              </a:ext>
            </a:extLst>
          </p:cNvPr>
          <p:cNvSpPr/>
          <p:nvPr/>
        </p:nvSpPr>
        <p:spPr>
          <a:xfrm>
            <a:off x="415797" y="2451955"/>
            <a:ext cx="98791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 out all the attributes which do not have incoming edge(arrow).</a:t>
            </a:r>
            <a:endParaRPr lang="en-US" sz="20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9C020DD4-AC1A-0E3A-66C9-DE467D36AAF9}"/>
              </a:ext>
            </a:extLst>
          </p:cNvPr>
          <p:cNvSpPr/>
          <p:nvPr/>
        </p:nvSpPr>
        <p:spPr>
          <a:xfrm>
            <a:off x="1995370" y="3063848"/>
            <a:ext cx="84181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From this, C is the attributes with no incoming edge.</a:t>
            </a:r>
            <a:endParaRPr lang="en-US" sz="200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D8ACD934-9D48-1893-3B02-774B7A907B88}"/>
              </a:ext>
            </a:extLst>
          </p:cNvPr>
          <p:cNvSpPr/>
          <p:nvPr/>
        </p:nvSpPr>
        <p:spPr>
          <a:xfrm>
            <a:off x="370788" y="3742945"/>
            <a:ext cx="10573732" cy="296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Now, check whether C can identify all other attributes of R. For this, find C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i.e. Find Closure of C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aseline="30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{C}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aseline="30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Thus, C alone cannot find all attributes of Relation R, but C is a part of candidate key.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 Find Candidate Key, Pair C with each remaining attribute of R and find its closure.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 (AC)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(BC)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, (CD)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(CE)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n-US" sz="2000" dirty="0"/>
          </a:p>
        </p:txBody>
      </p: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75771384-445D-8731-4DAA-FC2A687D340A}"/>
              </a:ext>
            </a:extLst>
          </p:cNvPr>
          <p:cNvCxnSpPr>
            <a:cxnSpLocks/>
          </p:cNvCxnSpPr>
          <p:nvPr/>
        </p:nvCxnSpPr>
        <p:spPr>
          <a:xfrm>
            <a:off x="3660727" y="1639893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964B637E-48D7-DE61-DEB8-29215A25CF8A}"/>
              </a:ext>
            </a:extLst>
          </p:cNvPr>
          <p:cNvCxnSpPr>
            <a:cxnSpLocks/>
          </p:cNvCxnSpPr>
          <p:nvPr/>
        </p:nvCxnSpPr>
        <p:spPr>
          <a:xfrm>
            <a:off x="3332360" y="1659459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BE40D8EE-0CD1-45C6-BACD-7E3E5DADFF05}"/>
              </a:ext>
            </a:extLst>
          </p:cNvPr>
          <p:cNvCxnSpPr>
            <a:cxnSpLocks/>
          </p:cNvCxnSpPr>
          <p:nvPr/>
        </p:nvCxnSpPr>
        <p:spPr>
          <a:xfrm>
            <a:off x="2536625" y="1659459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0" name="Rectangle 279">
            <a:extLst>
              <a:ext uri="{FF2B5EF4-FFF2-40B4-BE49-F238E27FC236}">
                <a16:creationId xmlns:a16="http://schemas.microsoft.com/office/drawing/2014/main" id="{2D87D226-CA46-BC2F-D2CE-51A991132F47}"/>
              </a:ext>
            </a:extLst>
          </p:cNvPr>
          <p:cNvSpPr/>
          <p:nvPr/>
        </p:nvSpPr>
        <p:spPr>
          <a:xfrm>
            <a:off x="6007210" y="1808006"/>
            <a:ext cx="18436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 B  C  D  E</a:t>
            </a:r>
            <a:endParaRPr lang="en-US" sz="2000" dirty="0"/>
          </a:p>
        </p:txBody>
      </p: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A9960A71-4F6D-5697-ACF1-D8EC855C9394}"/>
              </a:ext>
            </a:extLst>
          </p:cNvPr>
          <p:cNvCxnSpPr>
            <a:cxnSpLocks/>
          </p:cNvCxnSpPr>
          <p:nvPr/>
        </p:nvCxnSpPr>
        <p:spPr>
          <a:xfrm flipV="1">
            <a:off x="6710952" y="1622682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8B57BBB7-8C0F-4B9C-D631-4B599860BA2D}"/>
              </a:ext>
            </a:extLst>
          </p:cNvPr>
          <p:cNvCxnSpPr>
            <a:cxnSpLocks/>
          </p:cNvCxnSpPr>
          <p:nvPr/>
        </p:nvCxnSpPr>
        <p:spPr>
          <a:xfrm flipV="1">
            <a:off x="6439540" y="1607907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A2D895A0-B980-2C96-7AB5-F718C00A75F4}"/>
              </a:ext>
            </a:extLst>
          </p:cNvPr>
          <p:cNvCxnSpPr>
            <a:cxnSpLocks/>
          </p:cNvCxnSpPr>
          <p:nvPr/>
        </p:nvCxnSpPr>
        <p:spPr>
          <a:xfrm>
            <a:off x="6148901" y="1615749"/>
            <a:ext cx="14649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F85FF0E4-7236-ED04-5500-B8F9D1E47B13}"/>
              </a:ext>
            </a:extLst>
          </p:cNvPr>
          <p:cNvCxnSpPr>
            <a:cxnSpLocks/>
          </p:cNvCxnSpPr>
          <p:nvPr/>
        </p:nvCxnSpPr>
        <p:spPr>
          <a:xfrm>
            <a:off x="7273003" y="1603117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62EFE8C1-6DF6-F608-370D-29B90501D129}"/>
              </a:ext>
            </a:extLst>
          </p:cNvPr>
          <p:cNvCxnSpPr>
            <a:cxnSpLocks/>
          </p:cNvCxnSpPr>
          <p:nvPr/>
        </p:nvCxnSpPr>
        <p:spPr>
          <a:xfrm>
            <a:off x="6944636" y="1622683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BC038FBD-7015-2A95-CAAE-CFE1DAE160BF}"/>
              </a:ext>
            </a:extLst>
          </p:cNvPr>
          <p:cNvCxnSpPr>
            <a:cxnSpLocks/>
          </p:cNvCxnSpPr>
          <p:nvPr/>
        </p:nvCxnSpPr>
        <p:spPr>
          <a:xfrm>
            <a:off x="6148901" y="1622683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0B171BD-FA2E-8951-5CBA-06F51D259367}"/>
              </a:ext>
            </a:extLst>
          </p:cNvPr>
          <p:cNvCxnSpPr>
            <a:cxnSpLocks/>
          </p:cNvCxnSpPr>
          <p:nvPr/>
        </p:nvCxnSpPr>
        <p:spPr>
          <a:xfrm flipV="1">
            <a:off x="6944636" y="2085567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CCDA0882-E8CD-4D82-8DDF-E7D907C5ED0B}"/>
              </a:ext>
            </a:extLst>
          </p:cNvPr>
          <p:cNvCxnSpPr>
            <a:cxnSpLocks/>
          </p:cNvCxnSpPr>
          <p:nvPr/>
        </p:nvCxnSpPr>
        <p:spPr>
          <a:xfrm>
            <a:off x="6439540" y="2322154"/>
            <a:ext cx="6582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B53610D2-BF1F-2332-E913-8B6980F62C44}"/>
              </a:ext>
            </a:extLst>
          </p:cNvPr>
          <p:cNvCxnSpPr>
            <a:cxnSpLocks/>
          </p:cNvCxnSpPr>
          <p:nvPr/>
        </p:nvCxnSpPr>
        <p:spPr>
          <a:xfrm flipV="1">
            <a:off x="6439540" y="2085568"/>
            <a:ext cx="4952" cy="236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6421BF1-2864-0EBD-BCF0-24E6A0D14498}"/>
              </a:ext>
            </a:extLst>
          </p:cNvPr>
          <p:cNvSpPr/>
          <p:nvPr/>
        </p:nvSpPr>
        <p:spPr>
          <a:xfrm>
            <a:off x="451662" y="3150579"/>
            <a:ext cx="18436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 B  </a:t>
            </a: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D  E</a:t>
            </a:r>
            <a:endParaRPr lang="en-US" sz="2000" dirty="0"/>
          </a:p>
        </p:txBody>
      </p: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4A1C3F51-61EF-1C42-E733-7FA71D43F1E9}"/>
              </a:ext>
            </a:extLst>
          </p:cNvPr>
          <p:cNvCxnSpPr>
            <a:cxnSpLocks/>
          </p:cNvCxnSpPr>
          <p:nvPr/>
        </p:nvCxnSpPr>
        <p:spPr>
          <a:xfrm flipV="1">
            <a:off x="1155404" y="2965255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BA17B407-9A64-592D-FA37-98F1EE9E0CD0}"/>
              </a:ext>
            </a:extLst>
          </p:cNvPr>
          <p:cNvCxnSpPr>
            <a:cxnSpLocks/>
          </p:cNvCxnSpPr>
          <p:nvPr/>
        </p:nvCxnSpPr>
        <p:spPr>
          <a:xfrm flipV="1">
            <a:off x="883992" y="2950480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519D1CA9-A2F0-B9CF-5E04-7FB9E44F5FD2}"/>
              </a:ext>
            </a:extLst>
          </p:cNvPr>
          <p:cNvCxnSpPr>
            <a:cxnSpLocks/>
          </p:cNvCxnSpPr>
          <p:nvPr/>
        </p:nvCxnSpPr>
        <p:spPr>
          <a:xfrm>
            <a:off x="593353" y="2958322"/>
            <a:ext cx="14649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C7D1D632-DF76-09E1-CCE1-45A58D8D021A}"/>
              </a:ext>
            </a:extLst>
          </p:cNvPr>
          <p:cNvCxnSpPr>
            <a:cxnSpLocks/>
          </p:cNvCxnSpPr>
          <p:nvPr/>
        </p:nvCxnSpPr>
        <p:spPr>
          <a:xfrm>
            <a:off x="1717455" y="2945690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6EA60412-7D3C-3FA7-68D4-43C344B1C2CC}"/>
              </a:ext>
            </a:extLst>
          </p:cNvPr>
          <p:cNvCxnSpPr>
            <a:cxnSpLocks/>
          </p:cNvCxnSpPr>
          <p:nvPr/>
        </p:nvCxnSpPr>
        <p:spPr>
          <a:xfrm>
            <a:off x="1389088" y="2965256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BD3F6E75-8C5B-5B03-B95A-42818D707E10}"/>
              </a:ext>
            </a:extLst>
          </p:cNvPr>
          <p:cNvCxnSpPr>
            <a:cxnSpLocks/>
          </p:cNvCxnSpPr>
          <p:nvPr/>
        </p:nvCxnSpPr>
        <p:spPr>
          <a:xfrm>
            <a:off x="593353" y="2965256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C979A63C-826C-F7E3-7F09-A2E1FFFD78A1}"/>
              </a:ext>
            </a:extLst>
          </p:cNvPr>
          <p:cNvCxnSpPr>
            <a:cxnSpLocks/>
          </p:cNvCxnSpPr>
          <p:nvPr/>
        </p:nvCxnSpPr>
        <p:spPr>
          <a:xfrm flipV="1">
            <a:off x="1389088" y="3428140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520488D8-D069-C7D2-E010-669A4EE8F67A}"/>
              </a:ext>
            </a:extLst>
          </p:cNvPr>
          <p:cNvCxnSpPr>
            <a:cxnSpLocks/>
          </p:cNvCxnSpPr>
          <p:nvPr/>
        </p:nvCxnSpPr>
        <p:spPr>
          <a:xfrm>
            <a:off x="883992" y="3664727"/>
            <a:ext cx="6582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23CCA3DE-B3F8-2172-7891-A621D34C986F}"/>
              </a:ext>
            </a:extLst>
          </p:cNvPr>
          <p:cNvCxnSpPr>
            <a:cxnSpLocks/>
          </p:cNvCxnSpPr>
          <p:nvPr/>
        </p:nvCxnSpPr>
        <p:spPr>
          <a:xfrm flipV="1">
            <a:off x="883992" y="3428141"/>
            <a:ext cx="4952" cy="236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58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2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/>
      <p:bldP spid="260" grpId="0"/>
      <p:bldP spid="262" grpId="0"/>
      <p:bldP spid="272" grpId="0"/>
      <p:bldP spid="274" grpId="0"/>
      <p:bldP spid="275" grpId="0"/>
      <p:bldP spid="280" grpId="0"/>
      <p:bldP spid="29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11022430-940C-5224-FA47-570893E9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>
            <a:extLst>
              <a:ext uri="{FF2B5EF4-FFF2-40B4-BE49-F238E27FC236}">
                <a16:creationId xmlns:a16="http://schemas.microsoft.com/office/drawing/2014/main" id="{C259CCA6-9E86-8E18-C8DB-640E6C9A8F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Finding a Candidate Key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C290-4C13-7A2C-6B1E-933FE2567743}"/>
              </a:ext>
            </a:extLst>
          </p:cNvPr>
          <p:cNvSpPr/>
          <p:nvPr/>
        </p:nvSpPr>
        <p:spPr>
          <a:xfrm>
            <a:off x="411394" y="2034052"/>
            <a:ext cx="811333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(AC)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{A,C} ≠ 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(BC)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{A,B,C,D,E} = 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(CD)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{A,B,C,D,E} = 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(CE)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{C,E} ≠ 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As (AC) and (CE) do not identify all attributes of Relation R, combine 3 attributes and find its closure as (CAE)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endParaRPr lang="en-US" sz="2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(CAE)</a:t>
            </a:r>
            <a:r>
              <a:rPr lang="en-US" sz="2000" baseline="30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{C,A,E} ≠ 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30303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Thus, the Relation R contains 2 Candidate Keys: </a:t>
            </a: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(BC) and (CD).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7EDFB8-FD77-C453-EBA7-9B3F4A71620B}"/>
              </a:ext>
            </a:extLst>
          </p:cNvPr>
          <p:cNvSpPr/>
          <p:nvPr/>
        </p:nvSpPr>
        <p:spPr>
          <a:xfrm>
            <a:off x="608790" y="1386913"/>
            <a:ext cx="14146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 B  </a:t>
            </a: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000" dirty="0">
                <a:solidFill>
                  <a:srgbClr val="30303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D  E</a:t>
            </a:r>
            <a:endParaRPr lang="en-US" sz="2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B8E8D0-1BCB-2E48-992B-E3CDA9CAC47D}"/>
              </a:ext>
            </a:extLst>
          </p:cNvPr>
          <p:cNvCxnSpPr>
            <a:cxnSpLocks/>
          </p:cNvCxnSpPr>
          <p:nvPr/>
        </p:nvCxnSpPr>
        <p:spPr>
          <a:xfrm flipV="1">
            <a:off x="1312532" y="1201589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6F4883-E935-D732-16B7-D9406DF5918E}"/>
              </a:ext>
            </a:extLst>
          </p:cNvPr>
          <p:cNvCxnSpPr>
            <a:cxnSpLocks/>
          </p:cNvCxnSpPr>
          <p:nvPr/>
        </p:nvCxnSpPr>
        <p:spPr>
          <a:xfrm flipV="1">
            <a:off x="1041120" y="1186814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638162-F1F1-4F7E-CD78-5EEA4C658BC3}"/>
              </a:ext>
            </a:extLst>
          </p:cNvPr>
          <p:cNvCxnSpPr>
            <a:cxnSpLocks/>
          </p:cNvCxnSpPr>
          <p:nvPr/>
        </p:nvCxnSpPr>
        <p:spPr>
          <a:xfrm>
            <a:off x="750481" y="1194656"/>
            <a:ext cx="11241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DEB211-2DBF-97F5-9A0A-46C15EB53063}"/>
              </a:ext>
            </a:extLst>
          </p:cNvPr>
          <p:cNvCxnSpPr/>
          <p:nvPr/>
        </p:nvCxnSpPr>
        <p:spPr>
          <a:xfrm>
            <a:off x="1874583" y="1208677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EAD13D-30E9-DDB6-DA4A-CF38303B1CB5}"/>
              </a:ext>
            </a:extLst>
          </p:cNvPr>
          <p:cNvCxnSpPr/>
          <p:nvPr/>
        </p:nvCxnSpPr>
        <p:spPr>
          <a:xfrm>
            <a:off x="1546216" y="1201590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24556B-C004-05B6-50D9-2A607A370E6D}"/>
              </a:ext>
            </a:extLst>
          </p:cNvPr>
          <p:cNvCxnSpPr/>
          <p:nvPr/>
        </p:nvCxnSpPr>
        <p:spPr>
          <a:xfrm>
            <a:off x="750481" y="1201590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8D0F3-7976-DD08-4CFA-060A8F060CAF}"/>
              </a:ext>
            </a:extLst>
          </p:cNvPr>
          <p:cNvCxnSpPr>
            <a:cxnSpLocks/>
          </p:cNvCxnSpPr>
          <p:nvPr/>
        </p:nvCxnSpPr>
        <p:spPr>
          <a:xfrm flipV="1">
            <a:off x="1546216" y="1664474"/>
            <a:ext cx="0" cy="245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049E7E-BBB7-885C-7CFC-1479D972C931}"/>
              </a:ext>
            </a:extLst>
          </p:cNvPr>
          <p:cNvCxnSpPr>
            <a:cxnSpLocks/>
          </p:cNvCxnSpPr>
          <p:nvPr/>
        </p:nvCxnSpPr>
        <p:spPr>
          <a:xfrm>
            <a:off x="1041120" y="1901061"/>
            <a:ext cx="5050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DCABB1-8EE4-7B94-0523-3BD53614954D}"/>
              </a:ext>
            </a:extLst>
          </p:cNvPr>
          <p:cNvCxnSpPr>
            <a:cxnSpLocks/>
          </p:cNvCxnSpPr>
          <p:nvPr/>
        </p:nvCxnSpPr>
        <p:spPr>
          <a:xfrm flipV="1">
            <a:off x="1041120" y="1664475"/>
            <a:ext cx="4952" cy="236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3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 txBox="1">
            <a:spLocks noGrp="1"/>
          </p:cNvSpPr>
          <p:nvPr>
            <p:ph type="body" idx="1"/>
          </p:nvPr>
        </p:nvSpPr>
        <p:spPr>
          <a:xfrm>
            <a:off x="131179" y="102369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Let us consider a relation R with schema R = (A, B, C) and set of functional dependencies FDs   </a:t>
            </a:r>
            <a:r>
              <a:rPr lang="en-US" b="1" dirty="0">
                <a:solidFill>
                  <a:schemeClr val="accent6"/>
                </a:solidFill>
              </a:rPr>
              <a:t>F = { AB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C, A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C }</a:t>
            </a:r>
            <a:r>
              <a:rPr lang="en-US" dirty="0"/>
              <a:t>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 </a:t>
            </a:r>
            <a:r>
              <a:rPr lang="en-US" b="1" dirty="0">
                <a:solidFill>
                  <a:schemeClr val="accent6"/>
                </a:solidFill>
              </a:rPr>
              <a:t>AB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C, B is extraneous attribute</a:t>
            </a:r>
            <a:r>
              <a:rPr lang="en-US" dirty="0"/>
              <a:t>. The reason is, there is another FD </a:t>
            </a:r>
            <a:r>
              <a:rPr lang="en-US" b="1" dirty="0">
                <a:solidFill>
                  <a:schemeClr val="accent6"/>
                </a:solidFill>
              </a:rPr>
              <a:t>A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C</a:t>
            </a:r>
            <a:r>
              <a:rPr lang="en-US" dirty="0"/>
              <a:t>, which means when </a:t>
            </a:r>
            <a:r>
              <a:rPr lang="en-US" b="1" dirty="0">
                <a:solidFill>
                  <a:schemeClr val="accent6"/>
                </a:solidFill>
              </a:rPr>
              <a:t>A alone can determine C</a:t>
            </a:r>
            <a:r>
              <a:rPr lang="en-US" dirty="0"/>
              <a:t>, the use of B is unnecessary (extra).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An attribute of a functional dependency is said to be extraneous if we can </a:t>
            </a:r>
            <a:r>
              <a:rPr lang="en-US" b="1" dirty="0">
                <a:solidFill>
                  <a:schemeClr val="accent6"/>
                </a:solidFill>
              </a:rPr>
              <a:t>remove it without changing the closure of the set of functional dependencies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16" name="Google Shape;316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What is extraneous attributes?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"/>
          <p:cNvSpPr txBox="1">
            <a:spLocks noGrp="1"/>
          </p:cNvSpPr>
          <p:nvPr>
            <p:ph type="body" idx="1"/>
          </p:nvPr>
        </p:nvSpPr>
        <p:spPr>
          <a:xfrm>
            <a:off x="131179" y="111136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canonical cover of F is a </a:t>
            </a:r>
            <a:r>
              <a:rPr lang="en-US" b="1" dirty="0">
                <a:solidFill>
                  <a:schemeClr val="accent6"/>
                </a:solidFill>
              </a:rPr>
              <a:t>minimal set of functional dependencies </a:t>
            </a:r>
            <a:r>
              <a:rPr lang="en-US" dirty="0"/>
              <a:t>equivalent to F, having </a:t>
            </a:r>
            <a:r>
              <a:rPr lang="en-US" b="1" dirty="0">
                <a:solidFill>
                  <a:schemeClr val="accent6"/>
                </a:solidFill>
              </a:rPr>
              <a:t>no redundant dependencies or redundant parts of dependencies</a:t>
            </a:r>
            <a:r>
              <a:rPr lang="en-US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It is denoted by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b="1" baseline="-25000" dirty="0">
                <a:solidFill>
                  <a:schemeClr val="accent6"/>
                </a:solidFill>
              </a:rPr>
              <a:t>c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canonical cover for F is a set of dependencies F</a:t>
            </a:r>
            <a:r>
              <a:rPr lang="en-US" baseline="-25000" dirty="0"/>
              <a:t>c</a:t>
            </a:r>
            <a:r>
              <a:rPr lang="en-US" dirty="0"/>
              <a:t> such that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F logically implies</a:t>
            </a:r>
            <a:r>
              <a:rPr lang="en-US" dirty="0"/>
              <a:t> all dependencies in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b="1" baseline="-25000" dirty="0">
                <a:solidFill>
                  <a:schemeClr val="accent6"/>
                </a:solidFill>
              </a:rPr>
              <a:t>c</a:t>
            </a:r>
            <a:r>
              <a:rPr lang="en-US" dirty="0"/>
              <a:t> and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b="1" baseline="-25000" dirty="0">
                <a:solidFill>
                  <a:schemeClr val="accent6"/>
                </a:solidFill>
              </a:rPr>
              <a:t>c</a:t>
            </a:r>
            <a:r>
              <a:rPr lang="en-US" b="1" dirty="0">
                <a:solidFill>
                  <a:schemeClr val="accent6"/>
                </a:solidFill>
              </a:rPr>
              <a:t> logically implies </a:t>
            </a:r>
            <a:r>
              <a:rPr lang="en-US" dirty="0"/>
              <a:t>all dependencies in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dirty="0"/>
              <a:t> and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No</a:t>
            </a:r>
            <a:r>
              <a:rPr lang="en-US" dirty="0"/>
              <a:t> functional dependency in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b="1" baseline="-25000" dirty="0">
                <a:solidFill>
                  <a:schemeClr val="accent6"/>
                </a:solidFill>
              </a:rPr>
              <a:t>c</a:t>
            </a:r>
            <a:r>
              <a:rPr lang="en-US" dirty="0"/>
              <a:t> contains an </a:t>
            </a:r>
            <a:r>
              <a:rPr lang="en-US" b="1" dirty="0">
                <a:solidFill>
                  <a:schemeClr val="accent6"/>
                </a:solidFill>
              </a:rPr>
              <a:t>extraneous attribute </a:t>
            </a:r>
            <a:r>
              <a:rPr lang="en-US" dirty="0"/>
              <a:t>and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Each </a:t>
            </a:r>
            <a:r>
              <a:rPr lang="en-US" b="1" dirty="0">
                <a:solidFill>
                  <a:schemeClr val="accent6"/>
                </a:solidFill>
              </a:rPr>
              <a:t>left side </a:t>
            </a:r>
            <a:r>
              <a:rPr lang="en-US" dirty="0"/>
              <a:t>of functional dependency in </a:t>
            </a:r>
            <a:r>
              <a:rPr lang="en-US" b="1" dirty="0">
                <a:solidFill>
                  <a:schemeClr val="accent6"/>
                </a:solidFill>
              </a:rPr>
              <a:t>F</a:t>
            </a:r>
            <a:r>
              <a:rPr lang="en-US" b="1" baseline="-25000" dirty="0">
                <a:solidFill>
                  <a:schemeClr val="accent6"/>
                </a:solidFill>
              </a:rPr>
              <a:t>c</a:t>
            </a:r>
            <a:r>
              <a:rPr lang="en-US" dirty="0"/>
              <a:t> is </a:t>
            </a:r>
            <a:r>
              <a:rPr lang="en-US" b="1" dirty="0">
                <a:solidFill>
                  <a:schemeClr val="accent6"/>
                </a:solidFill>
              </a:rPr>
              <a:t>unique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22" name="Google Shape;322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What is canonical cover?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3944760" y="4591050"/>
            <a:ext cx="2520000" cy="9906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 = {A </a:t>
            </a:r>
            <a:r>
              <a:rPr lang="en-US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B, A </a:t>
            </a:r>
            <a:r>
              <a:rPr lang="en-US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</a:t>
            </a:r>
            <a:r>
              <a:rPr lang="en-US" sz="2400" b="1" baseline="-25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</a:t>
            </a: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= {A </a:t>
            </a:r>
            <a:r>
              <a:rPr lang="en-US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BC}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5" name="Google Shape;325;p24"/>
          <p:cNvSpPr/>
          <p:nvPr/>
        </p:nvSpPr>
        <p:spPr>
          <a:xfrm rot="5400000">
            <a:off x="6465352" y="4743450"/>
            <a:ext cx="838200" cy="838200"/>
          </a:xfrm>
          <a:prstGeom prst="curvedDownArrow">
            <a:avLst>
              <a:gd name="adj1" fmla="val 17061"/>
              <a:gd name="adj2" fmla="val 50000"/>
              <a:gd name="adj3" fmla="val 25000"/>
            </a:avLst>
          </a:prstGeom>
          <a:gradFill>
            <a:gsLst>
              <a:gs pos="0">
                <a:srgbClr val="D8A6A4"/>
              </a:gs>
              <a:gs pos="50000">
                <a:srgbClr val="D29896"/>
              </a:gs>
              <a:gs pos="100000">
                <a:srgbClr val="CF8583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6" name="Google Shape;326;p24"/>
          <p:cNvSpPr/>
          <p:nvPr/>
        </p:nvSpPr>
        <p:spPr>
          <a:xfrm rot="-5400000">
            <a:off x="3106290" y="4607526"/>
            <a:ext cx="838200" cy="838200"/>
          </a:xfrm>
          <a:prstGeom prst="curvedDownArrow">
            <a:avLst>
              <a:gd name="adj1" fmla="val 17061"/>
              <a:gd name="adj2" fmla="val 50000"/>
              <a:gd name="adj3" fmla="val 25000"/>
            </a:avLst>
          </a:prstGeom>
          <a:gradFill>
            <a:gsLst>
              <a:gs pos="0">
                <a:srgbClr val="D8A6A4"/>
              </a:gs>
              <a:gs pos="50000">
                <a:srgbClr val="D29896"/>
              </a:gs>
              <a:gs pos="100000">
                <a:srgbClr val="CF8583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7430258" y="4812030"/>
            <a:ext cx="1524000" cy="548640"/>
          </a:xfrm>
          <a:prstGeom prst="wedgeRoundRectCallout">
            <a:avLst>
              <a:gd name="adj1" fmla="val -60307"/>
              <a:gd name="adj2" fmla="val -3290"/>
              <a:gd name="adj3" fmla="val 16667"/>
            </a:avLst>
          </a:prstGeom>
          <a:solidFill>
            <a:srgbClr val="F0D9D8"/>
          </a:solidFill>
          <a:ln w="12700" cap="flat" cmpd="sng">
            <a:solidFill>
              <a:srgbClr val="D58E8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Union Rule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809234" y="4812030"/>
            <a:ext cx="2160000" cy="548640"/>
          </a:xfrm>
          <a:prstGeom prst="wedgeRoundRectCallout">
            <a:avLst>
              <a:gd name="adj1" fmla="val 56592"/>
              <a:gd name="adj2" fmla="val -5483"/>
              <a:gd name="adj3" fmla="val 16667"/>
            </a:avLst>
          </a:prstGeom>
          <a:solidFill>
            <a:srgbClr val="F0D9D8"/>
          </a:solidFill>
          <a:ln w="12700" cap="flat" cmpd="sng">
            <a:solidFill>
              <a:srgbClr val="D58E8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Decomposition Rule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>
            <a:spLocks noGrp="1"/>
          </p:cNvSpPr>
          <p:nvPr>
            <p:ph type="body" idx="1"/>
          </p:nvPr>
        </p:nvSpPr>
        <p:spPr>
          <a:xfrm>
            <a:off x="131180" y="1131216"/>
            <a:ext cx="11929641" cy="532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i="1" dirty="0"/>
              <a:t>Repeat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Use the </a:t>
            </a:r>
            <a:r>
              <a:rPr lang="en-US" b="1" dirty="0">
                <a:solidFill>
                  <a:schemeClr val="accent6"/>
                </a:solidFill>
              </a:rPr>
              <a:t>union rule</a:t>
            </a:r>
            <a:r>
              <a:rPr lang="en-US" dirty="0"/>
              <a:t> to replace any dependencies in F </a:t>
            </a:r>
            <a:r>
              <a:rPr lang="en-US" b="1" dirty="0">
                <a:solidFill>
                  <a:schemeClr val="accent6"/>
                </a:solidFill>
              </a:rPr>
              <a:t>α1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β1 </a:t>
            </a:r>
            <a:r>
              <a:rPr lang="en-US" dirty="0"/>
              <a:t>and</a:t>
            </a:r>
            <a:r>
              <a:rPr lang="en-US" b="1" dirty="0">
                <a:solidFill>
                  <a:schemeClr val="accent6"/>
                </a:solidFill>
              </a:rPr>
              <a:t> α1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β2 with α1 </a:t>
            </a:r>
            <a:r>
              <a:rPr lang="en-US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b="1" dirty="0">
                <a:solidFill>
                  <a:schemeClr val="accent6"/>
                </a:solidFill>
              </a:rPr>
              <a:t> β1β2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Find a functional dependency α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β with an </a:t>
            </a:r>
            <a:r>
              <a:rPr lang="en-US" b="1" dirty="0">
                <a:solidFill>
                  <a:schemeClr val="accent6"/>
                </a:solidFill>
              </a:rPr>
              <a:t>extraneous attribute </a:t>
            </a:r>
            <a:r>
              <a:rPr lang="en-US" dirty="0"/>
              <a:t>either in α or in β	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		</a:t>
            </a:r>
            <a:r>
              <a:rPr lang="en-US" dirty="0">
                <a:solidFill>
                  <a:schemeClr val="dk2"/>
                </a:solidFill>
              </a:rPr>
              <a:t>/*     Note: test for extraneous attributes done using F</a:t>
            </a:r>
            <a:r>
              <a:rPr lang="en-US" baseline="-25000" dirty="0">
                <a:solidFill>
                  <a:schemeClr val="dk2"/>
                </a:solidFill>
              </a:rPr>
              <a:t>c</a:t>
            </a:r>
            <a:r>
              <a:rPr lang="en-US" dirty="0">
                <a:solidFill>
                  <a:schemeClr val="dk2"/>
                </a:solidFill>
              </a:rPr>
              <a:t>, not F     */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If an </a:t>
            </a:r>
            <a:r>
              <a:rPr lang="en-US" b="1" dirty="0">
                <a:solidFill>
                  <a:schemeClr val="accent6"/>
                </a:solidFill>
              </a:rPr>
              <a:t>extraneous attribute is found, delete it </a:t>
            </a:r>
            <a:r>
              <a:rPr lang="en-US" dirty="0"/>
              <a:t>from α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β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i="1" dirty="0"/>
              <a:t>until</a:t>
            </a:r>
            <a:r>
              <a:rPr lang="en-US" dirty="0"/>
              <a:t> F does not change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dirty="0">
                <a:solidFill>
                  <a:schemeClr val="dk2"/>
                </a:solidFill>
              </a:rPr>
              <a:t>		/*     Note: Union rule may become applicable after some extraneous attributes have been deleted, 			so it has to be re-applied     */</a:t>
            </a:r>
            <a:endParaRPr dirty="0"/>
          </a:p>
        </p:txBody>
      </p:sp>
      <p:sp>
        <p:nvSpPr>
          <p:cNvPr id="333" name="Google Shape;333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Algorithm to find canonical cover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Combine </a:t>
            </a:r>
            <a:r>
              <a:rPr lang="en-US">
                <a:solidFill>
                  <a:schemeClr val="accent6"/>
                </a:solidFill>
              </a:rPr>
              <a:t>A </a:t>
            </a:r>
            <a:r>
              <a:rPr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>
                <a:solidFill>
                  <a:schemeClr val="accent6"/>
                </a:solidFill>
              </a:rPr>
              <a:t> BC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A </a:t>
            </a:r>
            <a:r>
              <a:rPr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>
                <a:solidFill>
                  <a:schemeClr val="accent6"/>
                </a:solidFill>
              </a:rPr>
              <a:t> B </a:t>
            </a:r>
            <a:r>
              <a:rPr lang="en-US"/>
              <a:t>into </a:t>
            </a:r>
            <a:r>
              <a:rPr lang="en-US">
                <a:solidFill>
                  <a:schemeClr val="dk2"/>
                </a:solidFill>
              </a:rPr>
              <a:t>A </a:t>
            </a: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>
                <a:solidFill>
                  <a:schemeClr val="dk2"/>
                </a:solidFill>
              </a:rPr>
              <a:t> BC</a:t>
            </a:r>
            <a:r>
              <a:rPr lang="en-US">
                <a:solidFill>
                  <a:schemeClr val="accent6"/>
                </a:solidFill>
              </a:rPr>
              <a:t> (Union Rule)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Set is {A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/>
              <a:t> BC, B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/>
              <a:t>C, AB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/>
              <a:t> C}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A is extraneous in AB </a:t>
            </a:r>
            <a:r>
              <a:rPr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>
                <a:solidFill>
                  <a:schemeClr val="accent6"/>
                </a:solidFill>
              </a:rPr>
              <a:t>C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Check if the result of deleting A from AB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/>
              <a:t> C is implied by the other dependencies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Yes: in fact, B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/>
              <a:t>C is already present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Set is {A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/>
              <a:t>BC, B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/>
              <a:t>C}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C is extraneous in A </a:t>
            </a:r>
            <a:r>
              <a:rPr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>
                <a:solidFill>
                  <a:schemeClr val="accent6"/>
                </a:solidFill>
              </a:rPr>
              <a:t> BC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Check if A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/>
              <a:t> C is logically implied by A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/>
              <a:t> B and the other dependencies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Yes: using transitivity on A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/>
              <a:t>B and B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/>
              <a:t>C.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canonical cover is: </a:t>
            </a:r>
            <a:r>
              <a:rPr lang="en-US" b="1">
                <a:solidFill>
                  <a:schemeClr val="accent6"/>
                </a:solidFill>
              </a:rPr>
              <a:t>A </a:t>
            </a:r>
            <a:r>
              <a:rPr lang="en-US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b="1">
                <a:solidFill>
                  <a:schemeClr val="accent6"/>
                </a:solidFill>
              </a:rPr>
              <a:t>B, B </a:t>
            </a:r>
            <a:r>
              <a:rPr lang="en-US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b="1">
                <a:solidFill>
                  <a:schemeClr val="accent6"/>
                </a:solidFill>
              </a:rPr>
              <a:t>C</a:t>
            </a:r>
            <a:endParaRPr/>
          </a:p>
        </p:txBody>
      </p:sp>
      <p:sp>
        <p:nvSpPr>
          <p:cNvPr id="339" name="Google Shape;339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Canonical cover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41" name="Google Shape;341;p26"/>
          <p:cNvSpPr txBox="1"/>
          <p:nvPr/>
        </p:nvSpPr>
        <p:spPr>
          <a:xfrm>
            <a:off x="130025" y="857555"/>
            <a:ext cx="11932920" cy="13716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Consider the relation schema R = (A, B, C) with FDs </a:t>
            </a:r>
            <a:endParaRPr/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	F = {A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BC, B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C, A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B, AB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C} 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Find canonical cover.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8"/>
          <p:cNvSpPr txBox="1">
            <a:spLocks noGrp="1"/>
          </p:cNvSpPr>
          <p:nvPr>
            <p:ph type="body" idx="1"/>
          </p:nvPr>
        </p:nvSpPr>
        <p:spPr>
          <a:xfrm>
            <a:off x="131179" y="111351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Decomposition is the </a:t>
            </a:r>
            <a:r>
              <a:rPr lang="en-US" b="1" dirty="0">
                <a:solidFill>
                  <a:schemeClr val="accent6"/>
                </a:solidFill>
              </a:rPr>
              <a:t>process of breaking down given relation </a:t>
            </a:r>
            <a:r>
              <a:rPr lang="en-US" dirty="0"/>
              <a:t>into </a:t>
            </a:r>
            <a:r>
              <a:rPr lang="en-US" b="1" dirty="0">
                <a:solidFill>
                  <a:schemeClr val="accent6"/>
                </a:solidFill>
              </a:rPr>
              <a:t>two or more relations</a:t>
            </a:r>
            <a:r>
              <a:rPr lang="en-US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Relation R is replaced by two or more relations in such a way that: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Each new relation contains a </a:t>
            </a:r>
            <a:r>
              <a:rPr lang="en-US" b="1" dirty="0">
                <a:solidFill>
                  <a:schemeClr val="accent6"/>
                </a:solidFill>
              </a:rPr>
              <a:t>subset</a:t>
            </a:r>
            <a:r>
              <a:rPr lang="en-US" dirty="0"/>
              <a:t> of the </a:t>
            </a:r>
            <a:r>
              <a:rPr lang="en-US" b="1" dirty="0">
                <a:solidFill>
                  <a:schemeClr val="accent6"/>
                </a:solidFill>
              </a:rPr>
              <a:t>attributes of R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Together, they all </a:t>
            </a:r>
            <a:r>
              <a:rPr lang="en-US" b="1" dirty="0">
                <a:solidFill>
                  <a:schemeClr val="accent6"/>
                </a:solidFill>
              </a:rPr>
              <a:t>include all tuples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/>
                </a:solidFill>
              </a:rPr>
              <a:t>attributes of R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Types of decomposition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Lossy decomposition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Lossless decomposition (non-loss decomposition)</a:t>
            </a:r>
            <a:endParaRPr dirty="0"/>
          </a:p>
        </p:txBody>
      </p:sp>
      <p:sp>
        <p:nvSpPr>
          <p:cNvPr id="353" name="Google Shape;353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What is decomposition?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>
            <a:spLocks noGrp="1"/>
          </p:cNvSpPr>
          <p:nvPr>
            <p:ph type="body" idx="1"/>
          </p:nvPr>
        </p:nvSpPr>
        <p:spPr>
          <a:xfrm>
            <a:off x="138798" y="1106209"/>
            <a:ext cx="6269577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/>
              <a:t>The decomposition of relation R into R1 and R2 is lossy when the </a:t>
            </a:r>
            <a:r>
              <a:rPr lang="en-US" dirty="0">
                <a:solidFill>
                  <a:schemeClr val="accent6"/>
                </a:solidFill>
              </a:rPr>
              <a:t>join of R1 and R2 does not yield the same relation as in R</a:t>
            </a:r>
            <a:r>
              <a:rPr lang="en-US" dirty="0"/>
              <a:t>.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This is also referred as </a:t>
            </a:r>
            <a:r>
              <a:rPr lang="en-US" dirty="0">
                <a:solidFill>
                  <a:schemeClr val="accent6"/>
                </a:solidFill>
              </a:rPr>
              <a:t>lossy-join decomposition</a:t>
            </a:r>
            <a:r>
              <a:rPr lang="en-US" dirty="0"/>
              <a:t>.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disadvantage</a:t>
            </a:r>
            <a:r>
              <a:rPr lang="en-US" dirty="0"/>
              <a:t> of such kind of decomposition is that </a:t>
            </a:r>
            <a:r>
              <a:rPr lang="en-US" dirty="0">
                <a:solidFill>
                  <a:schemeClr val="accent6"/>
                </a:solidFill>
              </a:rPr>
              <a:t>some information is lost during retrieval of original relation</a:t>
            </a:r>
            <a:r>
              <a:rPr lang="en-US" dirty="0"/>
              <a:t>.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From practical point of view, </a:t>
            </a:r>
            <a:r>
              <a:rPr lang="en-US" dirty="0">
                <a:solidFill>
                  <a:schemeClr val="accent6"/>
                </a:solidFill>
              </a:rPr>
              <a:t>decomposition should not be lossy decomposition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60" name="Google Shape;360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Lossy decomposition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6562620" y="863444"/>
            <a:ext cx="5512175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362" name="Google Shape;362;p29"/>
          <p:cNvGraphicFramePr/>
          <p:nvPr/>
        </p:nvGraphicFramePr>
        <p:xfrm>
          <a:off x="8016509" y="1150857"/>
          <a:ext cx="2426650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Balance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3" name="Google Shape;363;p29"/>
          <p:cNvGraphicFramePr/>
          <p:nvPr/>
        </p:nvGraphicFramePr>
        <p:xfrm>
          <a:off x="8016509" y="787244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4" name="Google Shape;364;p29"/>
          <p:cNvGraphicFramePr/>
          <p:nvPr/>
        </p:nvGraphicFramePr>
        <p:xfrm>
          <a:off x="8013243" y="4496924"/>
          <a:ext cx="2426650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Balance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5" name="Google Shape;365;p29"/>
          <p:cNvGraphicFramePr/>
          <p:nvPr/>
        </p:nvGraphicFramePr>
        <p:xfrm>
          <a:off x="8013243" y="4133311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6" name="Google Shape;366;p29"/>
          <p:cNvGraphicFramePr/>
          <p:nvPr/>
        </p:nvGraphicFramePr>
        <p:xfrm>
          <a:off x="10181542" y="2812906"/>
          <a:ext cx="1827850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Balance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7" name="Google Shape;367;p29"/>
          <p:cNvGraphicFramePr/>
          <p:nvPr/>
        </p:nvGraphicFramePr>
        <p:xfrm>
          <a:off x="10181542" y="2449293"/>
          <a:ext cx="9448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8" name="Google Shape;368;p29"/>
          <p:cNvGraphicFramePr/>
          <p:nvPr/>
        </p:nvGraphicFramePr>
        <p:xfrm>
          <a:off x="6718570" y="2812906"/>
          <a:ext cx="1562725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Balance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9" name="Google Shape;369;p29"/>
          <p:cNvGraphicFramePr/>
          <p:nvPr/>
        </p:nvGraphicFramePr>
        <p:xfrm>
          <a:off x="6718570" y="2449293"/>
          <a:ext cx="9448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0" name="Google Shape;370;p29"/>
          <p:cNvCxnSpPr/>
          <p:nvPr/>
        </p:nvCxnSpPr>
        <p:spPr>
          <a:xfrm>
            <a:off x="6531979" y="863444"/>
            <a:ext cx="0" cy="559056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1" name="Google Shape;371;p29"/>
          <p:cNvSpPr/>
          <p:nvPr/>
        </p:nvSpPr>
        <p:spPr>
          <a:xfrm rot="-2154619">
            <a:off x="10740242" y="1323849"/>
            <a:ext cx="774164" cy="1135083"/>
          </a:xfrm>
          <a:prstGeom prst="curvedLeftArrow">
            <a:avLst>
              <a:gd name="adj1" fmla="val 21372"/>
              <a:gd name="adj2" fmla="val 50000"/>
              <a:gd name="adj3" fmla="val 25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2" name="Google Shape;372;p29"/>
          <p:cNvSpPr/>
          <p:nvPr/>
        </p:nvSpPr>
        <p:spPr>
          <a:xfrm rot="2154619" flipH="1">
            <a:off x="6987393" y="1291188"/>
            <a:ext cx="774164" cy="1135083"/>
          </a:xfrm>
          <a:prstGeom prst="curvedLeftArrow">
            <a:avLst>
              <a:gd name="adj1" fmla="val 21372"/>
              <a:gd name="adj2" fmla="val 50000"/>
              <a:gd name="adj3" fmla="val 25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3" name="Google Shape;373;p29"/>
          <p:cNvSpPr/>
          <p:nvPr/>
        </p:nvSpPr>
        <p:spPr>
          <a:xfrm rot="1680047">
            <a:off x="10582734" y="4148320"/>
            <a:ext cx="647443" cy="1258950"/>
          </a:xfrm>
          <a:prstGeom prst="curvedLeftArrow">
            <a:avLst>
              <a:gd name="adj1" fmla="val 21372"/>
              <a:gd name="adj2" fmla="val 50000"/>
              <a:gd name="adj3" fmla="val 25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4" name="Google Shape;374;p29"/>
          <p:cNvSpPr/>
          <p:nvPr/>
        </p:nvSpPr>
        <p:spPr>
          <a:xfrm rot="-1680047" flipH="1">
            <a:off x="7249135" y="4148319"/>
            <a:ext cx="647443" cy="1258950"/>
          </a:xfrm>
          <a:prstGeom prst="curvedLeftArrow">
            <a:avLst>
              <a:gd name="adj1" fmla="val 21372"/>
              <a:gd name="adj2" fmla="val 50000"/>
              <a:gd name="adj3" fmla="val 25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8020861" y="5338626"/>
            <a:ext cx="2441448" cy="822960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6" name="Google Shape;376;p29"/>
          <p:cNvSpPr txBox="1"/>
          <p:nvPr/>
        </p:nvSpPr>
        <p:spPr>
          <a:xfrm>
            <a:off x="8538129" y="3094085"/>
            <a:ext cx="14372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 Same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7" name="Google Shape;377;p29"/>
          <p:cNvSpPr/>
          <p:nvPr/>
        </p:nvSpPr>
        <p:spPr>
          <a:xfrm rot="5400000">
            <a:off x="8913840" y="3758290"/>
            <a:ext cx="685800" cy="28640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8" name="Google Shape;378;p29"/>
          <p:cNvSpPr/>
          <p:nvPr/>
        </p:nvSpPr>
        <p:spPr>
          <a:xfrm rot="-5400000">
            <a:off x="8913840" y="2590564"/>
            <a:ext cx="685800" cy="28640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 txBox="1">
            <a:spLocks noGrp="1"/>
          </p:cNvSpPr>
          <p:nvPr>
            <p:ph type="body" idx="1"/>
          </p:nvPr>
        </p:nvSpPr>
        <p:spPr>
          <a:xfrm>
            <a:off x="131180" y="1150857"/>
            <a:ext cx="6295824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The decomposition of relation R into R1 and R2 is lossless when the </a:t>
            </a:r>
            <a:r>
              <a:rPr lang="en-US" dirty="0">
                <a:solidFill>
                  <a:schemeClr val="accent6"/>
                </a:solidFill>
              </a:rPr>
              <a:t>join of R1 and R2 produces the same relation as in R</a:t>
            </a:r>
            <a:r>
              <a:rPr lang="en-US" dirty="0"/>
              <a:t>.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This is also referred as a </a:t>
            </a:r>
            <a:r>
              <a:rPr lang="en-US" dirty="0">
                <a:solidFill>
                  <a:schemeClr val="accent6"/>
                </a:solidFill>
              </a:rPr>
              <a:t>non-additive (non-loss) decomposition</a:t>
            </a:r>
            <a:r>
              <a:rPr lang="en-US" dirty="0"/>
              <a:t>.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All </a:t>
            </a:r>
            <a:r>
              <a:rPr lang="en-US" dirty="0">
                <a:solidFill>
                  <a:schemeClr val="accent6"/>
                </a:solidFill>
              </a:rPr>
              <a:t>decompositions must be lossless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84" name="Google Shape;384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Lossless decomposition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85" name="Google Shape;385;p30"/>
          <p:cNvSpPr txBox="1"/>
          <p:nvPr/>
        </p:nvSpPr>
        <p:spPr>
          <a:xfrm>
            <a:off x="6562620" y="863444"/>
            <a:ext cx="5512175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386" name="Google Shape;386;p30"/>
          <p:cNvGraphicFramePr/>
          <p:nvPr/>
        </p:nvGraphicFramePr>
        <p:xfrm>
          <a:off x="8016509" y="1150857"/>
          <a:ext cx="2426650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Balance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7" name="Google Shape;387;p30"/>
          <p:cNvGraphicFramePr/>
          <p:nvPr/>
        </p:nvGraphicFramePr>
        <p:xfrm>
          <a:off x="8016509" y="787244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8" name="Google Shape;388;p30"/>
          <p:cNvGraphicFramePr/>
          <p:nvPr/>
        </p:nvGraphicFramePr>
        <p:xfrm>
          <a:off x="8013243" y="4496924"/>
          <a:ext cx="2426650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Balance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9" name="Google Shape;389;p30"/>
          <p:cNvGraphicFramePr/>
          <p:nvPr/>
        </p:nvGraphicFramePr>
        <p:xfrm>
          <a:off x="8013243" y="4133311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0" name="Google Shape;390;p30"/>
          <p:cNvGraphicFramePr/>
          <p:nvPr/>
        </p:nvGraphicFramePr>
        <p:xfrm>
          <a:off x="10181542" y="2812906"/>
          <a:ext cx="1462725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1" name="Google Shape;391;p30"/>
          <p:cNvGraphicFramePr/>
          <p:nvPr/>
        </p:nvGraphicFramePr>
        <p:xfrm>
          <a:off x="10181542" y="2449293"/>
          <a:ext cx="9448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2" name="Google Shape;392;p30"/>
          <p:cNvGraphicFramePr/>
          <p:nvPr/>
        </p:nvGraphicFramePr>
        <p:xfrm>
          <a:off x="6718570" y="2812906"/>
          <a:ext cx="1562725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Balance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3" name="Google Shape;393;p30"/>
          <p:cNvGraphicFramePr/>
          <p:nvPr/>
        </p:nvGraphicFramePr>
        <p:xfrm>
          <a:off x="6718570" y="2449293"/>
          <a:ext cx="9448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4" name="Google Shape;394;p30"/>
          <p:cNvCxnSpPr/>
          <p:nvPr/>
        </p:nvCxnSpPr>
        <p:spPr>
          <a:xfrm>
            <a:off x="6531979" y="859536"/>
            <a:ext cx="0" cy="512064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5" name="Google Shape;395;p30"/>
          <p:cNvSpPr/>
          <p:nvPr/>
        </p:nvSpPr>
        <p:spPr>
          <a:xfrm rot="-2154619">
            <a:off x="10740242" y="1323849"/>
            <a:ext cx="774164" cy="1135083"/>
          </a:xfrm>
          <a:prstGeom prst="curvedLeftArrow">
            <a:avLst>
              <a:gd name="adj1" fmla="val 21372"/>
              <a:gd name="adj2" fmla="val 50000"/>
              <a:gd name="adj3" fmla="val 25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6" name="Google Shape;396;p30"/>
          <p:cNvSpPr/>
          <p:nvPr/>
        </p:nvSpPr>
        <p:spPr>
          <a:xfrm rot="2154619" flipH="1">
            <a:off x="6987393" y="1291188"/>
            <a:ext cx="774164" cy="1135083"/>
          </a:xfrm>
          <a:prstGeom prst="curvedLeftArrow">
            <a:avLst>
              <a:gd name="adj1" fmla="val 21372"/>
              <a:gd name="adj2" fmla="val 50000"/>
              <a:gd name="adj3" fmla="val 25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7" name="Google Shape;397;p30"/>
          <p:cNvSpPr/>
          <p:nvPr/>
        </p:nvSpPr>
        <p:spPr>
          <a:xfrm rot="1680047">
            <a:off x="10582734" y="4148320"/>
            <a:ext cx="647443" cy="1258950"/>
          </a:xfrm>
          <a:prstGeom prst="curvedLeftArrow">
            <a:avLst>
              <a:gd name="adj1" fmla="val 21372"/>
              <a:gd name="adj2" fmla="val 50000"/>
              <a:gd name="adj3" fmla="val 25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8" name="Google Shape;398;p30"/>
          <p:cNvSpPr/>
          <p:nvPr/>
        </p:nvSpPr>
        <p:spPr>
          <a:xfrm rot="-1680047" flipH="1">
            <a:off x="7249135" y="4148319"/>
            <a:ext cx="647443" cy="1258950"/>
          </a:xfrm>
          <a:prstGeom prst="curvedLeftArrow">
            <a:avLst>
              <a:gd name="adj1" fmla="val 21372"/>
              <a:gd name="adj2" fmla="val 50000"/>
              <a:gd name="adj3" fmla="val 25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8538129" y="3094085"/>
            <a:ext cx="14372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0" name="Google Shape;400;p30"/>
          <p:cNvSpPr/>
          <p:nvPr/>
        </p:nvSpPr>
        <p:spPr>
          <a:xfrm rot="5400000">
            <a:off x="8913840" y="3758290"/>
            <a:ext cx="685800" cy="28640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1" name="Google Shape;401;p30"/>
          <p:cNvSpPr/>
          <p:nvPr/>
        </p:nvSpPr>
        <p:spPr>
          <a:xfrm rot="-5400000">
            <a:off x="8913840" y="2590564"/>
            <a:ext cx="685800" cy="28640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1"/>
          <p:cNvSpPr txBox="1">
            <a:spLocks noGrp="1"/>
          </p:cNvSpPr>
          <p:nvPr>
            <p:ph type="body" idx="1"/>
          </p:nvPr>
        </p:nvSpPr>
        <p:spPr>
          <a:xfrm>
            <a:off x="131179" y="111351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Anomalies are </a:t>
            </a:r>
            <a:r>
              <a:rPr lang="en-US" b="1" dirty="0">
                <a:solidFill>
                  <a:schemeClr val="accent6"/>
                </a:solidFill>
              </a:rPr>
              <a:t>problems that can occur in poorly planned, un-normalized database</a:t>
            </a:r>
            <a:r>
              <a:rPr lang="en-US" dirty="0"/>
              <a:t> where all the data are stored in one table.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There are three types of anomalies that can arise in the database because of redundancy are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Insert anomaly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Delete anomaly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Update / Modification anomaly</a:t>
            </a:r>
            <a:endParaRPr dirty="0"/>
          </a:p>
        </p:txBody>
      </p:sp>
      <p:sp>
        <p:nvSpPr>
          <p:cNvPr id="406" name="Google Shape;406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What is an anomaly in database design?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"/>
          <p:cNvSpPr txBox="1">
            <a:spLocks noGrp="1"/>
          </p:cNvSpPr>
          <p:nvPr>
            <p:ph type="body" idx="1"/>
          </p:nvPr>
        </p:nvSpPr>
        <p:spPr>
          <a:xfrm>
            <a:off x="131179" y="891246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65113" lvl="0" indent="-265113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Noto Sans Symbols"/>
              <a:buChar char="🞂"/>
            </a:pPr>
            <a:r>
              <a:rPr lang="en-US" sz="2600" dirty="0"/>
              <a:t>Consider a relation </a:t>
            </a:r>
            <a:r>
              <a:rPr lang="en-US" sz="2600" dirty="0" err="1"/>
              <a:t>Emp_Dept</a:t>
            </a:r>
            <a:r>
              <a:rPr lang="en-US" sz="2600" dirty="0"/>
              <a:t>(EID, </a:t>
            </a:r>
            <a:r>
              <a:rPr lang="en-US" sz="2600" dirty="0" err="1"/>
              <a:t>Ename</a:t>
            </a:r>
            <a:r>
              <a:rPr lang="en-US" sz="2600" dirty="0"/>
              <a:t>, City, DID, </a:t>
            </a:r>
            <a:r>
              <a:rPr lang="en-US" sz="2600" dirty="0" err="1"/>
              <a:t>Dname</a:t>
            </a:r>
            <a:r>
              <a:rPr lang="en-US" sz="2600" dirty="0"/>
              <a:t>, Manager) EID as a primary key</a:t>
            </a: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65113" lvl="0" indent="-265113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Noto Sans Symbols"/>
              <a:buChar char="🞂"/>
            </a:pPr>
            <a:r>
              <a:rPr lang="en-US" sz="2600" dirty="0"/>
              <a:t>Suppose a new department (IT) has been started by the organization but initially there is no employee appointed for that department.</a:t>
            </a:r>
            <a:endParaRPr dirty="0"/>
          </a:p>
          <a:p>
            <a:pPr marL="265113" lvl="0" indent="-265113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Noto Sans Symbols"/>
              <a:buChar char="🞂"/>
            </a:pPr>
            <a:r>
              <a:rPr lang="en-US" sz="2600" dirty="0"/>
              <a:t>We want to insert that department detail in </a:t>
            </a:r>
            <a:r>
              <a:rPr lang="en-US" sz="2600" dirty="0" err="1"/>
              <a:t>Emp_Dept</a:t>
            </a:r>
            <a:r>
              <a:rPr lang="en-US" sz="2600" dirty="0"/>
              <a:t> table.</a:t>
            </a:r>
            <a:endParaRPr dirty="0"/>
          </a:p>
          <a:p>
            <a:pPr marL="265113" lvl="0" indent="-265113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Noto Sans Symbols"/>
              <a:buChar char="🞂"/>
            </a:pPr>
            <a:r>
              <a:rPr lang="en-US" sz="2600" dirty="0"/>
              <a:t>But the tuple for this department cannot be inserted into this table as the EID will have NULL value, which is not allowed because EID is primary key.</a:t>
            </a:r>
            <a:endParaRPr dirty="0"/>
          </a:p>
          <a:p>
            <a:pPr marL="265113" lvl="0" indent="-265113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Noto Sans Symbols"/>
              <a:buChar char="🞂"/>
            </a:pPr>
            <a:r>
              <a:rPr lang="en-US" sz="2600" dirty="0"/>
              <a:t>This kind of problem in the relation where some tuple cannot be inserted is known as insert anomaly.</a:t>
            </a:r>
            <a:endParaRPr dirty="0"/>
          </a:p>
        </p:txBody>
      </p:sp>
      <p:sp>
        <p:nvSpPr>
          <p:cNvPr id="412" name="Google Shape;412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Insert anomaly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414" name="Google Shape;414;p32"/>
          <p:cNvGraphicFramePr/>
          <p:nvPr/>
        </p:nvGraphicFramePr>
        <p:xfrm>
          <a:off x="360994" y="1679161"/>
          <a:ext cx="4976600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EID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>
                          <a:solidFill>
                            <a:schemeClr val="dk1"/>
                          </a:solidFill>
                        </a:rPr>
                        <a:t>Ename</a:t>
                      </a:r>
                      <a:endParaRPr sz="1800" b="1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City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Manager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Shah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5" name="Google Shape;415;p32"/>
          <p:cNvGraphicFramePr/>
          <p:nvPr/>
        </p:nvGraphicFramePr>
        <p:xfrm>
          <a:off x="360994" y="1315548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Emp_Dept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6" name="Google Shape;416;p32"/>
          <p:cNvSpPr/>
          <p:nvPr/>
        </p:nvSpPr>
        <p:spPr>
          <a:xfrm>
            <a:off x="5536497" y="1379421"/>
            <a:ext cx="6400800" cy="1371600"/>
          </a:xfrm>
          <a:prstGeom prst="roundRect">
            <a:avLst>
              <a:gd name="adj" fmla="val 3802"/>
            </a:avLst>
          </a:prstGeom>
          <a:solidFill>
            <a:srgbClr val="F0D9D8"/>
          </a:solidFill>
          <a:ln w="12700" cap="flat" cmpd="sng">
            <a:solidFill>
              <a:srgbClr val="E3B3B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insert anomaly occurs when </a:t>
            </a:r>
            <a:r>
              <a:rPr lang="en-US" sz="24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certain attributes cannot be inserted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into the database </a:t>
            </a:r>
            <a:r>
              <a:rPr lang="en-US" sz="24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without the presence of another attribute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graphicFrame>
        <p:nvGraphicFramePr>
          <p:cNvPr id="417" name="Google Shape;417;p32"/>
          <p:cNvGraphicFramePr/>
          <p:nvPr/>
        </p:nvGraphicFramePr>
        <p:xfrm>
          <a:off x="360994" y="2920434"/>
          <a:ext cx="4976600" cy="4114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8F8F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 b="0">
                          <a:solidFill>
                            <a:srgbClr val="8F8F8F"/>
                          </a:solidFill>
                        </a:rPr>
                        <a:t>NULL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8F8F8F"/>
                          </a:solidFill>
                        </a:rPr>
                        <a:t>NULL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8F8F8F"/>
                          </a:solidFill>
                        </a:rPr>
                        <a:t>NULL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IT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8F8F8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NULL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8" name="Google Shape;418;p32"/>
          <p:cNvSpPr/>
          <p:nvPr/>
        </p:nvSpPr>
        <p:spPr>
          <a:xfrm>
            <a:off x="5807976" y="2826044"/>
            <a:ext cx="3960000" cy="468000"/>
          </a:xfrm>
          <a:prstGeom prst="wedgeRoundRectCallout">
            <a:avLst>
              <a:gd name="adj1" fmla="val -63173"/>
              <a:gd name="adj2" fmla="val 4513"/>
              <a:gd name="adj3" fmla="val 16667"/>
            </a:avLst>
          </a:prstGeom>
          <a:solidFill>
            <a:srgbClr val="F0D9D8"/>
          </a:solidFill>
          <a:ln w="12700" cap="flat" cmpd="sng">
            <a:solidFill>
              <a:srgbClr val="D58E8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Want to insert new department detail (IT)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437193" y="2712093"/>
            <a:ext cx="536473" cy="821148"/>
          </a:xfrm>
          <a:prstGeom prst="mathMultiply">
            <a:avLst>
              <a:gd name="adj1" fmla="val 2352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360993" y="2909346"/>
            <a:ext cx="4976602" cy="418494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360994" y="2913420"/>
            <a:ext cx="688873" cy="418494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65113" lvl="0" indent="-2651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US" sz="2600"/>
              <a:t>Consider a relation Emp_Dept(EID, Ename, City, DID, Dname, Manager) EID as a primary key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65113" lvl="0" indent="-2651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US" sz="2600"/>
              <a:t>Now consider there is only one employee in some department (IT) and that employee leaves the organization.</a:t>
            </a:r>
            <a:endParaRPr/>
          </a:p>
          <a:p>
            <a:pPr marL="265113" lvl="0" indent="-2651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US" sz="2600"/>
              <a:t>So we need to delete tuple of that employee (Jay).</a:t>
            </a:r>
            <a:endParaRPr/>
          </a:p>
          <a:p>
            <a:pPr marL="265113" lvl="0" indent="-2651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US" sz="2600"/>
              <a:t>But in addition to that information about the department also deleted.</a:t>
            </a:r>
            <a:endParaRPr/>
          </a:p>
          <a:p>
            <a:pPr marL="265113" lvl="0" indent="-2651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US" sz="2600"/>
              <a:t>This kind of problem in the relation where deletion of some tuples can lead to loss of some other data not intended to be removed is known as delete anomaly.</a:t>
            </a:r>
            <a:endParaRPr sz="2600"/>
          </a:p>
        </p:txBody>
      </p:sp>
      <p:sp>
        <p:nvSpPr>
          <p:cNvPr id="426" name="Google Shape;426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Delete anomaly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428" name="Google Shape;428;p33"/>
          <p:cNvGraphicFramePr/>
          <p:nvPr/>
        </p:nvGraphicFramePr>
        <p:xfrm>
          <a:off x="543874" y="1720726"/>
          <a:ext cx="4885050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EID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City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Manager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9" name="Google Shape;429;p33"/>
          <p:cNvGraphicFramePr/>
          <p:nvPr/>
        </p:nvGraphicFramePr>
        <p:xfrm>
          <a:off x="543874" y="1357113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Emp_Dept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0" name="Google Shape;430;p33"/>
          <p:cNvSpPr/>
          <p:nvPr/>
        </p:nvSpPr>
        <p:spPr>
          <a:xfrm>
            <a:off x="5536497" y="1725792"/>
            <a:ext cx="6444000" cy="936000"/>
          </a:xfrm>
          <a:prstGeom prst="roundRect">
            <a:avLst>
              <a:gd name="adj" fmla="val 3802"/>
            </a:avLst>
          </a:prstGeom>
          <a:solidFill>
            <a:srgbClr val="F0D9D8"/>
          </a:solidFill>
          <a:ln w="12700" cap="flat" cmpd="sng">
            <a:solidFill>
              <a:srgbClr val="E3B3B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delete anomaly exists when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certain attributes are lost because of the deletion of another attribute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431" name="Google Shape;431;p33"/>
          <p:cNvGraphicFramePr/>
          <p:nvPr/>
        </p:nvGraphicFramePr>
        <p:xfrm>
          <a:off x="543873" y="2959364"/>
          <a:ext cx="4885050" cy="4114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Jay</a:t>
                      </a: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Baroda</a:t>
                      </a: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IT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Dave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2" name="Google Shape;432;p33"/>
          <p:cNvSpPr/>
          <p:nvPr/>
        </p:nvSpPr>
        <p:spPr>
          <a:xfrm>
            <a:off x="5648791" y="2814035"/>
            <a:ext cx="2514600" cy="609600"/>
          </a:xfrm>
          <a:prstGeom prst="wedgeRoundRectCallout">
            <a:avLst>
              <a:gd name="adj1" fmla="val -63698"/>
              <a:gd name="adj2" fmla="val 27505"/>
              <a:gd name="adj3" fmla="val 16667"/>
            </a:avLst>
          </a:prstGeom>
          <a:solidFill>
            <a:srgbClr val="F0D9D8"/>
          </a:solidFill>
          <a:ln w="12700" cap="flat" cmpd="sng">
            <a:solidFill>
              <a:srgbClr val="D58E8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Want to delete (Jay)   employee's detail</a:t>
            </a:r>
            <a:endParaRPr/>
          </a:p>
        </p:txBody>
      </p:sp>
      <p:sp>
        <p:nvSpPr>
          <p:cNvPr id="433" name="Google Shape;433;p33"/>
          <p:cNvSpPr/>
          <p:nvPr/>
        </p:nvSpPr>
        <p:spPr>
          <a:xfrm>
            <a:off x="532929" y="2955857"/>
            <a:ext cx="4896000" cy="418494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lvl="0" indent="-2651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sz="2400"/>
              <a:t>Consider a relation Emp_Dept(EID, Ename, City, Dname, Manager) EID as a primary key</a:t>
            </a:r>
            <a:endParaRPr/>
          </a:p>
          <a:p>
            <a:pPr marL="265113" lvl="0" indent="-1127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400"/>
          </a:p>
          <a:p>
            <a:pPr marL="265113" lvl="0" indent="-1127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400"/>
          </a:p>
          <a:p>
            <a:pPr marL="265113" lvl="0" indent="-1127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400"/>
          </a:p>
          <a:p>
            <a:pPr marL="265113" lvl="0" indent="-1127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400"/>
          </a:p>
          <a:p>
            <a:pPr marL="265113" lvl="0" indent="-1127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400"/>
          </a:p>
          <a:p>
            <a:pPr marL="265113" lvl="0" indent="-2651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US" sz="2600"/>
              <a:t>Suppose the manager of a (CE) department has changed, this requires that the Manager in all the tuples corresponding to that department must be changed to reflect the new status.</a:t>
            </a:r>
            <a:endParaRPr/>
          </a:p>
          <a:p>
            <a:pPr marL="265113" lvl="0" indent="-265113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US" sz="2600"/>
              <a:t>If we fail to update all the tuples of given department, then two different records of employee working in the same department might show different Manager lead to inconsistency in the database.</a:t>
            </a:r>
            <a:endParaRPr sz="2600"/>
          </a:p>
        </p:txBody>
      </p:sp>
      <p:sp>
        <p:nvSpPr>
          <p:cNvPr id="438" name="Google Shape;438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Update anomaly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440" name="Google Shape;440;p34"/>
          <p:cNvGraphicFramePr/>
          <p:nvPr/>
        </p:nvGraphicFramePr>
        <p:xfrm>
          <a:off x="543874" y="1720726"/>
          <a:ext cx="4586275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EID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City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Manager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Baroda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Computer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Shaah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Hari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Dave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41" name="Google Shape;441;p34"/>
          <p:cNvGraphicFramePr/>
          <p:nvPr/>
        </p:nvGraphicFramePr>
        <p:xfrm>
          <a:off x="543874" y="1357113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Emp_Dept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2" name="Google Shape;442;p34"/>
          <p:cNvSpPr/>
          <p:nvPr/>
        </p:nvSpPr>
        <p:spPr>
          <a:xfrm>
            <a:off x="5536497" y="1725792"/>
            <a:ext cx="6444000" cy="1224000"/>
          </a:xfrm>
          <a:prstGeom prst="roundRect">
            <a:avLst>
              <a:gd name="adj" fmla="val 3802"/>
            </a:avLst>
          </a:prstGeom>
          <a:solidFill>
            <a:srgbClr val="F0D9D8"/>
          </a:solidFill>
          <a:ln w="12700" cap="flat" cmpd="sng">
            <a:solidFill>
              <a:srgbClr val="E3B3B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update anomaly exists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when one or more records (instance) of duplicated data is updated, but not all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5536497" y="3150917"/>
            <a:ext cx="2514600" cy="609600"/>
          </a:xfrm>
          <a:prstGeom prst="wedgeRoundRectCallout">
            <a:avLst>
              <a:gd name="adj1" fmla="val -72167"/>
              <a:gd name="adj2" fmla="val -41375"/>
              <a:gd name="adj3" fmla="val 16667"/>
            </a:avLst>
          </a:prstGeom>
          <a:solidFill>
            <a:srgbClr val="F0D9D8"/>
          </a:solidFill>
          <a:ln w="12700" cap="flat" cmpd="sng">
            <a:solidFill>
              <a:srgbClr val="D58E8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Want to update manager of CE department</a:t>
            </a:r>
            <a:endParaRPr/>
          </a:p>
        </p:txBody>
      </p:sp>
      <p:sp>
        <p:nvSpPr>
          <p:cNvPr id="444" name="Google Shape;444;p34"/>
          <p:cNvSpPr/>
          <p:nvPr/>
        </p:nvSpPr>
        <p:spPr>
          <a:xfrm>
            <a:off x="543875" y="2130009"/>
            <a:ext cx="4586288" cy="1232505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5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449" name="Google Shape;449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How to deal with insert, delete and update anomaly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451" name="Google Shape;451;p35"/>
          <p:cNvGraphicFramePr/>
          <p:nvPr/>
        </p:nvGraphicFramePr>
        <p:xfrm>
          <a:off x="370453" y="1227057"/>
          <a:ext cx="5013650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72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EID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City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Manager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2" name="Google Shape;452;p35"/>
          <p:cNvGraphicFramePr/>
          <p:nvPr/>
        </p:nvGraphicFramePr>
        <p:xfrm>
          <a:off x="370453" y="863444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Emp_Dept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3" name="Google Shape;453;p35"/>
          <p:cNvGraphicFramePr/>
          <p:nvPr/>
        </p:nvGraphicFramePr>
        <p:xfrm>
          <a:off x="370453" y="2878024"/>
          <a:ext cx="5013650" cy="4114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72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F8F8F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 b="0">
                          <a:solidFill>
                            <a:srgbClr val="8F8F8F"/>
                          </a:solidFill>
                        </a:rPr>
                        <a:t>NULL</a:t>
                      </a: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8F8F8F"/>
                          </a:solidFill>
                        </a:rPr>
                        <a:t>NULL</a:t>
                      </a: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8F8F8F"/>
                          </a:solidFill>
                        </a:rPr>
                        <a:t>NULL</a:t>
                      </a: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EC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8F8F8F"/>
                          </a:solidFill>
                        </a:rPr>
                        <a:t>NULL</a:t>
                      </a: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4" name="Google Shape;454;p35"/>
          <p:cNvGraphicFramePr/>
          <p:nvPr/>
        </p:nvGraphicFramePr>
        <p:xfrm>
          <a:off x="6214205" y="1227057"/>
          <a:ext cx="2817500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EID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City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Meet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5" name="Google Shape;455;p35"/>
          <p:cNvGraphicFramePr/>
          <p:nvPr/>
        </p:nvGraphicFramePr>
        <p:xfrm>
          <a:off x="6214205" y="863444"/>
          <a:ext cx="63055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3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Emp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6" name="Google Shape;456;p35"/>
          <p:cNvGraphicFramePr/>
          <p:nvPr/>
        </p:nvGraphicFramePr>
        <p:xfrm>
          <a:off x="9384198" y="1227057"/>
          <a:ext cx="2455225" cy="82295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5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Manager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Shah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7" name="Google Shape;457;p35"/>
          <p:cNvGraphicFramePr/>
          <p:nvPr/>
        </p:nvGraphicFramePr>
        <p:xfrm>
          <a:off x="9385271" y="863444"/>
          <a:ext cx="65595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5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Dept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8" name="Google Shape;458;p35"/>
          <p:cNvCxnSpPr/>
          <p:nvPr/>
        </p:nvCxnSpPr>
        <p:spPr>
          <a:xfrm>
            <a:off x="5806765" y="721145"/>
            <a:ext cx="0" cy="2664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459" name="Google Shape;459;p35"/>
          <p:cNvGraphicFramePr/>
          <p:nvPr/>
        </p:nvGraphicFramePr>
        <p:xfrm>
          <a:off x="9384198" y="2464576"/>
          <a:ext cx="2455225" cy="4114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5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EC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8F8F8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NULL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0" name="Google Shape;460;p35"/>
          <p:cNvGraphicFramePr/>
          <p:nvPr/>
        </p:nvGraphicFramePr>
        <p:xfrm>
          <a:off x="370453" y="2461497"/>
          <a:ext cx="5013650" cy="4114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72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Baroda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Dave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1" name="Google Shape;461;p35"/>
          <p:cNvGraphicFramePr/>
          <p:nvPr/>
        </p:nvGraphicFramePr>
        <p:xfrm>
          <a:off x="9384198" y="2052205"/>
          <a:ext cx="2455225" cy="4114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5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IT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Dave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2" name="Google Shape;462;p35"/>
          <p:cNvSpPr/>
          <p:nvPr/>
        </p:nvSpPr>
        <p:spPr>
          <a:xfrm>
            <a:off x="517403" y="2670316"/>
            <a:ext cx="536473" cy="821148"/>
          </a:xfrm>
          <a:prstGeom prst="mathMultiply">
            <a:avLst>
              <a:gd name="adj1" fmla="val 23520"/>
            </a:avLst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370453" y="2459612"/>
            <a:ext cx="5013644" cy="418494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464" name="Google Shape;464;p35"/>
          <p:cNvGraphicFramePr/>
          <p:nvPr/>
        </p:nvGraphicFramePr>
        <p:xfrm>
          <a:off x="6214205" y="2459612"/>
          <a:ext cx="2817500" cy="4114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Baroda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5" name="Google Shape;465;p35"/>
          <p:cNvSpPr/>
          <p:nvPr/>
        </p:nvSpPr>
        <p:spPr>
          <a:xfrm>
            <a:off x="9384198" y="1634088"/>
            <a:ext cx="2455228" cy="418494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361514" y="3682195"/>
            <a:ext cx="11468973" cy="7200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1125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Such type of anomalies in the database design can be solved by using </a:t>
            </a:r>
            <a:r>
              <a:rPr lang="en-US" sz="26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normalization.</a:t>
            </a:r>
            <a:endParaRPr sz="2600" b="1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6"/>
          <p:cNvSpPr txBox="1">
            <a:spLocks noGrp="1"/>
          </p:cNvSpPr>
          <p:nvPr>
            <p:ph type="body" idx="1"/>
          </p:nvPr>
        </p:nvSpPr>
        <p:spPr>
          <a:xfrm>
            <a:off x="131179" y="1101942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Normalization is the </a:t>
            </a:r>
            <a:r>
              <a:rPr lang="en-US" b="1" dirty="0">
                <a:solidFill>
                  <a:schemeClr val="accent6"/>
                </a:solidFill>
              </a:rPr>
              <a:t>process of removing redundant data</a:t>
            </a:r>
            <a:r>
              <a:rPr lang="en-US" dirty="0"/>
              <a:t> from tables </a:t>
            </a:r>
            <a:r>
              <a:rPr lang="en-US" b="1" dirty="0">
                <a:solidFill>
                  <a:schemeClr val="accent6"/>
                </a:solidFill>
              </a:rPr>
              <a:t>to improve data integrity, scalability and storage efficiency</a:t>
            </a:r>
            <a:r>
              <a:rPr lang="en-US" dirty="0"/>
              <a:t>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data integrity (completeness, accuracy and consistency of data)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scalability (ability of a system to continue to function well in a growing amount of work)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storage efficiency (ability to store and manage data that consumes the least amount of space)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we do in normalization?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Normalization generally involves </a:t>
            </a:r>
            <a:r>
              <a:rPr lang="en-US" b="1" dirty="0">
                <a:solidFill>
                  <a:schemeClr val="accent6"/>
                </a:solidFill>
              </a:rPr>
              <a:t>splitting an existing table into multiple (more than one) tables</a:t>
            </a:r>
            <a:r>
              <a:rPr lang="en-US" dirty="0"/>
              <a:t>, which can be </a:t>
            </a:r>
            <a:r>
              <a:rPr lang="en-US" b="1" dirty="0">
                <a:solidFill>
                  <a:schemeClr val="accent6"/>
                </a:solidFill>
              </a:rPr>
              <a:t>re-joined or linked</a:t>
            </a:r>
            <a:r>
              <a:rPr lang="en-US" dirty="0"/>
              <a:t> each time a query is issued (executed).</a:t>
            </a:r>
            <a:endParaRPr dirty="0"/>
          </a:p>
        </p:txBody>
      </p:sp>
      <p:sp>
        <p:nvSpPr>
          <p:cNvPr id="471" name="Google Shape;471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What is normalization?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7"/>
          <p:cNvSpPr txBox="1">
            <a:spLocks noGrp="1"/>
          </p:cNvSpPr>
          <p:nvPr>
            <p:ph type="body" idx="1"/>
          </p:nvPr>
        </p:nvSpPr>
        <p:spPr>
          <a:xfrm>
            <a:off x="131180" y="1174528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Normal forms: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1NF (First normal form)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2NF (Second normal form)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3NF (Third normal form)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BCNF (Boyce–Codd normal form)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4NF (Forth normal form)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5NF (Fifth normal form)</a:t>
            </a:r>
            <a:endParaRPr dirty="0"/>
          </a:p>
        </p:txBody>
      </p:sp>
      <p:sp>
        <p:nvSpPr>
          <p:cNvPr id="477" name="Google Shape;477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How many normal forms are there?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361514" y="3993279"/>
            <a:ext cx="11468973" cy="14400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1125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we move from 1NF to 5NF </a:t>
            </a:r>
            <a:r>
              <a:rPr lang="en-US" sz="26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number of tables </a:t>
            </a:r>
            <a:r>
              <a:rPr lang="en-US" sz="2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</a:t>
            </a:r>
            <a:r>
              <a:rPr lang="en-US" sz="26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complexity increases </a:t>
            </a:r>
            <a:r>
              <a:rPr lang="en-US" sz="2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but </a:t>
            </a:r>
            <a:r>
              <a:rPr lang="en-US" sz="26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redundancy decreases</a:t>
            </a:r>
            <a:r>
              <a:rPr lang="en-US" sz="2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600" b="1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8"/>
          <p:cNvSpPr txBox="1">
            <a:spLocks noGrp="1"/>
          </p:cNvSpPr>
          <p:nvPr>
            <p:ph type="body" idx="1"/>
          </p:nvPr>
        </p:nvSpPr>
        <p:spPr>
          <a:xfrm>
            <a:off x="131180" y="1108541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Conditions for 1NF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relation R is in first normal form (1NF) if and only if it </a:t>
            </a:r>
            <a:r>
              <a:rPr lang="en-US" b="1" dirty="0">
                <a:solidFill>
                  <a:schemeClr val="accent6"/>
                </a:solidFill>
              </a:rPr>
              <a:t>does not contain any composite attribute or multi-valued attributes or their combinations</a:t>
            </a:r>
            <a:r>
              <a:rPr lang="en-US" dirty="0"/>
              <a:t>.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OR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relation R is in first normal form (1NF) if and only if </a:t>
            </a:r>
            <a:r>
              <a:rPr lang="en-US" b="1" dirty="0">
                <a:solidFill>
                  <a:schemeClr val="accent6"/>
                </a:solidFill>
              </a:rPr>
              <a:t>all underlying domains contain atomic values only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84" name="Google Shape;484;p38"/>
          <p:cNvSpPr txBox="1">
            <a:spLocks noGrp="1"/>
          </p:cNvSpPr>
          <p:nvPr>
            <p:ph type="title"/>
          </p:nvPr>
        </p:nvSpPr>
        <p:spPr>
          <a:xfrm>
            <a:off x="131179" y="81239"/>
            <a:ext cx="8993079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1NF (First Normal Form)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503405" y="1587762"/>
            <a:ext cx="6948000" cy="7200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1125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Each </a:t>
            </a:r>
            <a:r>
              <a:rPr lang="en-US" sz="26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cells of a table should contain a single value</a:t>
            </a:r>
            <a:r>
              <a:rPr lang="en-US" sz="2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600" b="1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b="1" dirty="0"/>
              <a:t>Problem</a:t>
            </a:r>
            <a:r>
              <a:rPr lang="en-US" dirty="0"/>
              <a:t>: It is </a:t>
            </a:r>
            <a:r>
              <a:rPr lang="en-US" b="1" dirty="0">
                <a:solidFill>
                  <a:schemeClr val="accent6"/>
                </a:solidFill>
              </a:rPr>
              <a:t>difficult to retrieve the list of customers living in ’Jamnagar’ city </a:t>
            </a:r>
            <a:r>
              <a:rPr lang="en-US" dirty="0"/>
              <a:t>from customer table.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The reason is that </a:t>
            </a:r>
            <a:r>
              <a:rPr lang="en-US" b="1" dirty="0">
                <a:solidFill>
                  <a:schemeClr val="accent6"/>
                </a:solidFill>
              </a:rPr>
              <a:t>address attribute is composite attribute</a:t>
            </a:r>
            <a:r>
              <a:rPr lang="en-US" dirty="0"/>
              <a:t> which </a:t>
            </a:r>
            <a:r>
              <a:rPr lang="en-US" b="1" dirty="0">
                <a:solidFill>
                  <a:schemeClr val="accent6"/>
                </a:solidFill>
              </a:rPr>
              <a:t>contains road name as well as city name in single cell</a:t>
            </a:r>
            <a:r>
              <a:rPr lang="en-US" dirty="0"/>
              <a:t>.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It is possible that </a:t>
            </a:r>
            <a:r>
              <a:rPr lang="en-US" b="1" dirty="0">
                <a:solidFill>
                  <a:schemeClr val="accent6"/>
                </a:solidFill>
              </a:rPr>
              <a:t>city name word is also there in road name</a:t>
            </a:r>
            <a:r>
              <a:rPr lang="en-US" dirty="0"/>
              <a:t>.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In our example, ’Jamnagar’ word occurs in both records, in first record it is a part of road name and in second one it is the name of city.</a:t>
            </a:r>
            <a:endParaRPr dirty="0"/>
          </a:p>
        </p:txBody>
      </p:sp>
      <p:sp>
        <p:nvSpPr>
          <p:cNvPr id="493" name="Google Shape;493;p39"/>
          <p:cNvSpPr txBox="1">
            <a:spLocks noGrp="1"/>
          </p:cNvSpPr>
          <p:nvPr>
            <p:ph type="title"/>
          </p:nvPr>
        </p:nvSpPr>
        <p:spPr>
          <a:xfrm>
            <a:off x="62144" y="0"/>
            <a:ext cx="8993079" cy="865116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1NF (First Normal Form)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[Example - Composite attribute]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494" name="Google Shape;494;p39"/>
          <p:cNvGraphicFramePr/>
          <p:nvPr/>
        </p:nvGraphicFramePr>
        <p:xfrm>
          <a:off x="544302" y="1338739"/>
          <a:ext cx="3761750" cy="164590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CID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Address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Jamnagar Road, 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Nehru Road, Jamnagar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C.G Road, Ahmedabad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95" name="Google Shape;495;p39"/>
          <p:cNvGraphicFramePr/>
          <p:nvPr/>
        </p:nvGraphicFramePr>
        <p:xfrm>
          <a:off x="543123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7" name="Google Shape;497;p39"/>
          <p:cNvSpPr/>
          <p:nvPr/>
        </p:nvSpPr>
        <p:spPr>
          <a:xfrm>
            <a:off x="4528375" y="1544659"/>
            <a:ext cx="7532445" cy="1440000"/>
          </a:xfrm>
          <a:prstGeom prst="roundRect">
            <a:avLst>
              <a:gd name="adj" fmla="val 135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customer relation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address is composite attribute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which is further divided into sub-attributes as “Road” and “City”.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 customer relation is not in 1NF.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0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Solution</a:t>
            </a:r>
            <a:r>
              <a:rPr lang="en-US"/>
              <a:t>: </a:t>
            </a:r>
            <a:r>
              <a:rPr lang="en-US" b="1">
                <a:solidFill>
                  <a:schemeClr val="accent6"/>
                </a:solidFill>
              </a:rPr>
              <a:t>Divide composite attributes </a:t>
            </a:r>
            <a:r>
              <a:rPr lang="en-US"/>
              <a:t>into </a:t>
            </a:r>
            <a:r>
              <a:rPr lang="en-US" b="1">
                <a:solidFill>
                  <a:schemeClr val="accent6"/>
                </a:solidFill>
              </a:rPr>
              <a:t>number of sub-attributes </a:t>
            </a:r>
            <a:r>
              <a:rPr lang="en-US"/>
              <a:t>and insert value in proper sub-attribute. </a:t>
            </a:r>
            <a:endParaRPr/>
          </a:p>
        </p:txBody>
      </p:sp>
      <p:sp>
        <p:nvSpPr>
          <p:cNvPr id="503" name="Google Shape;503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1NF (First Normal Form) </a:t>
            </a:r>
            <a:r>
              <a:rPr lang="en-US" sz="2800" dirty="0">
                <a:solidFill>
                  <a:srgbClr val="0070C0"/>
                </a:solidFill>
              </a:rPr>
              <a:t>[Example - Composite attribute]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505" name="Google Shape;505;p40"/>
          <p:cNvGraphicFramePr/>
          <p:nvPr/>
        </p:nvGraphicFramePr>
        <p:xfrm>
          <a:off x="544302" y="1338739"/>
          <a:ext cx="3761750" cy="164590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CID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Address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Jamnagar Road, 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Nehru Road, Jamnagar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C.G Road, Ahmedabad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06" name="Google Shape;506;p40"/>
          <p:cNvGraphicFramePr/>
          <p:nvPr/>
        </p:nvGraphicFramePr>
        <p:xfrm>
          <a:off x="543123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8" name="Google Shape;508;p40"/>
          <p:cNvSpPr/>
          <p:nvPr/>
        </p:nvSpPr>
        <p:spPr>
          <a:xfrm>
            <a:off x="4555958" y="1943138"/>
            <a:ext cx="753979" cy="43712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509" name="Google Shape;509;p40"/>
          <p:cNvGraphicFramePr/>
          <p:nvPr/>
        </p:nvGraphicFramePr>
        <p:xfrm>
          <a:off x="5511751" y="1338739"/>
          <a:ext cx="4405000" cy="164590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CID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Road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City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Jamnagar Road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Nehru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Jamnagar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C.G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Ahmedabad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10" name="Google Shape;510;p40"/>
          <p:cNvGraphicFramePr/>
          <p:nvPr/>
        </p:nvGraphicFramePr>
        <p:xfrm>
          <a:off x="5510572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1" name="Google Shape;511;p40"/>
          <p:cNvCxnSpPr/>
          <p:nvPr/>
        </p:nvCxnSpPr>
        <p:spPr>
          <a:xfrm>
            <a:off x="543123" y="4943550"/>
            <a:ext cx="6372000" cy="7823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512" name="Google Shape;512;p40"/>
          <p:cNvGraphicFramePr/>
          <p:nvPr/>
        </p:nvGraphicFramePr>
        <p:xfrm>
          <a:off x="543123" y="4555565"/>
          <a:ext cx="1100450" cy="39625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chemeClr val="lt1"/>
                          </a:solidFill>
                        </a:rPr>
                        <a:t>Exercise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3" name="Google Shape;513;p40"/>
          <p:cNvGraphicFramePr/>
          <p:nvPr/>
        </p:nvGraphicFramePr>
        <p:xfrm>
          <a:off x="1642052" y="4546677"/>
          <a:ext cx="5429575" cy="39625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Roboto Condensed"/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Convert below relation into 1NF (First Normal Form)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4" name="Google Shape;514;p40"/>
          <p:cNvGraphicFramePr/>
          <p:nvPr/>
        </p:nvGraphicFramePr>
        <p:xfrm>
          <a:off x="531013" y="5546846"/>
          <a:ext cx="3690300" cy="82295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PID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Full_Name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City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 Maheshbhai Patel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5" name="Google Shape;515;p40"/>
          <p:cNvGraphicFramePr/>
          <p:nvPr/>
        </p:nvGraphicFramePr>
        <p:xfrm>
          <a:off x="529834" y="5180017"/>
          <a:ext cx="8813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8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Person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b="1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b="1"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 b="1"/>
              <a:t>Problem</a:t>
            </a:r>
            <a:r>
              <a:rPr lang="en-US"/>
              <a:t>: It is difficult to retrieve the </a:t>
            </a:r>
            <a:r>
              <a:rPr lang="en-US" b="1">
                <a:solidFill>
                  <a:schemeClr val="accent6"/>
                </a:solidFill>
              </a:rPr>
              <a:t>list of students failed in ’DBMS’ as well as ’DS’ but not in other subjects</a:t>
            </a:r>
            <a:r>
              <a:rPr lang="en-US"/>
              <a:t> from student table.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The reason is that FailedinSubjects attribute is multi-valued attribute so it contains more than one value.</a:t>
            </a:r>
            <a:endParaRPr/>
          </a:p>
        </p:txBody>
      </p:sp>
      <p:sp>
        <p:nvSpPr>
          <p:cNvPr id="521" name="Google Shape;521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1NF (First Normal Form) </a:t>
            </a:r>
            <a:r>
              <a:rPr lang="en-US" sz="2700" dirty="0">
                <a:solidFill>
                  <a:srgbClr val="0070C0"/>
                </a:solidFill>
              </a:rPr>
              <a:t>[Example - Multivalued attribute]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522" name="Google Shape;522;p41"/>
          <p:cNvGraphicFramePr/>
          <p:nvPr/>
        </p:nvGraphicFramePr>
        <p:xfrm>
          <a:off x="544302" y="1338739"/>
          <a:ext cx="3761750" cy="28803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Rno</a:t>
                      </a:r>
                      <a:endParaRPr sz="1800" b="1" u="sng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FailedinSubjects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DS, DBMs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DBMS, DS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DS, DBMS, DE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Jeet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DBMS, DE, DS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105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Harsh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DE, DBMS, DS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106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Neel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DE, DBMS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23" name="Google Shape;523;p41"/>
          <p:cNvGraphicFramePr/>
          <p:nvPr/>
        </p:nvGraphicFramePr>
        <p:xfrm>
          <a:off x="543123" y="971910"/>
          <a:ext cx="9464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4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Student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5" name="Google Shape;525;p41"/>
          <p:cNvSpPr/>
          <p:nvPr/>
        </p:nvSpPr>
        <p:spPr>
          <a:xfrm>
            <a:off x="4528375" y="1544659"/>
            <a:ext cx="7532445" cy="1440000"/>
          </a:xfrm>
          <a:prstGeom prst="roundRect">
            <a:avLst>
              <a:gd name="adj" fmla="val 135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student relation </a:t>
            </a:r>
            <a:r>
              <a:rPr lang="en-US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FailedinSubjects attribute is a multi-valued attribute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which can store more than one values.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 above relation is not in 1NF.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2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Solution</a:t>
            </a:r>
            <a:r>
              <a:rPr lang="en-US"/>
              <a:t>: Split the table into two tables in such as way that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first table contains all attributes except multi-valued attribute </a:t>
            </a:r>
            <a:r>
              <a:rPr lang="en-US"/>
              <a:t>with same primary key and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</a:pPr>
            <a:r>
              <a:rPr lang="en-US" b="1">
                <a:solidFill>
                  <a:schemeClr val="accent6"/>
                </a:solidFill>
              </a:rPr>
              <a:t>second table contains multi-valued attribute </a:t>
            </a:r>
            <a:r>
              <a:rPr lang="en-US"/>
              <a:t>and </a:t>
            </a:r>
            <a:r>
              <a:rPr lang="en-US" b="1">
                <a:solidFill>
                  <a:schemeClr val="accent6"/>
                </a:solidFill>
              </a:rPr>
              <a:t>place a primary key </a:t>
            </a:r>
            <a:r>
              <a:rPr lang="en-US"/>
              <a:t>in it.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</a:pPr>
            <a:r>
              <a:rPr lang="en-US" b="1">
                <a:solidFill>
                  <a:schemeClr val="accent6"/>
                </a:solidFill>
              </a:rPr>
              <a:t>insert the primary key of first table in the second table as a foreign key</a:t>
            </a:r>
            <a:r>
              <a:rPr lang="en-US"/>
              <a:t>.</a:t>
            </a:r>
            <a:endParaRPr/>
          </a:p>
        </p:txBody>
      </p:sp>
      <p:sp>
        <p:nvSpPr>
          <p:cNvPr id="531" name="Google Shape;531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1NF (First Normal Form) </a:t>
            </a:r>
            <a:r>
              <a:rPr lang="en-US" sz="2700" dirty="0">
                <a:solidFill>
                  <a:srgbClr val="0070C0"/>
                </a:solidFill>
              </a:rPr>
              <a:t>[Example - Multivalued attribute]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533" name="Google Shape;533;p42"/>
          <p:cNvGraphicFramePr/>
          <p:nvPr/>
        </p:nvGraphicFramePr>
        <p:xfrm>
          <a:off x="544302" y="1338739"/>
          <a:ext cx="3761750" cy="28803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Rno</a:t>
                      </a:r>
                      <a:endParaRPr sz="1800" b="1" u="sng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FailedinSubjects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DS, DBMs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DBMS, DS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DS, DBMS, DE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Jeet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DBMS, DE, DS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105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Harsh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DE, DBMS, DS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106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Neel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DE, DBMS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Google Shape;534;p42"/>
          <p:cNvGraphicFramePr/>
          <p:nvPr/>
        </p:nvGraphicFramePr>
        <p:xfrm>
          <a:off x="543123" y="971910"/>
          <a:ext cx="9464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4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Student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6" name="Google Shape;536;p42"/>
          <p:cNvSpPr/>
          <p:nvPr/>
        </p:nvSpPr>
        <p:spPr>
          <a:xfrm>
            <a:off x="4554598" y="2577101"/>
            <a:ext cx="753979" cy="43712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537" name="Google Shape;537;p42"/>
          <p:cNvGraphicFramePr/>
          <p:nvPr/>
        </p:nvGraphicFramePr>
        <p:xfrm>
          <a:off x="5559852" y="1372370"/>
          <a:ext cx="1448450" cy="28803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Rno</a:t>
                      </a:r>
                      <a:endParaRPr sz="1800" b="1" u="sng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Jeet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105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Harsh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106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Neel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8" name="Google Shape;538;p42"/>
          <p:cNvGraphicFramePr/>
          <p:nvPr/>
        </p:nvGraphicFramePr>
        <p:xfrm>
          <a:off x="5558673" y="1005541"/>
          <a:ext cx="9464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4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Student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9" name="Google Shape;539;p42"/>
          <p:cNvGraphicFramePr/>
          <p:nvPr/>
        </p:nvGraphicFramePr>
        <p:xfrm>
          <a:off x="7653094" y="1372370"/>
          <a:ext cx="2066300" cy="28803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RID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Rno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DBMS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DBMS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40" name="Google Shape;540;p42"/>
          <p:cNvGraphicFramePr/>
          <p:nvPr/>
        </p:nvGraphicFramePr>
        <p:xfrm>
          <a:off x="7651915" y="1005541"/>
          <a:ext cx="946475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94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Result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1NF (First Normal Form) </a:t>
            </a:r>
            <a:r>
              <a:rPr lang="en-US" sz="3600" dirty="0">
                <a:solidFill>
                  <a:srgbClr val="0070C0"/>
                </a:solidFill>
              </a:rPr>
              <a:t>[Example]</a:t>
            </a:r>
            <a:endParaRPr sz="3400" dirty="0">
              <a:solidFill>
                <a:srgbClr val="0070C0"/>
              </a:solidFill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328761" y="951720"/>
            <a:ext cx="796629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Convert below relation in 1 NF</a:t>
            </a:r>
            <a:endParaRPr sz="1800" b="1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aphicFrame>
        <p:nvGraphicFramePr>
          <p:cNvPr id="547" name="Google Shape;547;p43"/>
          <p:cNvGraphicFramePr/>
          <p:nvPr/>
        </p:nvGraphicFramePr>
        <p:xfrm>
          <a:off x="4418791" y="2431122"/>
          <a:ext cx="3627475" cy="2377500"/>
        </p:xfrm>
        <a:graphic>
          <a:graphicData uri="http://schemas.openxmlformats.org/drawingml/2006/table">
            <a:tbl>
              <a:tblPr firstRow="1" bandRow="1">
                <a:noFill/>
                <a:tableStyleId>{ADD9269F-9A89-4867-B555-6547D0BA0393}</a:tableStyleId>
              </a:tblPr>
              <a:tblGrid>
                <a:gridCol w="101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Roll_No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Failed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Priya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PPS, EEE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Pranav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EME,PPS,EG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Romil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PPS,EG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Akshar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EG,EME,EEE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Nirali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EG,PPS,EME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8" name="Google Shape;548;p43"/>
          <p:cNvSpPr txBox="1"/>
          <p:nvPr/>
        </p:nvSpPr>
        <p:spPr>
          <a:xfrm>
            <a:off x="4428744" y="2019691"/>
            <a:ext cx="1524000" cy="40011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2F2F2"/>
                </a:solidFill>
                <a:latin typeface="Cambria Math"/>
                <a:ea typeface="Cambria Math"/>
                <a:cs typeface="Cambria Math"/>
                <a:sym typeface="Cambria Math"/>
              </a:rPr>
              <a:t>Student</a:t>
            </a:r>
            <a:endParaRPr/>
          </a:p>
        </p:txBody>
      </p:sp>
      <p:sp>
        <p:nvSpPr>
          <p:cNvPr id="549" name="Google Shape;549;p43"/>
          <p:cNvSpPr/>
          <p:nvPr/>
        </p:nvSpPr>
        <p:spPr>
          <a:xfrm>
            <a:off x="8102725" y="2935663"/>
            <a:ext cx="384654" cy="1872899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50" name="Google Shape;550;p43"/>
          <p:cNvSpPr txBox="1"/>
          <p:nvPr/>
        </p:nvSpPr>
        <p:spPr>
          <a:xfrm>
            <a:off x="8728137" y="3434558"/>
            <a:ext cx="18754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Multi-Valued Attribute</a:t>
            </a:r>
            <a:endParaRPr/>
          </a:p>
        </p:txBody>
      </p:sp>
      <p:sp>
        <p:nvSpPr>
          <p:cNvPr id="551" name="Google Shape;551;p43"/>
          <p:cNvSpPr/>
          <p:nvPr/>
        </p:nvSpPr>
        <p:spPr>
          <a:xfrm>
            <a:off x="162755" y="5013514"/>
            <a:ext cx="10762748" cy="907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As above relation contains Multi-Valued attribute, it is not in 1NF</a:t>
            </a:r>
            <a:endParaRPr/>
          </a:p>
          <a:p>
            <a:pPr marL="342900" marR="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 Symbols"/>
              <a:buNone/>
            </a:pPr>
            <a:endParaRPr sz="500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It is quite difficult to find out the students who failed in either PPS and EEE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2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The solution to this is to split the table into two tables as following:</a:t>
            </a:r>
            <a:endParaRPr/>
          </a:p>
          <a:p>
            <a:pPr marL="800100" lvl="1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Font typeface="Noto Sans Symbols"/>
              <a:buChar char="✔"/>
            </a:pPr>
            <a:r>
              <a:rPr lang="en-US" sz="22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One table contains all attributes other than Multi-Valued attributes along with Primary Key attribute</a:t>
            </a:r>
            <a:endParaRPr/>
          </a:p>
          <a:p>
            <a:pPr marL="800100" lvl="1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Font typeface="Noto Sans Symbols"/>
              <a:buChar char="✔"/>
            </a:pPr>
            <a:r>
              <a:rPr lang="en-US" sz="22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Second table contains multi-valued attribute along with primary key attribute used as Foreign Key.</a:t>
            </a:r>
            <a:endParaRPr/>
          </a:p>
          <a:p>
            <a:pPr marL="800100" lvl="1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Font typeface="Noto Sans Symbols"/>
              <a:buChar char="✔"/>
            </a:pPr>
            <a:r>
              <a:rPr lang="en-US" sz="2200" b="1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In this table, Roll_No is a primary key attribute.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557" name="Google Shape;557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1NF (First Normal Form) </a:t>
            </a:r>
            <a:r>
              <a:rPr lang="en-US" sz="3600" dirty="0">
                <a:solidFill>
                  <a:srgbClr val="0070C0"/>
                </a:solidFill>
              </a:rPr>
              <a:t>[Example]</a:t>
            </a:r>
            <a:endParaRPr sz="3400" dirty="0">
              <a:solidFill>
                <a:srgbClr val="0070C0"/>
              </a:solidFill>
            </a:endParaRPr>
          </a:p>
        </p:txBody>
      </p:sp>
      <p:graphicFrame>
        <p:nvGraphicFramePr>
          <p:cNvPr id="558" name="Google Shape;558;p44"/>
          <p:cNvGraphicFramePr/>
          <p:nvPr/>
        </p:nvGraphicFramePr>
        <p:xfrm>
          <a:off x="4160738" y="3712036"/>
          <a:ext cx="2266350" cy="2773650"/>
        </p:xfrm>
        <a:graphic>
          <a:graphicData uri="http://schemas.openxmlformats.org/drawingml/2006/table">
            <a:tbl>
              <a:tblPr firstRow="1" bandRow="1">
                <a:noFill/>
                <a:tableStyleId>{ADD9269F-9A89-4867-B555-6547D0BA0393}</a:tableStyleId>
              </a:tblPr>
              <a:tblGrid>
                <a:gridCol w="113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Roll_No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Name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Priya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Pranav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Romil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Akshar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Nirali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9" name="Google Shape;559;p44"/>
          <p:cNvSpPr txBox="1"/>
          <p:nvPr/>
        </p:nvSpPr>
        <p:spPr>
          <a:xfrm>
            <a:off x="4160739" y="3207815"/>
            <a:ext cx="1524000" cy="40011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2F2F2"/>
                </a:solidFill>
                <a:latin typeface="Cambria Math"/>
                <a:ea typeface="Cambria Math"/>
                <a:cs typeface="Cambria Math"/>
                <a:sym typeface="Cambria Math"/>
              </a:rPr>
              <a:t>Student</a:t>
            </a:r>
            <a:endParaRPr/>
          </a:p>
        </p:txBody>
      </p:sp>
      <p:graphicFrame>
        <p:nvGraphicFramePr>
          <p:cNvPr id="560" name="Google Shape;560;p44"/>
          <p:cNvGraphicFramePr/>
          <p:nvPr/>
        </p:nvGraphicFramePr>
        <p:xfrm>
          <a:off x="7132801" y="3712036"/>
          <a:ext cx="2813625" cy="2773750"/>
        </p:xfrm>
        <a:graphic>
          <a:graphicData uri="http://schemas.openxmlformats.org/drawingml/2006/table">
            <a:tbl>
              <a:tblPr firstRow="1" bandRow="1">
                <a:noFill/>
                <a:tableStyleId>{ADD9269F-9A89-4867-B555-6547D0BA0393}</a:tableStyleId>
              </a:tblPr>
              <a:tblGrid>
                <a:gridCol w="7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R_Id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Roll_No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Failed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PPS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EEE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EME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PPS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EG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…….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…….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………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1" name="Google Shape;561;p44"/>
          <p:cNvSpPr txBox="1"/>
          <p:nvPr/>
        </p:nvSpPr>
        <p:spPr>
          <a:xfrm>
            <a:off x="7132801" y="3207815"/>
            <a:ext cx="1524000" cy="40011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2F2F2"/>
                </a:solidFill>
                <a:latin typeface="Cambria Math"/>
                <a:ea typeface="Cambria Math"/>
                <a:cs typeface="Cambria Math"/>
                <a:sym typeface="Cambria Math"/>
              </a:rPr>
              <a:t>Result</a:t>
            </a:r>
            <a:endParaRPr/>
          </a:p>
        </p:txBody>
      </p:sp>
      <p:sp>
        <p:nvSpPr>
          <p:cNvPr id="562" name="Google Shape;562;p44"/>
          <p:cNvSpPr/>
          <p:nvPr/>
        </p:nvSpPr>
        <p:spPr>
          <a:xfrm>
            <a:off x="9869763" y="3270879"/>
            <a:ext cx="384654" cy="3277901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63" name="Google Shape;563;p44"/>
          <p:cNvSpPr txBox="1"/>
          <p:nvPr/>
        </p:nvSpPr>
        <p:spPr>
          <a:xfrm>
            <a:off x="10585504" y="4452545"/>
            <a:ext cx="145367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Splitting a Table into 2 Tables</a:t>
            </a:r>
            <a:endParaRPr/>
          </a:p>
        </p:txBody>
      </p:sp>
      <p:cxnSp>
        <p:nvCxnSpPr>
          <p:cNvPr id="564" name="Google Shape;564;p44"/>
          <p:cNvCxnSpPr/>
          <p:nvPr/>
        </p:nvCxnSpPr>
        <p:spPr>
          <a:xfrm rot="10800000">
            <a:off x="8805783" y="2982532"/>
            <a:ext cx="0" cy="7295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5" name="Google Shape;565;p44"/>
          <p:cNvCxnSpPr/>
          <p:nvPr/>
        </p:nvCxnSpPr>
        <p:spPr>
          <a:xfrm>
            <a:off x="3856069" y="2982532"/>
            <a:ext cx="494971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6" name="Google Shape;566;p44"/>
          <p:cNvCxnSpPr/>
          <p:nvPr/>
        </p:nvCxnSpPr>
        <p:spPr>
          <a:xfrm rot="10800000">
            <a:off x="3856069" y="2982532"/>
            <a:ext cx="0" cy="9770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7" name="Google Shape;567;p44"/>
          <p:cNvCxnSpPr/>
          <p:nvPr/>
        </p:nvCxnSpPr>
        <p:spPr>
          <a:xfrm>
            <a:off x="3856069" y="3969016"/>
            <a:ext cx="30466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68" name="Google Shape;568;p44"/>
          <p:cNvCxnSpPr/>
          <p:nvPr/>
        </p:nvCxnSpPr>
        <p:spPr>
          <a:xfrm flipH="1">
            <a:off x="8950263" y="3112748"/>
            <a:ext cx="378001" cy="566535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69" name="Google Shape;569;p44"/>
          <p:cNvSpPr/>
          <p:nvPr/>
        </p:nvSpPr>
        <p:spPr>
          <a:xfrm>
            <a:off x="9291557" y="2893683"/>
            <a:ext cx="14536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Foreign Key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70" name="Google Shape;570;p44"/>
          <p:cNvCxnSpPr/>
          <p:nvPr/>
        </p:nvCxnSpPr>
        <p:spPr>
          <a:xfrm>
            <a:off x="6713801" y="3544374"/>
            <a:ext cx="361279" cy="335323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71" name="Google Shape;571;p44"/>
          <p:cNvSpPr/>
          <p:nvPr/>
        </p:nvSpPr>
        <p:spPr>
          <a:xfrm>
            <a:off x="5708435" y="3199951"/>
            <a:ext cx="14536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Primary Key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5"/>
          <p:cNvSpPr txBox="1">
            <a:spLocks noGrp="1"/>
          </p:cNvSpPr>
          <p:nvPr>
            <p:ph type="body" idx="1"/>
          </p:nvPr>
        </p:nvSpPr>
        <p:spPr>
          <a:xfrm>
            <a:off x="131180" y="1108543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Conditions for 2NF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relation R is in second normal form (2NF)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if and only if it is in </a:t>
            </a:r>
            <a:r>
              <a:rPr lang="en-US" b="1" dirty="0">
                <a:solidFill>
                  <a:schemeClr val="accent6"/>
                </a:solidFill>
              </a:rPr>
              <a:t>1NF</a:t>
            </a:r>
            <a:r>
              <a:rPr lang="en-US" dirty="0"/>
              <a:t> and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every non-primary key attribute is fully dependent on the primary key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OR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relation R is in second normal form (2NF)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if and only if it is in </a:t>
            </a:r>
            <a:r>
              <a:rPr lang="en-US" b="1" dirty="0">
                <a:solidFill>
                  <a:schemeClr val="accent6"/>
                </a:solidFill>
              </a:rPr>
              <a:t>1NF</a:t>
            </a:r>
            <a:r>
              <a:rPr lang="en-US" dirty="0"/>
              <a:t> and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no any non-primary key attribute is partially dependent on the primary key</a:t>
            </a:r>
            <a:endParaRPr dirty="0"/>
          </a:p>
        </p:txBody>
      </p:sp>
      <p:sp>
        <p:nvSpPr>
          <p:cNvPr id="576" name="Google Shape;576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2NF (Second Normal Form)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578" name="Google Shape;578;p45"/>
          <p:cNvSpPr/>
          <p:nvPr/>
        </p:nvSpPr>
        <p:spPr>
          <a:xfrm>
            <a:off x="503405" y="1587764"/>
            <a:ext cx="9180000" cy="7200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1125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</a:t>
            </a:r>
            <a:r>
              <a:rPr lang="en-US" sz="28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1NF 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each </a:t>
            </a:r>
            <a:r>
              <a:rPr lang="en-US" sz="28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table should contain a single primary key</a:t>
            </a:r>
            <a:r>
              <a:rPr lang="en-US" sz="26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600" b="1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6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FD1</a:t>
            </a:r>
            <a:r>
              <a:rPr lang="en-US"/>
              <a:t>: {CID, ANO}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/>
              <a:t> {AccesssDate, Balance, BranchName}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FD2</a:t>
            </a:r>
            <a:r>
              <a:rPr lang="en-US"/>
              <a:t>: ANO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/>
              <a:t> {Balance, BranchName}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 b="1">
                <a:solidFill>
                  <a:schemeClr val="accent6"/>
                </a:solidFill>
              </a:rPr>
              <a:t>Balance and BranchName are partial dependent on primary key (CID + ANO)</a:t>
            </a:r>
            <a:r>
              <a:rPr lang="en-US"/>
              <a:t>. So customer relation is not in 2NF.</a:t>
            </a:r>
            <a:endParaRPr/>
          </a:p>
        </p:txBody>
      </p:sp>
      <p:sp>
        <p:nvSpPr>
          <p:cNvPr id="584" name="Google Shape;584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2NF (Second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586" name="Google Shape;586;p46"/>
          <p:cNvGraphicFramePr/>
          <p:nvPr/>
        </p:nvGraphicFramePr>
        <p:xfrm>
          <a:off x="280527" y="1338739"/>
          <a:ext cx="5232400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CID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AccessDate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Balance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01-01-2017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01-03-2017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01-05-2017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01-07-2017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87" name="Google Shape;587;p46"/>
          <p:cNvGraphicFramePr/>
          <p:nvPr/>
        </p:nvGraphicFramePr>
        <p:xfrm>
          <a:off x="279348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0" name="Google Shape;590;p46"/>
          <p:cNvSpPr txBox="1"/>
          <p:nvPr/>
        </p:nvSpPr>
        <p:spPr>
          <a:xfrm>
            <a:off x="6553716" y="1933873"/>
            <a:ext cx="756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ANO</a:t>
            </a:r>
            <a:endParaRPr/>
          </a:p>
        </p:txBody>
      </p:sp>
      <p:sp>
        <p:nvSpPr>
          <p:cNvPr id="591" name="Google Shape;591;p46"/>
          <p:cNvSpPr txBox="1"/>
          <p:nvPr/>
        </p:nvSpPr>
        <p:spPr>
          <a:xfrm>
            <a:off x="7310836" y="1933873"/>
            <a:ext cx="1764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AccesssDate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2" name="Google Shape;592;p46"/>
          <p:cNvSpPr txBox="1"/>
          <p:nvPr/>
        </p:nvSpPr>
        <p:spPr>
          <a:xfrm>
            <a:off x="9074966" y="1933873"/>
            <a:ext cx="1152000" cy="46166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Balance</a:t>
            </a:r>
            <a:endParaRPr/>
          </a:p>
        </p:txBody>
      </p:sp>
      <p:cxnSp>
        <p:nvCxnSpPr>
          <p:cNvPr id="593" name="Google Shape;593;p46"/>
          <p:cNvCxnSpPr/>
          <p:nvPr/>
        </p:nvCxnSpPr>
        <p:spPr>
          <a:xfrm>
            <a:off x="6931716" y="2394673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4" name="Google Shape;594;p46"/>
          <p:cNvCxnSpPr/>
          <p:nvPr/>
        </p:nvCxnSpPr>
        <p:spPr>
          <a:xfrm rot="10800000">
            <a:off x="8192836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5" name="Google Shape;595;p46"/>
          <p:cNvCxnSpPr/>
          <p:nvPr/>
        </p:nvCxnSpPr>
        <p:spPr>
          <a:xfrm rot="10800000">
            <a:off x="9650966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6" name="Google Shape;596;p46"/>
          <p:cNvCxnSpPr/>
          <p:nvPr/>
        </p:nvCxnSpPr>
        <p:spPr>
          <a:xfrm>
            <a:off x="6186754" y="2752308"/>
            <a:ext cx="493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7" name="Google Shape;597;p46"/>
          <p:cNvSpPr txBox="1"/>
          <p:nvPr/>
        </p:nvSpPr>
        <p:spPr>
          <a:xfrm>
            <a:off x="10225986" y="1933873"/>
            <a:ext cx="1764000" cy="46166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BranchName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8" name="Google Shape;598;p46"/>
          <p:cNvSpPr txBox="1"/>
          <p:nvPr/>
        </p:nvSpPr>
        <p:spPr>
          <a:xfrm>
            <a:off x="5836010" y="1933873"/>
            <a:ext cx="720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CID</a:t>
            </a:r>
            <a:endParaRPr/>
          </a:p>
        </p:txBody>
      </p:sp>
      <p:cxnSp>
        <p:nvCxnSpPr>
          <p:cNvPr id="599" name="Google Shape;599;p46"/>
          <p:cNvCxnSpPr/>
          <p:nvPr/>
        </p:nvCxnSpPr>
        <p:spPr>
          <a:xfrm>
            <a:off x="6196010" y="2394673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0" name="Google Shape;600;p46"/>
          <p:cNvCxnSpPr/>
          <p:nvPr/>
        </p:nvCxnSpPr>
        <p:spPr>
          <a:xfrm rot="10800000">
            <a:off x="11107986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1" name="Google Shape;601;p46"/>
          <p:cNvCxnSpPr/>
          <p:nvPr/>
        </p:nvCxnSpPr>
        <p:spPr>
          <a:xfrm rot="10800000">
            <a:off x="6931716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2" name="Google Shape;602;p46"/>
          <p:cNvCxnSpPr/>
          <p:nvPr/>
        </p:nvCxnSpPr>
        <p:spPr>
          <a:xfrm>
            <a:off x="9650966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3" name="Google Shape;603;p46"/>
          <p:cNvCxnSpPr/>
          <p:nvPr/>
        </p:nvCxnSpPr>
        <p:spPr>
          <a:xfrm>
            <a:off x="6921178" y="1569573"/>
            <a:ext cx="4176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4" name="Google Shape;604;p46"/>
          <p:cNvCxnSpPr/>
          <p:nvPr/>
        </p:nvCxnSpPr>
        <p:spPr>
          <a:xfrm>
            <a:off x="11107986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5" name="Google Shape;605;p46"/>
          <p:cNvSpPr/>
          <p:nvPr/>
        </p:nvSpPr>
        <p:spPr>
          <a:xfrm>
            <a:off x="5771478" y="2073171"/>
            <a:ext cx="6156000" cy="1440000"/>
          </a:xfrm>
          <a:prstGeom prst="roundRect">
            <a:avLst>
              <a:gd name="adj" fmla="val 135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158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06" name="Google Shape;606;p46"/>
          <p:cNvSpPr txBox="1"/>
          <p:nvPr/>
        </p:nvSpPr>
        <p:spPr>
          <a:xfrm>
            <a:off x="6182666" y="2785272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FD1</a:t>
            </a:r>
            <a:endParaRPr/>
          </a:p>
        </p:txBody>
      </p:sp>
      <p:sp>
        <p:nvSpPr>
          <p:cNvPr id="607" name="Google Shape;607;p46"/>
          <p:cNvSpPr txBox="1"/>
          <p:nvPr/>
        </p:nvSpPr>
        <p:spPr>
          <a:xfrm>
            <a:off x="6954039" y="1109092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7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Problem: </a:t>
            </a:r>
            <a:r>
              <a:rPr lang="en-US"/>
              <a:t>For example, in case of a joint account multiple (more than one) customers have common (one) accounts.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an account </a:t>
            </a:r>
            <a:r>
              <a:rPr lang="en-US" b="1">
                <a:solidFill>
                  <a:schemeClr val="accent6"/>
                </a:solidFill>
              </a:rPr>
              <a:t>’A01’ is operated jointly by two customers </a:t>
            </a:r>
            <a:r>
              <a:rPr lang="en-US"/>
              <a:t>says </a:t>
            </a:r>
            <a:r>
              <a:rPr lang="en-US" b="1">
                <a:solidFill>
                  <a:schemeClr val="accent6"/>
                </a:solidFill>
              </a:rPr>
              <a:t>’C01’ and ’C02’</a:t>
            </a:r>
            <a:r>
              <a:rPr lang="en-US"/>
              <a:t> then </a:t>
            </a:r>
            <a:r>
              <a:rPr lang="en-US" b="1">
                <a:solidFill>
                  <a:schemeClr val="accent6"/>
                </a:solidFill>
              </a:rPr>
              <a:t>data</a:t>
            </a:r>
            <a:r>
              <a:rPr lang="en-US"/>
              <a:t> values for attributes </a:t>
            </a:r>
            <a:r>
              <a:rPr lang="en-US" b="1">
                <a:solidFill>
                  <a:schemeClr val="accent6"/>
                </a:solidFill>
              </a:rPr>
              <a:t>Balance and BranchName </a:t>
            </a:r>
            <a:r>
              <a:rPr lang="en-US"/>
              <a:t>will be </a:t>
            </a:r>
            <a:r>
              <a:rPr lang="en-US" b="1">
                <a:solidFill>
                  <a:schemeClr val="accent6"/>
                </a:solidFill>
              </a:rPr>
              <a:t>duplicated in two different tuples</a:t>
            </a:r>
            <a:r>
              <a:rPr lang="en-US"/>
              <a:t> of customers ’C01’ and ’C02’.</a:t>
            </a:r>
            <a:endParaRPr/>
          </a:p>
        </p:txBody>
      </p:sp>
      <p:sp>
        <p:nvSpPr>
          <p:cNvPr id="612" name="Google Shape;612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2NF (Second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614" name="Google Shape;614;p47"/>
          <p:cNvGraphicFramePr/>
          <p:nvPr/>
        </p:nvGraphicFramePr>
        <p:xfrm>
          <a:off x="280527" y="1338739"/>
          <a:ext cx="5232400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CID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AccessDate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Balance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01-01-2017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01-03-2017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01-05-2017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01-07-2017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5" name="Google Shape;615;p47"/>
          <p:cNvGraphicFramePr/>
          <p:nvPr/>
        </p:nvGraphicFramePr>
        <p:xfrm>
          <a:off x="279348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8" name="Google Shape;618;p47"/>
          <p:cNvSpPr txBox="1"/>
          <p:nvPr/>
        </p:nvSpPr>
        <p:spPr>
          <a:xfrm>
            <a:off x="6553716" y="1933873"/>
            <a:ext cx="756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ANO</a:t>
            </a:r>
            <a:endParaRPr/>
          </a:p>
        </p:txBody>
      </p:sp>
      <p:sp>
        <p:nvSpPr>
          <p:cNvPr id="619" name="Google Shape;619;p47"/>
          <p:cNvSpPr txBox="1"/>
          <p:nvPr/>
        </p:nvSpPr>
        <p:spPr>
          <a:xfrm>
            <a:off x="7310836" y="1933873"/>
            <a:ext cx="1764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AccesssDate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0" name="Google Shape;620;p47"/>
          <p:cNvSpPr txBox="1"/>
          <p:nvPr/>
        </p:nvSpPr>
        <p:spPr>
          <a:xfrm>
            <a:off x="9074966" y="1933873"/>
            <a:ext cx="1152000" cy="46166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Balance</a:t>
            </a:r>
            <a:endParaRPr/>
          </a:p>
        </p:txBody>
      </p:sp>
      <p:cxnSp>
        <p:nvCxnSpPr>
          <p:cNvPr id="621" name="Google Shape;621;p47"/>
          <p:cNvCxnSpPr/>
          <p:nvPr/>
        </p:nvCxnSpPr>
        <p:spPr>
          <a:xfrm>
            <a:off x="6931716" y="2394673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2" name="Google Shape;622;p47"/>
          <p:cNvCxnSpPr/>
          <p:nvPr/>
        </p:nvCxnSpPr>
        <p:spPr>
          <a:xfrm rot="10800000">
            <a:off x="8192836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3" name="Google Shape;623;p47"/>
          <p:cNvCxnSpPr/>
          <p:nvPr/>
        </p:nvCxnSpPr>
        <p:spPr>
          <a:xfrm rot="10800000">
            <a:off x="9650966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4" name="Google Shape;624;p47"/>
          <p:cNvCxnSpPr/>
          <p:nvPr/>
        </p:nvCxnSpPr>
        <p:spPr>
          <a:xfrm>
            <a:off x="6186754" y="2752308"/>
            <a:ext cx="493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5" name="Google Shape;625;p47"/>
          <p:cNvSpPr txBox="1"/>
          <p:nvPr/>
        </p:nvSpPr>
        <p:spPr>
          <a:xfrm>
            <a:off x="10225986" y="1933873"/>
            <a:ext cx="1764000" cy="46166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BranchName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6" name="Google Shape;626;p47"/>
          <p:cNvSpPr txBox="1"/>
          <p:nvPr/>
        </p:nvSpPr>
        <p:spPr>
          <a:xfrm>
            <a:off x="5836010" y="1933873"/>
            <a:ext cx="720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CID</a:t>
            </a:r>
            <a:endParaRPr/>
          </a:p>
        </p:txBody>
      </p:sp>
      <p:cxnSp>
        <p:nvCxnSpPr>
          <p:cNvPr id="627" name="Google Shape;627;p47"/>
          <p:cNvCxnSpPr/>
          <p:nvPr/>
        </p:nvCxnSpPr>
        <p:spPr>
          <a:xfrm>
            <a:off x="6196010" y="2394673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8" name="Google Shape;628;p47"/>
          <p:cNvCxnSpPr/>
          <p:nvPr/>
        </p:nvCxnSpPr>
        <p:spPr>
          <a:xfrm rot="10800000">
            <a:off x="11107986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9" name="Google Shape;629;p47"/>
          <p:cNvCxnSpPr/>
          <p:nvPr/>
        </p:nvCxnSpPr>
        <p:spPr>
          <a:xfrm rot="10800000">
            <a:off x="6931716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0" name="Google Shape;630;p47"/>
          <p:cNvCxnSpPr/>
          <p:nvPr/>
        </p:nvCxnSpPr>
        <p:spPr>
          <a:xfrm>
            <a:off x="9650966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1" name="Google Shape;631;p47"/>
          <p:cNvCxnSpPr/>
          <p:nvPr/>
        </p:nvCxnSpPr>
        <p:spPr>
          <a:xfrm>
            <a:off x="6921178" y="1569573"/>
            <a:ext cx="4176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2" name="Google Shape;632;p47"/>
          <p:cNvCxnSpPr/>
          <p:nvPr/>
        </p:nvCxnSpPr>
        <p:spPr>
          <a:xfrm>
            <a:off x="11107986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3" name="Google Shape;633;p47"/>
          <p:cNvSpPr/>
          <p:nvPr/>
        </p:nvSpPr>
        <p:spPr>
          <a:xfrm>
            <a:off x="5771478" y="2073171"/>
            <a:ext cx="6156000" cy="1440000"/>
          </a:xfrm>
          <a:prstGeom prst="roundRect">
            <a:avLst>
              <a:gd name="adj" fmla="val 135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158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4" name="Google Shape;634;p47"/>
          <p:cNvSpPr txBox="1"/>
          <p:nvPr/>
        </p:nvSpPr>
        <p:spPr>
          <a:xfrm>
            <a:off x="6182666" y="2785272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FD1</a:t>
            </a:r>
            <a:endParaRPr/>
          </a:p>
        </p:txBody>
      </p:sp>
      <p:sp>
        <p:nvSpPr>
          <p:cNvPr id="635" name="Google Shape;635;p47"/>
          <p:cNvSpPr txBox="1"/>
          <p:nvPr/>
        </p:nvSpPr>
        <p:spPr>
          <a:xfrm>
            <a:off x="6954039" y="1109092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FD2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8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6413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Solution: </a:t>
            </a:r>
            <a:r>
              <a:rPr lang="en-US" b="1">
                <a:solidFill>
                  <a:schemeClr val="accent6"/>
                </a:solidFill>
              </a:rPr>
              <a:t>Decompose relation </a:t>
            </a:r>
            <a:r>
              <a:rPr lang="en-US"/>
              <a:t>in such a way that </a:t>
            </a:r>
            <a:r>
              <a:rPr lang="en-US" b="1">
                <a:solidFill>
                  <a:schemeClr val="accent6"/>
                </a:solidFill>
              </a:rPr>
              <a:t>resultant relations do not have any partial FD</a:t>
            </a:r>
            <a:r>
              <a:rPr lang="en-US"/>
              <a:t>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 b="1">
                <a:solidFill>
                  <a:schemeClr val="accent6"/>
                </a:solidFill>
              </a:rPr>
              <a:t>Remove partial dependent attributes </a:t>
            </a:r>
            <a:r>
              <a:rPr lang="en-US"/>
              <a:t>from the relation that violets 2NF.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 b="1">
                <a:solidFill>
                  <a:schemeClr val="accent6"/>
                </a:solidFill>
              </a:rPr>
              <a:t>Place them in separate relation </a:t>
            </a:r>
            <a:r>
              <a:rPr lang="en-US"/>
              <a:t>along with the </a:t>
            </a:r>
            <a:r>
              <a:rPr lang="en-US" b="1">
                <a:solidFill>
                  <a:schemeClr val="accent6"/>
                </a:solidFill>
              </a:rPr>
              <a:t>prime attribute on which they are fully dependent</a:t>
            </a:r>
            <a:r>
              <a:rPr lang="en-US"/>
              <a:t>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primary key of new relation </a:t>
            </a:r>
            <a:r>
              <a:rPr lang="en-US"/>
              <a:t>will be the </a:t>
            </a:r>
            <a:r>
              <a:rPr lang="en-US" b="1">
                <a:solidFill>
                  <a:schemeClr val="accent6"/>
                </a:solidFill>
              </a:rPr>
              <a:t>attribute on which it is fully dependent</a:t>
            </a:r>
            <a:r>
              <a:rPr lang="en-US"/>
              <a:t>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 b="1">
                <a:solidFill>
                  <a:schemeClr val="accent6"/>
                </a:solidFill>
              </a:rPr>
              <a:t>Keep other attributes same </a:t>
            </a:r>
            <a:r>
              <a:rPr lang="en-US"/>
              <a:t>as in that table with the </a:t>
            </a:r>
            <a:r>
              <a:rPr lang="en-US" b="1">
                <a:solidFill>
                  <a:schemeClr val="accent6"/>
                </a:solidFill>
              </a:rPr>
              <a:t>same primary key</a:t>
            </a:r>
            <a:r>
              <a:rPr lang="en-US"/>
              <a:t>.</a:t>
            </a:r>
            <a:endParaRPr/>
          </a:p>
        </p:txBody>
      </p:sp>
      <p:sp>
        <p:nvSpPr>
          <p:cNvPr id="640" name="Google Shape;640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2NF (Second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642" name="Google Shape;642;p48"/>
          <p:cNvGraphicFramePr/>
          <p:nvPr/>
        </p:nvGraphicFramePr>
        <p:xfrm>
          <a:off x="280527" y="1338739"/>
          <a:ext cx="5232400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CID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AccessDate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Balance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01-01-2017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01-03-2017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01-05-2017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01-07-2017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43" name="Google Shape;643;p48"/>
          <p:cNvGraphicFramePr/>
          <p:nvPr/>
        </p:nvGraphicFramePr>
        <p:xfrm>
          <a:off x="279348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5" name="Google Shape;645;p48"/>
          <p:cNvGraphicFramePr/>
          <p:nvPr/>
        </p:nvGraphicFramePr>
        <p:xfrm>
          <a:off x="5855358" y="1343826"/>
          <a:ext cx="3328350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85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Balance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6" name="Google Shape;646;p48"/>
          <p:cNvGraphicFramePr/>
          <p:nvPr/>
        </p:nvGraphicFramePr>
        <p:xfrm>
          <a:off x="5854179" y="976997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" name="Google Shape;647;p48"/>
          <p:cNvGraphicFramePr/>
          <p:nvPr/>
        </p:nvGraphicFramePr>
        <p:xfrm>
          <a:off x="9302351" y="1341946"/>
          <a:ext cx="2755275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5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</a:rPr>
                        <a:t>CID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AccessDate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01-01-2017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C02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01-03-2017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01-05-2017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01-07-2017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48" name="Google Shape;648;p48"/>
          <p:cNvGraphicFramePr/>
          <p:nvPr/>
        </p:nvGraphicFramePr>
        <p:xfrm>
          <a:off x="9301172" y="975117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9" name="Google Shape;649;p48"/>
          <p:cNvSpPr/>
          <p:nvPr/>
        </p:nvSpPr>
        <p:spPr>
          <a:xfrm>
            <a:off x="5198061" y="2577101"/>
            <a:ext cx="753979" cy="43712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Check below relation is in 2 NF? </a:t>
            </a:r>
            <a:endParaRPr dirty="0"/>
          </a:p>
        </p:txBody>
      </p:sp>
      <p:sp>
        <p:nvSpPr>
          <p:cNvPr id="655" name="Google Shape;655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2NF (Second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656" name="Google Shape;656;p49"/>
          <p:cNvGraphicFramePr/>
          <p:nvPr/>
        </p:nvGraphicFramePr>
        <p:xfrm>
          <a:off x="1479333" y="2229155"/>
          <a:ext cx="6943725" cy="248412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23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/>
                        <a:t>teacher_id</a:t>
                      </a:r>
                      <a:endParaRPr sz="1800" b="1" u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subject</a:t>
                      </a:r>
                      <a:endParaRPr sz="1800" b="1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teacher_age</a:t>
                      </a:r>
                      <a:endParaRPr sz="1800" b="1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111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Maths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38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111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Physics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38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222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Biology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38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333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Physics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40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333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Chemistry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40</a:t>
                      </a:r>
                      <a:endParaRPr sz="2000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7" name="Google Shape;657;p49"/>
          <p:cNvSpPr txBox="1"/>
          <p:nvPr/>
        </p:nvSpPr>
        <p:spPr>
          <a:xfrm>
            <a:off x="1622155" y="1747447"/>
            <a:ext cx="152400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School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>
                <a:solidFill>
                  <a:srgbClr val="222426"/>
                </a:solidFill>
                <a:latin typeface="Cambria Math"/>
                <a:ea typeface="Cambria Math"/>
                <a:cs typeface="Cambria Math"/>
                <a:sym typeface="Cambria Math"/>
              </a:rPr>
              <a:t>A table is in 1NF as all attributes has single values.</a:t>
            </a:r>
            <a:endParaRPr/>
          </a:p>
          <a:p>
            <a:pPr marL="3429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Font typeface="Noto Sans Symbols"/>
              <a:buNone/>
            </a:pPr>
            <a:endParaRPr sz="600">
              <a:solidFill>
                <a:srgbClr val="222426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solution for this would be splitting it into more than one table such that it satisfy condition for 2 NF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663" name="Google Shape;663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2NF (Second Normal Form)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64" name="Google Shape;664;p50"/>
          <p:cNvSpPr txBox="1"/>
          <p:nvPr/>
        </p:nvSpPr>
        <p:spPr>
          <a:xfrm>
            <a:off x="1784036" y="2685974"/>
            <a:ext cx="152400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Teachers</a:t>
            </a:r>
            <a:endParaRPr/>
          </a:p>
        </p:txBody>
      </p:sp>
      <p:graphicFrame>
        <p:nvGraphicFramePr>
          <p:cNvPr id="665" name="Google Shape;665;p50"/>
          <p:cNvGraphicFramePr/>
          <p:nvPr/>
        </p:nvGraphicFramePr>
        <p:xfrm>
          <a:off x="1784036" y="3211643"/>
          <a:ext cx="2995350" cy="167640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49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teacher_id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teacher_age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38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222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38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333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40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6" name="Google Shape;666;p50"/>
          <p:cNvSpPr txBox="1"/>
          <p:nvPr/>
        </p:nvSpPr>
        <p:spPr>
          <a:xfrm>
            <a:off x="5094413" y="2685974"/>
            <a:ext cx="152400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Subjects</a:t>
            </a:r>
            <a:endParaRPr/>
          </a:p>
        </p:txBody>
      </p:sp>
      <p:graphicFrame>
        <p:nvGraphicFramePr>
          <p:cNvPr id="667" name="Google Shape;667;p50"/>
          <p:cNvGraphicFramePr/>
          <p:nvPr/>
        </p:nvGraphicFramePr>
        <p:xfrm>
          <a:off x="5008000" y="3140666"/>
          <a:ext cx="3551550" cy="251460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77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teacher_id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subject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Maths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Physics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222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Biology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333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Physics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333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Chemistry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1"/>
          <p:cNvSpPr txBox="1">
            <a:spLocks noGrp="1"/>
          </p:cNvSpPr>
          <p:nvPr>
            <p:ph type="body" idx="1"/>
          </p:nvPr>
        </p:nvSpPr>
        <p:spPr>
          <a:xfrm>
            <a:off x="131180" y="995422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Conditions for 3NF</a:t>
            </a: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 relation R is in third normal form (3NF)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if and only if it is in </a:t>
            </a:r>
            <a:r>
              <a:rPr lang="en-US" b="1" dirty="0">
                <a:solidFill>
                  <a:schemeClr val="accent6"/>
                </a:solidFill>
              </a:rPr>
              <a:t>2NF </a:t>
            </a:r>
            <a:r>
              <a:rPr lang="en-US" dirty="0"/>
              <a:t>and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every non-key attribute is non-transitively dependent on the primary key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OR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 relation R is in third normal form (3NF)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if and only if it is in </a:t>
            </a:r>
            <a:r>
              <a:rPr lang="en-US" b="1" dirty="0">
                <a:solidFill>
                  <a:schemeClr val="accent6"/>
                </a:solidFill>
              </a:rPr>
              <a:t>2NF</a:t>
            </a:r>
            <a:r>
              <a:rPr lang="en-US" dirty="0"/>
              <a:t> and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no any non-key attribute is transitively dependent on the primary key</a:t>
            </a:r>
            <a:endParaRPr dirty="0"/>
          </a:p>
        </p:txBody>
      </p:sp>
      <p:sp>
        <p:nvSpPr>
          <p:cNvPr id="672" name="Google Shape;672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3NF (Third Normal Form)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74" name="Google Shape;674;p51"/>
          <p:cNvSpPr/>
          <p:nvPr/>
        </p:nvSpPr>
        <p:spPr>
          <a:xfrm>
            <a:off x="503405" y="1474643"/>
            <a:ext cx="7200000" cy="7200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1125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in 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2NF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there is 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transitive dependency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600" b="1" i="0" u="none" strike="noStrike" cap="none" dirty="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6" name="Google Shape;676;p51"/>
          <p:cNvSpPr/>
          <p:nvPr/>
        </p:nvSpPr>
        <p:spPr>
          <a:xfrm>
            <a:off x="503405" y="2503056"/>
            <a:ext cx="8100000" cy="7200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1125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(Transitive dependency???) 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 &amp; B 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then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 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800" b="0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</a:t>
            </a:r>
            <a:endParaRPr sz="2600" b="1" i="0" u="none" strike="noStrike" cap="none" dirty="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2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FD1</a:t>
            </a:r>
            <a:r>
              <a:rPr lang="en-US" dirty="0"/>
              <a:t>: ANO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{Balance, </a:t>
            </a:r>
            <a:r>
              <a:rPr lang="en-US" dirty="0" err="1"/>
              <a:t>BranchName</a:t>
            </a:r>
            <a:r>
              <a:rPr lang="en-US" dirty="0"/>
              <a:t>, </a:t>
            </a:r>
            <a:r>
              <a:rPr lang="en-US" dirty="0" err="1"/>
              <a:t>BranchAddress</a:t>
            </a:r>
            <a:r>
              <a:rPr lang="en-US" dirty="0"/>
              <a:t>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FD2</a:t>
            </a:r>
            <a:r>
              <a:rPr lang="en-US" dirty="0"/>
              <a:t>: </a:t>
            </a:r>
            <a:r>
              <a:rPr lang="en-US" dirty="0" err="1"/>
              <a:t>BranchName</a:t>
            </a:r>
            <a:r>
              <a:rPr lang="en-US" dirty="0"/>
              <a:t>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</a:t>
            </a:r>
            <a:r>
              <a:rPr lang="en-US" dirty="0" err="1"/>
              <a:t>BranchAddress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So </a:t>
            </a:r>
            <a:r>
              <a:rPr lang="en-US" dirty="0" err="1"/>
              <a:t>AccountNO</a:t>
            </a:r>
            <a:r>
              <a:rPr lang="en-US" dirty="0"/>
              <a:t>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dirty="0" err="1"/>
              <a:t>BranchAddress</a:t>
            </a:r>
            <a:r>
              <a:rPr lang="en-US" dirty="0"/>
              <a:t> (Using </a:t>
            </a:r>
            <a:r>
              <a:rPr lang="en-US" dirty="0">
                <a:solidFill>
                  <a:schemeClr val="dk2"/>
                </a:solidFill>
              </a:rPr>
              <a:t>Transitivity rule</a:t>
            </a:r>
            <a:r>
              <a:rPr lang="en-US" dirty="0"/>
              <a:t>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 b="1" dirty="0" err="1">
                <a:solidFill>
                  <a:schemeClr val="accent6"/>
                </a:solidFill>
              </a:rPr>
              <a:t>BranchAddress</a:t>
            </a:r>
            <a:r>
              <a:rPr lang="en-US" b="1" dirty="0">
                <a:solidFill>
                  <a:schemeClr val="accent6"/>
                </a:solidFill>
              </a:rPr>
              <a:t> is transitive depend on primary key (ANO)</a:t>
            </a:r>
            <a:r>
              <a:rPr lang="en-US" dirty="0"/>
              <a:t>. So customer relation is not in 3NF.</a:t>
            </a:r>
            <a:endParaRPr dirty="0"/>
          </a:p>
        </p:txBody>
      </p:sp>
      <p:sp>
        <p:nvSpPr>
          <p:cNvPr id="681" name="Google Shape;681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3NF (Third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683" name="Google Shape;683;p52"/>
          <p:cNvGraphicFramePr/>
          <p:nvPr/>
        </p:nvGraphicFramePr>
        <p:xfrm>
          <a:off x="280527" y="1338739"/>
          <a:ext cx="4651050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Balance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Kalawad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Kalawad Road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C.G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C.G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84" name="Google Shape;684;p52"/>
          <p:cNvGraphicFramePr/>
          <p:nvPr/>
        </p:nvGraphicFramePr>
        <p:xfrm>
          <a:off x="279348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7" name="Google Shape;687;p52"/>
          <p:cNvSpPr txBox="1"/>
          <p:nvPr/>
        </p:nvSpPr>
        <p:spPr>
          <a:xfrm>
            <a:off x="6181420" y="1933873"/>
            <a:ext cx="756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ANO</a:t>
            </a:r>
            <a:endParaRPr/>
          </a:p>
        </p:txBody>
      </p:sp>
      <p:sp>
        <p:nvSpPr>
          <p:cNvPr id="688" name="Google Shape;688;p52"/>
          <p:cNvSpPr txBox="1"/>
          <p:nvPr/>
        </p:nvSpPr>
        <p:spPr>
          <a:xfrm>
            <a:off x="6938540" y="1933873"/>
            <a:ext cx="1152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Balance</a:t>
            </a:r>
            <a:endParaRPr/>
          </a:p>
        </p:txBody>
      </p:sp>
      <p:sp>
        <p:nvSpPr>
          <p:cNvPr id="689" name="Google Shape;689;p52"/>
          <p:cNvSpPr txBox="1"/>
          <p:nvPr/>
        </p:nvSpPr>
        <p:spPr>
          <a:xfrm>
            <a:off x="8087807" y="1933873"/>
            <a:ext cx="1764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BranchName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90" name="Google Shape;690;p52"/>
          <p:cNvCxnSpPr/>
          <p:nvPr/>
        </p:nvCxnSpPr>
        <p:spPr>
          <a:xfrm>
            <a:off x="6559420" y="2394673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1" name="Google Shape;691;p52"/>
          <p:cNvCxnSpPr/>
          <p:nvPr/>
        </p:nvCxnSpPr>
        <p:spPr>
          <a:xfrm rot="10800000">
            <a:off x="7514540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2" name="Google Shape;692;p52"/>
          <p:cNvCxnSpPr/>
          <p:nvPr/>
        </p:nvCxnSpPr>
        <p:spPr>
          <a:xfrm rot="10800000">
            <a:off x="8969807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3" name="Google Shape;693;p52"/>
          <p:cNvCxnSpPr/>
          <p:nvPr/>
        </p:nvCxnSpPr>
        <p:spPr>
          <a:xfrm>
            <a:off x="6544916" y="2752308"/>
            <a:ext cx="43308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4" name="Google Shape;694;p52"/>
          <p:cNvSpPr txBox="1"/>
          <p:nvPr/>
        </p:nvSpPr>
        <p:spPr>
          <a:xfrm>
            <a:off x="9853689" y="1933873"/>
            <a:ext cx="2203927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BranchAddress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95" name="Google Shape;695;p52"/>
          <p:cNvCxnSpPr/>
          <p:nvPr/>
        </p:nvCxnSpPr>
        <p:spPr>
          <a:xfrm rot="10800000">
            <a:off x="10861690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6" name="Google Shape;696;p52"/>
          <p:cNvCxnSpPr/>
          <p:nvPr/>
        </p:nvCxnSpPr>
        <p:spPr>
          <a:xfrm rot="10800000">
            <a:off x="8969807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7" name="Google Shape;697;p52"/>
          <p:cNvCxnSpPr/>
          <p:nvPr/>
        </p:nvCxnSpPr>
        <p:spPr>
          <a:xfrm>
            <a:off x="8962305" y="1569573"/>
            <a:ext cx="1908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8" name="Google Shape;698;p52"/>
          <p:cNvCxnSpPr/>
          <p:nvPr/>
        </p:nvCxnSpPr>
        <p:spPr>
          <a:xfrm>
            <a:off x="10861690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9" name="Google Shape;699;p52"/>
          <p:cNvSpPr/>
          <p:nvPr/>
        </p:nvSpPr>
        <p:spPr>
          <a:xfrm>
            <a:off x="5771478" y="2073171"/>
            <a:ext cx="6156000" cy="1440000"/>
          </a:xfrm>
          <a:prstGeom prst="roundRect">
            <a:avLst>
              <a:gd name="adj" fmla="val 135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158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0" name="Google Shape;700;p52"/>
          <p:cNvSpPr txBox="1"/>
          <p:nvPr/>
        </p:nvSpPr>
        <p:spPr>
          <a:xfrm>
            <a:off x="6580386" y="2769230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FD1</a:t>
            </a:r>
            <a:endParaRPr/>
          </a:p>
        </p:txBody>
      </p:sp>
      <p:sp>
        <p:nvSpPr>
          <p:cNvPr id="701" name="Google Shape;701;p52"/>
          <p:cNvSpPr txBox="1"/>
          <p:nvPr/>
        </p:nvSpPr>
        <p:spPr>
          <a:xfrm>
            <a:off x="8955972" y="1109092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3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Problem: </a:t>
            </a:r>
            <a:r>
              <a:rPr lang="en-US"/>
              <a:t>In this relation, </a:t>
            </a:r>
            <a:r>
              <a:rPr lang="en-US" b="1">
                <a:solidFill>
                  <a:schemeClr val="accent6"/>
                </a:solidFill>
              </a:rPr>
              <a:t>branch address will be stored repeatedly</a:t>
            </a:r>
            <a:r>
              <a:rPr lang="en-US"/>
              <a:t> for each account of the same branch which </a:t>
            </a:r>
            <a:r>
              <a:rPr lang="en-US" b="1">
                <a:solidFill>
                  <a:schemeClr val="accent6"/>
                </a:solidFill>
              </a:rPr>
              <a:t>occupies more space</a:t>
            </a:r>
            <a:r>
              <a:rPr lang="en-US"/>
              <a:t>.</a:t>
            </a:r>
            <a:endParaRPr/>
          </a:p>
        </p:txBody>
      </p:sp>
      <p:sp>
        <p:nvSpPr>
          <p:cNvPr id="706" name="Google Shape;706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3NF (Third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708" name="Google Shape;708;p53"/>
          <p:cNvGraphicFramePr/>
          <p:nvPr/>
        </p:nvGraphicFramePr>
        <p:xfrm>
          <a:off x="280527" y="1338739"/>
          <a:ext cx="4651050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Balance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Kalawad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Kalawad Road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C.G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C.G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09" name="Google Shape;709;p53"/>
          <p:cNvGraphicFramePr/>
          <p:nvPr/>
        </p:nvGraphicFramePr>
        <p:xfrm>
          <a:off x="279348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2" name="Google Shape;712;p53"/>
          <p:cNvSpPr txBox="1"/>
          <p:nvPr/>
        </p:nvSpPr>
        <p:spPr>
          <a:xfrm>
            <a:off x="6181420" y="1933873"/>
            <a:ext cx="756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ANO</a:t>
            </a:r>
            <a:endParaRPr/>
          </a:p>
        </p:txBody>
      </p:sp>
      <p:sp>
        <p:nvSpPr>
          <p:cNvPr id="713" name="Google Shape;713;p53"/>
          <p:cNvSpPr txBox="1"/>
          <p:nvPr/>
        </p:nvSpPr>
        <p:spPr>
          <a:xfrm>
            <a:off x="6938540" y="1933873"/>
            <a:ext cx="1152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Balance</a:t>
            </a:r>
            <a:endParaRPr/>
          </a:p>
        </p:txBody>
      </p:sp>
      <p:sp>
        <p:nvSpPr>
          <p:cNvPr id="714" name="Google Shape;714;p53"/>
          <p:cNvSpPr txBox="1"/>
          <p:nvPr/>
        </p:nvSpPr>
        <p:spPr>
          <a:xfrm>
            <a:off x="8087807" y="1933873"/>
            <a:ext cx="1764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BranchName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715" name="Google Shape;715;p53"/>
          <p:cNvCxnSpPr/>
          <p:nvPr/>
        </p:nvCxnSpPr>
        <p:spPr>
          <a:xfrm>
            <a:off x="6559420" y="2394673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6" name="Google Shape;716;p53"/>
          <p:cNvCxnSpPr/>
          <p:nvPr/>
        </p:nvCxnSpPr>
        <p:spPr>
          <a:xfrm rot="10800000">
            <a:off x="7514540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7" name="Google Shape;717;p53"/>
          <p:cNvCxnSpPr/>
          <p:nvPr/>
        </p:nvCxnSpPr>
        <p:spPr>
          <a:xfrm rot="10800000">
            <a:off x="8969807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8" name="Google Shape;718;p53"/>
          <p:cNvCxnSpPr/>
          <p:nvPr/>
        </p:nvCxnSpPr>
        <p:spPr>
          <a:xfrm>
            <a:off x="6544916" y="2752308"/>
            <a:ext cx="43308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9" name="Google Shape;719;p53"/>
          <p:cNvSpPr txBox="1"/>
          <p:nvPr/>
        </p:nvSpPr>
        <p:spPr>
          <a:xfrm>
            <a:off x="9853689" y="1933873"/>
            <a:ext cx="2203927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BranchAddress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720" name="Google Shape;720;p53"/>
          <p:cNvCxnSpPr/>
          <p:nvPr/>
        </p:nvCxnSpPr>
        <p:spPr>
          <a:xfrm rot="10800000">
            <a:off x="10861690" y="238654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1" name="Google Shape;721;p53"/>
          <p:cNvCxnSpPr/>
          <p:nvPr/>
        </p:nvCxnSpPr>
        <p:spPr>
          <a:xfrm rot="10800000">
            <a:off x="8969807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2" name="Google Shape;722;p53"/>
          <p:cNvCxnSpPr/>
          <p:nvPr/>
        </p:nvCxnSpPr>
        <p:spPr>
          <a:xfrm>
            <a:off x="8962305" y="1569573"/>
            <a:ext cx="1908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3" name="Google Shape;723;p53"/>
          <p:cNvCxnSpPr/>
          <p:nvPr/>
        </p:nvCxnSpPr>
        <p:spPr>
          <a:xfrm>
            <a:off x="10861690" y="1557529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24" name="Google Shape;724;p53"/>
          <p:cNvSpPr/>
          <p:nvPr/>
        </p:nvSpPr>
        <p:spPr>
          <a:xfrm>
            <a:off x="5771478" y="2073171"/>
            <a:ext cx="6156000" cy="1440000"/>
          </a:xfrm>
          <a:prstGeom prst="roundRect">
            <a:avLst>
              <a:gd name="adj" fmla="val 135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158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25" name="Google Shape;725;p53"/>
          <p:cNvSpPr txBox="1"/>
          <p:nvPr/>
        </p:nvSpPr>
        <p:spPr>
          <a:xfrm>
            <a:off x="6580386" y="2769230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FD1</a:t>
            </a:r>
            <a:endParaRPr/>
          </a:p>
        </p:txBody>
      </p:sp>
      <p:sp>
        <p:nvSpPr>
          <p:cNvPr id="726" name="Google Shape;726;p53"/>
          <p:cNvSpPr txBox="1"/>
          <p:nvPr/>
        </p:nvSpPr>
        <p:spPr>
          <a:xfrm>
            <a:off x="8955972" y="1109092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FD2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4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6413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Solution: </a:t>
            </a:r>
            <a:r>
              <a:rPr lang="en-US" b="1">
                <a:solidFill>
                  <a:schemeClr val="accent6"/>
                </a:solidFill>
              </a:rPr>
              <a:t>Decompose relation in </a:t>
            </a:r>
            <a:r>
              <a:rPr lang="en-US"/>
              <a:t>such a way that </a:t>
            </a:r>
            <a:r>
              <a:rPr lang="en-US" b="1">
                <a:solidFill>
                  <a:schemeClr val="accent6"/>
                </a:solidFill>
              </a:rPr>
              <a:t>resultant relations do not have any transitive FD.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 b="1">
                <a:solidFill>
                  <a:schemeClr val="accent6"/>
                </a:solidFill>
              </a:rPr>
              <a:t>Remove transitive dependent attributes </a:t>
            </a:r>
            <a:r>
              <a:rPr lang="en-US"/>
              <a:t>from the relation that violets 3NF.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 b="1">
                <a:solidFill>
                  <a:schemeClr val="accent6"/>
                </a:solidFill>
              </a:rPr>
              <a:t>Place them in a new relation along </a:t>
            </a:r>
            <a:r>
              <a:rPr lang="en-US"/>
              <a:t>with the </a:t>
            </a:r>
            <a:r>
              <a:rPr lang="en-US" b="1">
                <a:solidFill>
                  <a:schemeClr val="accent6"/>
                </a:solidFill>
              </a:rPr>
              <a:t>non-prime attributes due to which transitive dependency occurred</a:t>
            </a:r>
            <a:r>
              <a:rPr lang="en-US"/>
              <a:t>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primary key of the new relation</a:t>
            </a:r>
            <a:r>
              <a:rPr lang="en-US"/>
              <a:t> will be </a:t>
            </a:r>
            <a:r>
              <a:rPr lang="en-US" b="1">
                <a:solidFill>
                  <a:schemeClr val="accent6"/>
                </a:solidFill>
              </a:rPr>
              <a:t>non-prime attributes due to which transitive dependency occurred</a:t>
            </a:r>
            <a:r>
              <a:rPr lang="en-US"/>
              <a:t>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 b="1">
                <a:solidFill>
                  <a:schemeClr val="accent6"/>
                </a:solidFill>
              </a:rPr>
              <a:t>Keep other attributes same as in the table </a:t>
            </a:r>
            <a:r>
              <a:rPr lang="en-US"/>
              <a:t>with </a:t>
            </a:r>
            <a:r>
              <a:rPr lang="en-US" b="1">
                <a:solidFill>
                  <a:schemeClr val="accent6"/>
                </a:solidFill>
              </a:rPr>
              <a:t>same primary key</a:t>
            </a:r>
            <a:r>
              <a:rPr lang="en-US"/>
              <a:t> and </a:t>
            </a:r>
            <a:r>
              <a:rPr lang="en-US" b="1">
                <a:solidFill>
                  <a:schemeClr val="accent6"/>
                </a:solidFill>
              </a:rPr>
              <a:t>add prime attributes of other relation into it as a foreign key</a:t>
            </a:r>
            <a:r>
              <a:rPr lang="en-US"/>
              <a:t>.</a:t>
            </a:r>
            <a:endParaRPr/>
          </a:p>
        </p:txBody>
      </p:sp>
      <p:sp>
        <p:nvSpPr>
          <p:cNvPr id="731" name="Google Shape;73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3NF (Third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733" name="Google Shape;733;p54"/>
          <p:cNvGraphicFramePr/>
          <p:nvPr/>
        </p:nvGraphicFramePr>
        <p:xfrm>
          <a:off x="280527" y="1338739"/>
          <a:ext cx="4651050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Balance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Kalawad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Kalawad Road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C.G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C.G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34" name="Google Shape;734;p54"/>
          <p:cNvGraphicFramePr/>
          <p:nvPr/>
        </p:nvGraphicFramePr>
        <p:xfrm>
          <a:off x="279348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Customer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6" name="Google Shape;736;p54"/>
          <p:cNvSpPr/>
          <p:nvPr/>
        </p:nvSpPr>
        <p:spPr>
          <a:xfrm>
            <a:off x="5076588" y="2148878"/>
            <a:ext cx="612000" cy="43712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737" name="Google Shape;737;p54"/>
          <p:cNvGraphicFramePr/>
          <p:nvPr/>
        </p:nvGraphicFramePr>
        <p:xfrm>
          <a:off x="5855358" y="1343826"/>
          <a:ext cx="3037525" cy="123442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4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BranchName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BranchAddress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Kalawad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C.G Road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38" name="Google Shape;738;p54"/>
          <p:cNvGraphicFramePr/>
          <p:nvPr/>
        </p:nvGraphicFramePr>
        <p:xfrm>
          <a:off x="5854179" y="976997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9" name="Google Shape;739;p54"/>
          <p:cNvGraphicFramePr/>
          <p:nvPr/>
        </p:nvGraphicFramePr>
        <p:xfrm>
          <a:off x="9013595" y="1341946"/>
          <a:ext cx="3018775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ANO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Balance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BranchName</a:t>
                      </a:r>
                      <a:endParaRPr sz="1800" b="1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A01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Rajkot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A04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25000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Surat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40" name="Google Shape;740;p54"/>
          <p:cNvGraphicFramePr/>
          <p:nvPr/>
        </p:nvGraphicFramePr>
        <p:xfrm>
          <a:off x="9012416" y="975117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Check below relation is in 3NF: </a:t>
            </a:r>
            <a:endParaRPr dirty="0"/>
          </a:p>
        </p:txBody>
      </p:sp>
      <p:sp>
        <p:nvSpPr>
          <p:cNvPr id="746" name="Google Shape;746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3NF (Third Normal Form)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747" name="Google Shape;747;p55"/>
          <p:cNvSpPr txBox="1"/>
          <p:nvPr/>
        </p:nvSpPr>
        <p:spPr>
          <a:xfrm>
            <a:off x="730347" y="1721187"/>
            <a:ext cx="152400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Employee</a:t>
            </a:r>
            <a:endParaRPr/>
          </a:p>
        </p:txBody>
      </p:sp>
      <p:graphicFrame>
        <p:nvGraphicFramePr>
          <p:cNvPr id="748" name="Google Shape;748;p55"/>
          <p:cNvGraphicFramePr/>
          <p:nvPr/>
        </p:nvGraphicFramePr>
        <p:xfrm>
          <a:off x="559242" y="2266893"/>
          <a:ext cx="8049550" cy="251460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0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id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name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zip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state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city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district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John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282005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Agra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Dayal Bagh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1002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Ajeet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222008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Chennai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M-City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1006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Lora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282007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Chennai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Urrapakkam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1101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Lilly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292008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UK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Pauri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Bhagwan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1201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Steve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222999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MP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Gwalior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Ratan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Check below relation is in 3NF: </a:t>
            </a:r>
            <a:endParaRPr dirty="0"/>
          </a:p>
        </p:txBody>
      </p:sp>
      <p:sp>
        <p:nvSpPr>
          <p:cNvPr id="754" name="Google Shape;754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3NF (Third Normal Form)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755" name="Google Shape;755;p56"/>
          <p:cNvSpPr txBox="1"/>
          <p:nvPr/>
        </p:nvSpPr>
        <p:spPr>
          <a:xfrm>
            <a:off x="730347" y="1721187"/>
            <a:ext cx="152400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Employee</a:t>
            </a:r>
            <a:endParaRPr/>
          </a:p>
        </p:txBody>
      </p:sp>
      <p:graphicFrame>
        <p:nvGraphicFramePr>
          <p:cNvPr id="756" name="Google Shape;756;p56"/>
          <p:cNvGraphicFramePr/>
          <p:nvPr/>
        </p:nvGraphicFramePr>
        <p:xfrm>
          <a:off x="165103" y="2254469"/>
          <a:ext cx="6519475" cy="2574325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83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id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name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zip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state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city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district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John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282005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Agra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Dayal Bagh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1002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Ajeet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222008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Chennai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M-City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1006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Lora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282007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Chennai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Urrapakkam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1101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Lilly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292008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UK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Pauri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Bhagwan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1201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Steve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222999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MP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Gwalior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Ratan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7" name="Google Shape;757;p56"/>
          <p:cNvSpPr/>
          <p:nvPr/>
        </p:nvSpPr>
        <p:spPr>
          <a:xfrm>
            <a:off x="513066" y="4967651"/>
            <a:ext cx="82641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22426"/>
                </a:solidFill>
                <a:latin typeface="Cambria Math"/>
                <a:ea typeface="Cambria Math"/>
                <a:cs typeface="Cambria Math"/>
                <a:sym typeface="Cambria Math"/>
              </a:rPr>
              <a:t>{zip}         {state, city, district}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22426"/>
                </a:solidFill>
                <a:latin typeface="Cambria Math"/>
                <a:ea typeface="Cambria Math"/>
                <a:cs typeface="Cambria Math"/>
                <a:sym typeface="Cambria Math"/>
              </a:rPr>
              <a:t>{id}         {zip}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22426"/>
                </a:solidFill>
                <a:latin typeface="Cambria Math"/>
                <a:ea typeface="Cambria Math"/>
                <a:cs typeface="Cambria Math"/>
                <a:sym typeface="Cambria Math"/>
              </a:rPr>
              <a:t>So transitively, {id}        {state, city, district}</a:t>
            </a:r>
            <a:endParaRPr sz="2000">
              <a:solidFill>
                <a:srgbClr val="222426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cxnSp>
        <p:nvCxnSpPr>
          <p:cNvPr id="758" name="Google Shape;758;p56"/>
          <p:cNvCxnSpPr/>
          <p:nvPr/>
        </p:nvCxnSpPr>
        <p:spPr>
          <a:xfrm>
            <a:off x="1149641" y="5179778"/>
            <a:ext cx="42511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59" name="Google Shape;759;p56"/>
          <p:cNvCxnSpPr/>
          <p:nvPr/>
        </p:nvCxnSpPr>
        <p:spPr>
          <a:xfrm>
            <a:off x="1036519" y="5509717"/>
            <a:ext cx="42511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0" name="Google Shape;760;p56"/>
          <p:cNvCxnSpPr/>
          <p:nvPr/>
        </p:nvCxnSpPr>
        <p:spPr>
          <a:xfrm>
            <a:off x="2672523" y="5782817"/>
            <a:ext cx="42511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3NF (Third Normal Form)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766" name="Google Shape;766;p57"/>
          <p:cNvSpPr txBox="1"/>
          <p:nvPr/>
        </p:nvSpPr>
        <p:spPr>
          <a:xfrm>
            <a:off x="232641" y="748125"/>
            <a:ext cx="152400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Employee</a:t>
            </a:r>
            <a:endParaRPr/>
          </a:p>
        </p:txBody>
      </p:sp>
      <p:graphicFrame>
        <p:nvGraphicFramePr>
          <p:cNvPr id="767" name="Google Shape;767;p57"/>
          <p:cNvGraphicFramePr/>
          <p:nvPr/>
        </p:nvGraphicFramePr>
        <p:xfrm>
          <a:off x="232641" y="1148235"/>
          <a:ext cx="6519475" cy="2574325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83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id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name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zip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state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city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district</a:t>
                      </a:r>
                      <a:endParaRPr sz="20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John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282005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Agra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Dayal Bagh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1002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Ajeet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222008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Chennai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M-City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1006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Lora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282007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Chennai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Urrapakkam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1101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Lilly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292008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UK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Pauri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Bhagwan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1201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Steve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222999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MP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Gwalior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Ratan</a:t>
                      </a:r>
                      <a:endParaRPr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68" name="Google Shape;768;p57"/>
          <p:cNvGraphicFramePr/>
          <p:nvPr/>
        </p:nvGraphicFramePr>
        <p:xfrm>
          <a:off x="257843" y="4219816"/>
          <a:ext cx="3937800" cy="233172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31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/>
                        <a:t>id</a:t>
                      </a:r>
                      <a:endParaRPr sz="1800" b="1" u="sng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name</a:t>
                      </a:r>
                      <a:endParaRPr sz="18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zip</a:t>
                      </a:r>
                      <a:endParaRPr sz="1800" b="1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John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282005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1002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Ajeet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222008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1006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Lora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282007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1101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Lilly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292008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1201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Steve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222999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69" name="Google Shape;769;p57"/>
          <p:cNvGraphicFramePr/>
          <p:nvPr/>
        </p:nvGraphicFramePr>
        <p:xfrm>
          <a:off x="4536627" y="4158496"/>
          <a:ext cx="5906200" cy="2388925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47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/>
                        <a:t>zip</a:t>
                      </a:r>
                      <a:endParaRPr sz="1800" b="1" u="sng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state</a:t>
                      </a:r>
                      <a:endParaRPr sz="1800" b="1" u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city</a:t>
                      </a:r>
                      <a:endParaRPr sz="1800" b="1" u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district</a:t>
                      </a:r>
                      <a:endParaRPr sz="1800" b="1" u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282005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UP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Agra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Dayal Bagh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222008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TN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Chennai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M-City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282007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TN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Chennai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Urrapakkam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292008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UK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Pauri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Bhagwan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222999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MP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Gwalior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Ratan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91450" marR="914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0" name="Google Shape;770;p57"/>
          <p:cNvSpPr txBox="1"/>
          <p:nvPr/>
        </p:nvSpPr>
        <p:spPr>
          <a:xfrm>
            <a:off x="232641" y="3758386"/>
            <a:ext cx="218607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Employee_Details</a:t>
            </a:r>
            <a:endParaRPr/>
          </a:p>
        </p:txBody>
      </p:sp>
      <p:sp>
        <p:nvSpPr>
          <p:cNvPr id="771" name="Google Shape;771;p57"/>
          <p:cNvSpPr txBox="1"/>
          <p:nvPr/>
        </p:nvSpPr>
        <p:spPr>
          <a:xfrm>
            <a:off x="4536627" y="3758386"/>
            <a:ext cx="2374606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Employee_Address</a:t>
            </a:r>
            <a:endParaRPr/>
          </a:p>
        </p:txBody>
      </p:sp>
      <p:sp>
        <p:nvSpPr>
          <p:cNvPr id="772" name="Google Shape;772;p57"/>
          <p:cNvSpPr/>
          <p:nvPr/>
        </p:nvSpPr>
        <p:spPr>
          <a:xfrm>
            <a:off x="7062952" y="1891862"/>
            <a:ext cx="3389586" cy="1866524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8"/>
          <p:cNvSpPr txBox="1">
            <a:spLocks noGrp="1"/>
          </p:cNvSpPr>
          <p:nvPr>
            <p:ph type="body" idx="1"/>
          </p:nvPr>
        </p:nvSpPr>
        <p:spPr>
          <a:xfrm>
            <a:off x="156695" y="1037386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Conditions for BCNF</a:t>
            </a: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 relation R is in Boyce-Codd normal form (BCNF)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if and only if it is in 3NF and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for every functional dependency X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dirty="0"/>
              <a:t> Y, X should be the primary key of the table.		</a:t>
            </a:r>
            <a:r>
              <a:rPr lang="en-US" b="1" dirty="0"/>
              <a:t>OR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 relation R is in Boyce-Codd normal form (BCNF)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if and only if it is in 3NF and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every prime key attribute is non-transitively dependent on the primary key			</a:t>
            </a:r>
            <a:r>
              <a:rPr lang="en-US" b="1" dirty="0"/>
              <a:t>OR</a:t>
            </a:r>
            <a:endParaRPr dirty="0"/>
          </a:p>
          <a:p>
            <a:pPr marL="255588" lvl="0" indent="-25558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 relation R is in Boyce-Codd normal form (BCNF)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if and only if it is in 3NF and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no any prime key attribute is transitively dependent on the primary key</a:t>
            </a:r>
            <a:endParaRPr dirty="0"/>
          </a:p>
          <a:p>
            <a:pPr marL="255588" lvl="0" indent="-1381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/>
          </a:p>
        </p:txBody>
      </p:sp>
      <p:sp>
        <p:nvSpPr>
          <p:cNvPr id="777" name="Google Shape;777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BCNF (Boyce-Codd Normal Form)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779" name="Google Shape;779;p58"/>
          <p:cNvSpPr/>
          <p:nvPr/>
        </p:nvSpPr>
        <p:spPr>
          <a:xfrm>
            <a:off x="503405" y="1427508"/>
            <a:ext cx="6120000" cy="4680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1125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BCNF is </a:t>
            </a:r>
            <a:r>
              <a:rPr lang="en-US" sz="2400" b="1" i="0" u="none" strike="noStrike" cap="none" dirty="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based on the concept of a determinant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400" b="1" i="0" u="none" strike="noStrike" cap="none" dirty="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81" name="Google Shape;781;p58"/>
          <p:cNvSpPr/>
          <p:nvPr/>
        </p:nvSpPr>
        <p:spPr>
          <a:xfrm>
            <a:off x="503405" y="2088677"/>
            <a:ext cx="8388000" cy="7200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1125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in </a:t>
            </a:r>
            <a:r>
              <a:rPr lang="en-US" sz="28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3NF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US" sz="2800" b="1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every determinant should be primary key</a:t>
            </a:r>
            <a:r>
              <a:rPr lang="en-US" sz="2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600" b="1" i="0" u="none" strike="noStrike" cap="none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82" name="Google Shape;782;p58"/>
          <p:cNvSpPr/>
          <p:nvPr/>
        </p:nvSpPr>
        <p:spPr>
          <a:xfrm>
            <a:off x="7984944" y="1326315"/>
            <a:ext cx="410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AccountNO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{Balance, Branch}</a:t>
            </a:r>
            <a:endParaRPr/>
          </a:p>
        </p:txBody>
      </p:sp>
      <p:sp>
        <p:nvSpPr>
          <p:cNvPr id="783" name="Google Shape;783;p58"/>
          <p:cNvSpPr/>
          <p:nvPr/>
        </p:nvSpPr>
        <p:spPr>
          <a:xfrm>
            <a:off x="8335898" y="799723"/>
            <a:ext cx="1476000" cy="442674"/>
          </a:xfrm>
          <a:prstGeom prst="wedgeRoundRectCallout">
            <a:avLst>
              <a:gd name="adj1" fmla="val -20833"/>
              <a:gd name="adj2" fmla="val 103125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Determinant</a:t>
            </a:r>
            <a:endParaRPr sz="24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84" name="Google Shape;784;p58"/>
          <p:cNvSpPr/>
          <p:nvPr/>
        </p:nvSpPr>
        <p:spPr>
          <a:xfrm>
            <a:off x="10559305" y="816049"/>
            <a:ext cx="1476000" cy="442674"/>
          </a:xfrm>
          <a:prstGeom prst="wedgeRoundRectCallout">
            <a:avLst>
              <a:gd name="adj1" fmla="val -20833"/>
              <a:gd name="adj2" fmla="val 103125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Dependent</a:t>
            </a:r>
            <a:endParaRPr sz="24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85" name="Google Shape;785;p58"/>
          <p:cNvSpPr/>
          <p:nvPr/>
        </p:nvSpPr>
        <p:spPr>
          <a:xfrm>
            <a:off x="6705230" y="816049"/>
            <a:ext cx="1476000" cy="442674"/>
          </a:xfrm>
          <a:prstGeom prst="wedgeRoundRectCallout">
            <a:avLst>
              <a:gd name="adj1" fmla="val 20995"/>
              <a:gd name="adj2" fmla="val 49903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Primary Key</a:t>
            </a:r>
            <a:endParaRPr sz="20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86" name="Google Shape;786;p58"/>
          <p:cNvSpPr/>
          <p:nvPr/>
        </p:nvSpPr>
        <p:spPr>
          <a:xfrm rot="10800000" flipH="1">
            <a:off x="7427256" y="1259983"/>
            <a:ext cx="651970" cy="461611"/>
          </a:xfrm>
          <a:prstGeom prst="bentArrow">
            <a:avLst>
              <a:gd name="adj1" fmla="val 13664"/>
              <a:gd name="adj2" fmla="val 25000"/>
              <a:gd name="adj3" fmla="val 26541"/>
              <a:gd name="adj4" fmla="val 41434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b="1" dirty="0"/>
              <a:t>In the Below table Functional dependencies are as follows: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EMP_ID  →  EMP_COUNTRY  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/>
              <a:t>DEPT _NAME →   {DEPT_TYPE, DEPT_NO}  </a:t>
            </a: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</p:txBody>
      </p:sp>
      <p:sp>
        <p:nvSpPr>
          <p:cNvPr id="792" name="Google Shape;792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BCNF (Boyce-Codd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793" name="Google Shape;793;p59"/>
          <p:cNvGraphicFramePr/>
          <p:nvPr>
            <p:extLst>
              <p:ext uri="{D42A27DB-BD31-4B8C-83A1-F6EECF244321}">
                <p14:modId xmlns:p14="http://schemas.microsoft.com/office/powerpoint/2010/main" val="2493885477"/>
              </p:ext>
            </p:extLst>
          </p:nvPr>
        </p:nvGraphicFramePr>
        <p:xfrm>
          <a:off x="664122" y="3804838"/>
          <a:ext cx="8259175" cy="220980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59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3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EMP_ID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EMP_COUNTRY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DEPT_NAME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DEPT_TYPE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DEPT_NO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India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Designing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D394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India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Testing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D394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300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UK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Stores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232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UK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Developing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549</a:t>
                      </a:r>
                      <a:endParaRPr sz="1800" dirty="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4" name="Google Shape;794;p59"/>
          <p:cNvSpPr/>
          <p:nvPr/>
        </p:nvSpPr>
        <p:spPr>
          <a:xfrm>
            <a:off x="664122" y="3212814"/>
            <a:ext cx="2378623" cy="3385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Inter"/>
              <a:buNone/>
            </a:pPr>
            <a:r>
              <a:rPr lang="en-US" sz="1600" b="1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EMPLOYEE table: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9" name="Google Shape;799;p60"/>
          <p:cNvGraphicFramePr/>
          <p:nvPr/>
        </p:nvGraphicFramePr>
        <p:xfrm>
          <a:off x="348804" y="1271367"/>
          <a:ext cx="8479875" cy="223852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69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5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2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EMP_ID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EMP_COUNTRY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DEPT_NAME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DEPT_TYPE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DEPT_NO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India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Designing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D394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India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Testing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D394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300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UK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Stores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232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UK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Developing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549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0" name="Google Shape;800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BCNF (Boyce-Codd Normal Form) [Example]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801" name="Google Shape;801;p60"/>
          <p:cNvSpPr/>
          <p:nvPr/>
        </p:nvSpPr>
        <p:spPr>
          <a:xfrm>
            <a:off x="333036" y="905066"/>
            <a:ext cx="2378623" cy="3385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Inter"/>
              <a:buNone/>
            </a:pPr>
            <a:r>
              <a:rPr lang="en-US" sz="1600" b="1" i="0" u="none" strike="noStrike" cap="non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EMPLOYEE table: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02" name="Google Shape;802;p60"/>
          <p:cNvGraphicFramePr/>
          <p:nvPr/>
        </p:nvGraphicFramePr>
        <p:xfrm>
          <a:off x="333036" y="4784827"/>
          <a:ext cx="3371850" cy="135636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68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EMP_ID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EMP_COUNTRY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India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UK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3" name="Google Shape;803;p60"/>
          <p:cNvSpPr/>
          <p:nvPr/>
        </p:nvSpPr>
        <p:spPr>
          <a:xfrm>
            <a:off x="333035" y="4431286"/>
            <a:ext cx="2378623" cy="3385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EMP_COUNTRY table: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60"/>
          <p:cNvSpPr/>
          <p:nvPr/>
        </p:nvSpPr>
        <p:spPr>
          <a:xfrm>
            <a:off x="3875020" y="3966604"/>
            <a:ext cx="2378623" cy="3385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EMP_DEPT table: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05" name="Google Shape;805;p60"/>
          <p:cNvGraphicFramePr/>
          <p:nvPr/>
        </p:nvGraphicFramePr>
        <p:xfrm>
          <a:off x="3880583" y="4305158"/>
          <a:ext cx="5231850" cy="220980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74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DEPT_NAME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DEPT_TYPE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DEPT_NO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Designing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D394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Testing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D394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300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Stores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232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Developing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549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6" name="Google Shape;806;p60"/>
          <p:cNvSpPr/>
          <p:nvPr/>
        </p:nvSpPr>
        <p:spPr>
          <a:xfrm>
            <a:off x="9340399" y="3797327"/>
            <a:ext cx="2483739" cy="3385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EMP_DEPT_MAPPING table: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07" name="Google Shape;807;p60"/>
          <p:cNvGraphicFramePr/>
          <p:nvPr/>
        </p:nvGraphicFramePr>
        <p:xfrm>
          <a:off x="9340399" y="4151647"/>
          <a:ext cx="2546800" cy="2209800"/>
        </p:xfrm>
        <a:graphic>
          <a:graphicData uri="http://schemas.openxmlformats.org/drawingml/2006/table">
            <a:tbl>
              <a:tblPr>
                <a:noFill/>
                <a:tableStyleId>{D9E06E4E-EA1E-47CB-A569-03130AA0B858}</a:tableStyleId>
              </a:tblPr>
              <a:tblGrid>
                <a:gridCol w="114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DEPT_NO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EMP_ID</a:t>
                      </a:r>
                      <a:endParaRPr sz="1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5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283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5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300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232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5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549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364</a:t>
                      </a:r>
                      <a:endParaRPr sz="1800">
                        <a:solidFill>
                          <a:srgbClr val="33333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1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/>
          </a:p>
        </p:txBody>
      </p:sp>
      <p:sp>
        <p:nvSpPr>
          <p:cNvPr id="812" name="Google Shape;812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BCNF (Boyce-Codd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814" name="Google Shape;814;p61"/>
          <p:cNvGraphicFramePr/>
          <p:nvPr/>
        </p:nvGraphicFramePr>
        <p:xfrm>
          <a:off x="280527" y="1338739"/>
          <a:ext cx="2510775" cy="37032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RNO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Faculty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101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Patel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102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Shah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103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Jadeja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104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Dave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105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Shah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102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Patel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101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Dave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105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Jadeja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15" name="Google Shape;815;p61"/>
          <p:cNvGraphicFramePr/>
          <p:nvPr/>
        </p:nvGraphicFramePr>
        <p:xfrm>
          <a:off x="279348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Student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16" name="Google Shape;816;p61"/>
          <p:cNvCxnSpPr/>
          <p:nvPr/>
        </p:nvCxnSpPr>
        <p:spPr>
          <a:xfrm rot="10800000">
            <a:off x="2925743" y="919747"/>
            <a:ext cx="0" cy="4248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17" name="Google Shape;817;p61"/>
          <p:cNvSpPr txBox="1"/>
          <p:nvPr/>
        </p:nvSpPr>
        <p:spPr>
          <a:xfrm>
            <a:off x="3046325" y="1688938"/>
            <a:ext cx="756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RNO</a:t>
            </a:r>
            <a:endParaRPr/>
          </a:p>
        </p:txBody>
      </p:sp>
      <p:sp>
        <p:nvSpPr>
          <p:cNvPr id="818" name="Google Shape;818;p61"/>
          <p:cNvSpPr txBox="1"/>
          <p:nvPr/>
        </p:nvSpPr>
        <p:spPr>
          <a:xfrm>
            <a:off x="3803445" y="1688938"/>
            <a:ext cx="1152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/>
          </a:p>
        </p:txBody>
      </p:sp>
      <p:sp>
        <p:nvSpPr>
          <p:cNvPr id="819" name="Google Shape;819;p61"/>
          <p:cNvSpPr txBox="1"/>
          <p:nvPr/>
        </p:nvSpPr>
        <p:spPr>
          <a:xfrm>
            <a:off x="4952712" y="1688938"/>
            <a:ext cx="1080000" cy="4608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Faculty</a:t>
            </a:r>
            <a:endParaRPr/>
          </a:p>
        </p:txBody>
      </p:sp>
      <p:cxnSp>
        <p:nvCxnSpPr>
          <p:cNvPr id="820" name="Google Shape;820;p61"/>
          <p:cNvCxnSpPr/>
          <p:nvPr/>
        </p:nvCxnSpPr>
        <p:spPr>
          <a:xfrm>
            <a:off x="5492712" y="2149738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1" name="Google Shape;821;p61"/>
          <p:cNvCxnSpPr/>
          <p:nvPr/>
        </p:nvCxnSpPr>
        <p:spPr>
          <a:xfrm rot="10800000">
            <a:off x="4379445" y="2141613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2" name="Google Shape;822;p61"/>
          <p:cNvCxnSpPr/>
          <p:nvPr/>
        </p:nvCxnSpPr>
        <p:spPr>
          <a:xfrm>
            <a:off x="4356888" y="2507373"/>
            <a:ext cx="1116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3" name="Google Shape;823;p61"/>
          <p:cNvCxnSpPr/>
          <p:nvPr/>
        </p:nvCxnSpPr>
        <p:spPr>
          <a:xfrm rot="10800000">
            <a:off x="3424325" y="1312594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4" name="Google Shape;824;p61"/>
          <p:cNvCxnSpPr/>
          <p:nvPr/>
        </p:nvCxnSpPr>
        <p:spPr>
          <a:xfrm>
            <a:off x="3410572" y="1324638"/>
            <a:ext cx="2088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5" name="Google Shape;825;p61"/>
          <p:cNvCxnSpPr/>
          <p:nvPr/>
        </p:nvCxnSpPr>
        <p:spPr>
          <a:xfrm>
            <a:off x="5492712" y="1312594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26" name="Google Shape;826;p61"/>
          <p:cNvSpPr txBox="1"/>
          <p:nvPr/>
        </p:nvSpPr>
        <p:spPr>
          <a:xfrm>
            <a:off x="4735245" y="2524295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FD2</a:t>
            </a:r>
            <a:endParaRPr/>
          </a:p>
        </p:txBody>
      </p:sp>
      <p:sp>
        <p:nvSpPr>
          <p:cNvPr id="827" name="Google Shape;827;p61"/>
          <p:cNvSpPr txBox="1"/>
          <p:nvPr/>
        </p:nvSpPr>
        <p:spPr>
          <a:xfrm>
            <a:off x="3436900" y="864157"/>
            <a:ext cx="7530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FD1</a:t>
            </a:r>
            <a:endParaRPr/>
          </a:p>
        </p:txBody>
      </p:sp>
      <p:cxnSp>
        <p:nvCxnSpPr>
          <p:cNvPr id="828" name="Google Shape;828;p61"/>
          <p:cNvCxnSpPr/>
          <p:nvPr/>
        </p:nvCxnSpPr>
        <p:spPr>
          <a:xfrm rot="10800000">
            <a:off x="4379445" y="1312594"/>
            <a:ext cx="0" cy="365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9" name="Google Shape;829;p61"/>
          <p:cNvSpPr/>
          <p:nvPr/>
        </p:nvSpPr>
        <p:spPr>
          <a:xfrm>
            <a:off x="6266765" y="1184299"/>
            <a:ext cx="5794056" cy="1440000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FD1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RNO, Subject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Faculty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FD2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Faculty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 {RNO, Subject}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(Transitivity rule)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0" name="Google Shape;830;p61"/>
          <p:cNvSpPr/>
          <p:nvPr/>
        </p:nvSpPr>
        <p:spPr>
          <a:xfrm>
            <a:off x="279348" y="5050856"/>
            <a:ext cx="9120158" cy="1440000"/>
          </a:xfrm>
          <a:prstGeom prst="roundRect">
            <a:avLst>
              <a:gd name="adj" fmla="val 135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Here, one faculty teaches only one subject, but a subject may be taught by more than one faculty.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student can learn a subject from only one faculty.</a:t>
            </a:r>
            <a:endParaRPr/>
          </a:p>
        </p:txBody>
      </p:sp>
      <p:sp>
        <p:nvSpPr>
          <p:cNvPr id="831" name="Google Shape;831;p61"/>
          <p:cNvSpPr/>
          <p:nvPr/>
        </p:nvSpPr>
        <p:spPr>
          <a:xfrm>
            <a:off x="3046325" y="2992882"/>
            <a:ext cx="9014496" cy="863144"/>
          </a:xfrm>
          <a:prstGeom prst="roundRect">
            <a:avLst>
              <a:gd name="adj" fmla="val 6432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FD2, </a:t>
            </a:r>
            <a:r>
              <a:rPr lang="en-US" sz="20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determinant is Faculty which is not a primary key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So student table is not in BCNF.</a:t>
            </a:r>
            <a:endParaRPr/>
          </a:p>
        </p:txBody>
      </p:sp>
      <p:sp>
        <p:nvSpPr>
          <p:cNvPr id="832" name="Google Shape;832;p61"/>
          <p:cNvSpPr/>
          <p:nvPr/>
        </p:nvSpPr>
        <p:spPr>
          <a:xfrm>
            <a:off x="3051308" y="3979166"/>
            <a:ext cx="9014496" cy="1224000"/>
          </a:xfrm>
          <a:prstGeom prst="roundRect">
            <a:avLst>
              <a:gd name="adj" fmla="val 6432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Problem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In this relation </a:t>
            </a:r>
            <a:r>
              <a:rPr lang="en-US" sz="20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 student can learn more than one subject with different faculty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then</a:t>
            </a:r>
            <a:r>
              <a:rPr lang="en-US" sz="20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records will be stored repeatedly for each student, language and faculty combination 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which </a:t>
            </a:r>
            <a:r>
              <a:rPr lang="en-US" sz="20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occupies more space</a:t>
            </a:r>
            <a:r>
              <a:rPr lang="en-US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1127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b="1"/>
          </a:p>
        </p:txBody>
      </p:sp>
      <p:sp>
        <p:nvSpPr>
          <p:cNvPr id="838" name="Google Shape;838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rgbClr val="0070C0"/>
                </a:solidFill>
              </a:rPr>
              <a:t>BCNF (Boyce-Codd Normal Form) [Example]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839" name="Google Shape;839;p62"/>
          <p:cNvGraphicFramePr/>
          <p:nvPr/>
        </p:nvGraphicFramePr>
        <p:xfrm>
          <a:off x="280527" y="1338739"/>
          <a:ext cx="2510775" cy="37032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RNO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Faculty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101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Patel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102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Shah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103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Jadeja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104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Dave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105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Shah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102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Patel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101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Dave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105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Jadeja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40" name="Google Shape;840;p62"/>
          <p:cNvGraphicFramePr/>
          <p:nvPr/>
        </p:nvGraphicFramePr>
        <p:xfrm>
          <a:off x="279348" y="971910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Student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1" name="Google Shape;841;p62"/>
          <p:cNvSpPr/>
          <p:nvPr/>
        </p:nvSpPr>
        <p:spPr>
          <a:xfrm>
            <a:off x="7126256" y="913313"/>
            <a:ext cx="5006255" cy="5540695"/>
          </a:xfrm>
          <a:prstGeom prst="roundRect">
            <a:avLst>
              <a:gd name="adj" fmla="val 135"/>
            </a:avLst>
          </a:prstGeom>
          <a:solidFill>
            <a:srgbClr val="F0D9D8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Solution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Decompose relation in such a way that resultant relations do not have any transitive FD.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Remove transitive dependent prime attribute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from relation that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violets BCNF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them in separate new relation along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 the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non-prime attribute due to which transitive dependency occurred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primary key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new relation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will be this 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non-prime attribute due to which transitive dependency occurred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Keep other attributes same as in that table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same primary key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</a:t>
            </a:r>
            <a:r>
              <a:rPr lang="en-US" sz="2000" b="0" i="0" u="none" strike="noStrike" cap="none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add a prime attribute of other relation into it as a foreign key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000" b="0" i="0" u="none" strike="noStrike" cap="none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842" name="Google Shape;842;p62"/>
          <p:cNvGraphicFramePr/>
          <p:nvPr/>
        </p:nvGraphicFramePr>
        <p:xfrm>
          <a:off x="3545562" y="1338183"/>
          <a:ext cx="1821500" cy="20573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89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Faculty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Subject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Patel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Shah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Jadeja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Dave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DBMS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43" name="Google Shape;843;p62"/>
          <p:cNvGraphicFramePr/>
          <p:nvPr/>
        </p:nvGraphicFramePr>
        <p:xfrm>
          <a:off x="3544383" y="971354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4" name="Google Shape;844;p62"/>
          <p:cNvGraphicFramePr/>
          <p:nvPr/>
        </p:nvGraphicFramePr>
        <p:xfrm>
          <a:off x="5499186" y="1336374"/>
          <a:ext cx="1546850" cy="3703275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6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dk1"/>
                          </a:solidFill>
                        </a:rPr>
                        <a:t>RNO</a:t>
                      </a:r>
                      <a:endParaRPr sz="1800" b="1" u="sng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Faculty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101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Patel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102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Shah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103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Jadeja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104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Dave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105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Shah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102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Patel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101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Dave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105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Jadeja</a:t>
                      </a:r>
                      <a:endParaRPr sz="1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45" name="Google Shape;845;p62"/>
          <p:cNvGraphicFramePr/>
          <p:nvPr/>
        </p:nvGraphicFramePr>
        <p:xfrm>
          <a:off x="5498007" y="969545"/>
          <a:ext cx="1121100" cy="365770"/>
        </p:xfrm>
        <a:graphic>
          <a:graphicData uri="http://schemas.openxmlformats.org/drawingml/2006/table">
            <a:tbl>
              <a:tblPr firstRow="1" bandRow="1">
                <a:noFill/>
                <a:tableStyleId>{FE750480-3EDC-4DEC-B7F8-BA636A272CAC}</a:tableStyleId>
              </a:tblPr>
              <a:tblGrid>
                <a:gridCol w="11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Table-2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6" name="Google Shape;846;p62"/>
          <p:cNvSpPr/>
          <p:nvPr/>
        </p:nvSpPr>
        <p:spPr>
          <a:xfrm>
            <a:off x="2858086" y="3110704"/>
            <a:ext cx="612000" cy="43712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006" y="-81913"/>
            <a:ext cx="10515600" cy="1166906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Example </a:t>
            </a:r>
            <a:r>
              <a:rPr lang="en-US" b="1" dirty="0">
                <a:solidFill>
                  <a:srgbClr val="0070C0"/>
                </a:solidFill>
              </a:rPr>
              <a:t>A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0"/>
            <a:ext cx="622317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000"/>
              <a:t>Library Book Loans — consistent dataset across NFs</a:t>
            </a:r>
          </a:p>
        </p:txBody>
      </p:sp>
    </p:spTree>
    <p:extLst>
      <p:ext uri="{BB962C8B-B14F-4D97-AF65-F5344CB8AC3E}">
        <p14:creationId xmlns:p14="http://schemas.microsoft.com/office/powerpoint/2010/main" val="22475921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165" y="134903"/>
            <a:ext cx="10515600" cy="753101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UNF — Repeating Groups 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305536"/>
            <a:ext cx="52998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Problem: Multiple values per cell ⇒ not atomic ⇒ not in 1NF.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600431"/>
              </p:ext>
            </p:extLst>
          </p:nvPr>
        </p:nvGraphicFramePr>
        <p:xfrm>
          <a:off x="1981200" y="1924953"/>
          <a:ext cx="8229600" cy="36576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LoanID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MemberName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MemberPhone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BooksBorrowed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Authors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DueDates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John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9991112222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DBMS, 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Navathe, Silberschatz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2025-08-15, 2025-08-20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Emma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8885554444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Tanenbaum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2025-08-25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8458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140" y="87770"/>
            <a:ext cx="10515600" cy="82663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1NF — Atomic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381422"/>
            <a:ext cx="709681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Composite Primary Key: (</a:t>
            </a:r>
            <a:r>
              <a:rPr dirty="0" err="1"/>
              <a:t>LoanID</a:t>
            </a:r>
            <a:r>
              <a:rPr dirty="0"/>
              <a:t>, </a:t>
            </a:r>
            <a:r>
              <a:rPr dirty="0" err="1"/>
              <a:t>BookTitle</a:t>
            </a:r>
            <a:r>
              <a:rPr dirty="0"/>
              <a:t>). Member details repeat per loan line.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551209"/>
              </p:ext>
            </p:extLst>
          </p:nvPr>
        </p:nvGraphicFramePr>
        <p:xfrm>
          <a:off x="1981200" y="2076725"/>
          <a:ext cx="8229600" cy="36576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LoanID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MemberName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MemberPhone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BookTitle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DueDate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John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9991112222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Navathe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2025-08-15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John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9991112222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Silberschatz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2025-08-20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Emma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8885554444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Tanenbaum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2025-08-25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5686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019" y="172611"/>
            <a:ext cx="10515600" cy="656948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2NF — Remove Partial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13549"/>
            <a:ext cx="14478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Loan / Member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25322"/>
              </p:ext>
            </p:extLst>
          </p:nvPr>
        </p:nvGraphicFramePr>
        <p:xfrm>
          <a:off x="1981200" y="1758099"/>
          <a:ext cx="3977640" cy="3200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LoanID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MemberName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MemberPhone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John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9991112222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Emma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8885554444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3160" y="1313549"/>
            <a:ext cx="11977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 err="1"/>
              <a:t>LoanDetails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732017"/>
              </p:ext>
            </p:extLst>
          </p:nvPr>
        </p:nvGraphicFramePr>
        <p:xfrm>
          <a:off x="6233160" y="1758099"/>
          <a:ext cx="3977640" cy="3200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994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LoanID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BookTitle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DueDate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Navathe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2025-08-15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Silberschatz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2025-08-20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Tanenbaum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2025-08-25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7061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604" y="68916"/>
            <a:ext cx="10515600" cy="869051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rgbClr val="0070C0"/>
                </a:solidFill>
              </a:rPr>
              <a:t>3NF — Remove Transitive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595882"/>
            <a:ext cx="6319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Book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867171"/>
              </p:ext>
            </p:extLst>
          </p:nvPr>
        </p:nvGraphicFramePr>
        <p:xfrm>
          <a:off x="1981200" y="2040903"/>
          <a:ext cx="3977640" cy="3200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BookTitle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/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Navathe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Silberschatz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Tanenbaum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3160" y="1630838"/>
            <a:ext cx="11977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 err="1"/>
              <a:t>LoanDetails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46100"/>
              </p:ext>
            </p:extLst>
          </p:nvPr>
        </p:nvGraphicFramePr>
        <p:xfrm>
          <a:off x="6233160" y="2026763"/>
          <a:ext cx="3977640" cy="3200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LoanID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BookTitle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DueDate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2025-08-15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2025-08-20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2025-08-25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42955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50" y="170280"/>
            <a:ext cx="9160811" cy="734693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BCNF — Every Determinant Is a </a:t>
            </a:r>
            <a:r>
              <a:rPr b="1" dirty="0" err="1">
                <a:solidFill>
                  <a:srgbClr val="0070C0"/>
                </a:solidFill>
              </a:rPr>
              <a:t>Superkey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1568150"/>
            <a:ext cx="6319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Book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487648"/>
              </p:ext>
            </p:extLst>
          </p:nvPr>
        </p:nvGraphicFramePr>
        <p:xfrm>
          <a:off x="1981200" y="1956062"/>
          <a:ext cx="3977640" cy="3200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BookID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BookTitle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B3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3161" y="1564379"/>
            <a:ext cx="7713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Author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702115"/>
              </p:ext>
            </p:extLst>
          </p:nvPr>
        </p:nvGraphicFramePr>
        <p:xfrm>
          <a:off x="6233160" y="1956062"/>
          <a:ext cx="3977640" cy="3200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BookID</a:t>
                      </a:r>
                      <a:r>
                        <a:rPr dirty="0"/>
                        <a:t>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Navathe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Silberschatz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Tanenbaum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7168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60" y="156734"/>
            <a:ext cx="10515600" cy="563224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Dependencies &amp; Keys — Example </a:t>
            </a:r>
            <a:r>
              <a:rPr lang="en-US" b="1" dirty="0">
                <a:solidFill>
                  <a:srgbClr val="0070C0"/>
                </a:solidFill>
              </a:rPr>
              <a:t>A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26822"/>
            <a:ext cx="8229600" cy="5092832"/>
          </a:xfrm>
        </p:spPr>
        <p:txBody>
          <a:bodyPr>
            <a:normAutofit/>
          </a:bodyPr>
          <a:lstStyle/>
          <a:p>
            <a:r>
              <a:rPr dirty="0"/>
              <a:t>Assumed FDs:</a:t>
            </a:r>
          </a:p>
          <a:p>
            <a:endParaRPr dirty="0"/>
          </a:p>
          <a:p>
            <a:pPr lvl="1"/>
            <a:r>
              <a:rPr dirty="0" err="1"/>
              <a:t>LoanID</a:t>
            </a:r>
            <a:r>
              <a:rPr dirty="0"/>
              <a:t> → </a:t>
            </a:r>
            <a:r>
              <a:rPr dirty="0" err="1"/>
              <a:t>MemberName</a:t>
            </a:r>
            <a:r>
              <a:rPr dirty="0"/>
              <a:t>, </a:t>
            </a:r>
            <a:r>
              <a:rPr dirty="0" err="1"/>
              <a:t>MemberPhone</a:t>
            </a:r>
            <a:endParaRPr dirty="0"/>
          </a:p>
          <a:p>
            <a:pPr lvl="1"/>
            <a:r>
              <a:rPr dirty="0" err="1"/>
              <a:t>BookTitle</a:t>
            </a:r>
            <a:r>
              <a:rPr dirty="0"/>
              <a:t> → Author</a:t>
            </a:r>
          </a:p>
          <a:p>
            <a:pPr lvl="1"/>
            <a:r>
              <a:rPr dirty="0"/>
              <a:t>If one-to-one: Author → </a:t>
            </a:r>
            <a:r>
              <a:rPr dirty="0" err="1"/>
              <a:t>BookTitle</a:t>
            </a:r>
            <a:endParaRPr dirty="0"/>
          </a:p>
          <a:p>
            <a:r>
              <a:rPr dirty="0"/>
              <a:t>Keys after normalization:</a:t>
            </a:r>
          </a:p>
          <a:p>
            <a:endParaRPr dirty="0"/>
          </a:p>
          <a:p>
            <a:pPr lvl="1"/>
            <a:r>
              <a:rPr dirty="0"/>
              <a:t>Loan(</a:t>
            </a:r>
            <a:r>
              <a:rPr dirty="0" err="1"/>
              <a:t>LoanID</a:t>
            </a:r>
            <a:r>
              <a:rPr dirty="0"/>
              <a:t>)</a:t>
            </a:r>
          </a:p>
          <a:p>
            <a:pPr lvl="1"/>
            <a:r>
              <a:rPr dirty="0"/>
              <a:t>Book(</a:t>
            </a:r>
            <a:r>
              <a:rPr dirty="0" err="1"/>
              <a:t>BookID</a:t>
            </a:r>
            <a:r>
              <a:rPr dirty="0"/>
              <a:t>/</a:t>
            </a:r>
            <a:r>
              <a:rPr dirty="0" err="1"/>
              <a:t>BookTitle</a:t>
            </a:r>
            <a:r>
              <a:rPr dirty="0"/>
              <a:t>), Author(</a:t>
            </a:r>
            <a:r>
              <a:rPr dirty="0" err="1"/>
              <a:t>BookID</a:t>
            </a:r>
            <a:r>
              <a:rPr dirty="0"/>
              <a:t>, Author)</a:t>
            </a:r>
          </a:p>
          <a:p>
            <a:pPr lvl="1"/>
            <a:r>
              <a:rPr dirty="0" err="1"/>
              <a:t>LoanDetails</a:t>
            </a:r>
            <a:r>
              <a:rPr dirty="0"/>
              <a:t>(</a:t>
            </a:r>
            <a:r>
              <a:rPr dirty="0" err="1"/>
              <a:t>LoanID</a:t>
            </a:r>
            <a:r>
              <a:rPr dirty="0"/>
              <a:t>, </a:t>
            </a:r>
            <a:r>
              <a:rPr dirty="0" err="1"/>
              <a:t>BookID</a:t>
            </a:r>
            <a:r>
              <a:rPr dirty="0"/>
              <a:t>, </a:t>
            </a:r>
            <a:r>
              <a:rPr dirty="0" err="1"/>
              <a:t>DueDate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3237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128" y="116050"/>
            <a:ext cx="10515600" cy="79835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Example </a:t>
            </a:r>
            <a:r>
              <a:rPr lang="en-US" b="1" dirty="0">
                <a:solidFill>
                  <a:srgbClr val="0070C0"/>
                </a:solidFill>
              </a:rPr>
              <a:t>B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0"/>
            <a:ext cx="709200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000"/>
              <a:t>Student Course Enrollment — consistent dataset across NFs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579" y="163184"/>
            <a:ext cx="10515600" cy="732362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UNF — Repeating Groups 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097281"/>
            <a:ext cx="55435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Problem: Multi-valued attributes violate atomicity ⇒ not in 1NF.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17612"/>
              </p:ext>
            </p:extLst>
          </p:nvPr>
        </p:nvGraphicFramePr>
        <p:xfrm>
          <a:off x="1981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StudentID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StudentName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Course1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Course2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Instructor1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Instructor2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Rao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Mehta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Rao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Prof. Sharma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726" y="116050"/>
            <a:ext cx="10515600" cy="704082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1NF — Atomic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097281"/>
            <a:ext cx="740298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Composite Primary Key: (StudentID, Course). Attributes must depend on the full key.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65128"/>
              </p:ext>
            </p:extLst>
          </p:nvPr>
        </p:nvGraphicFramePr>
        <p:xfrm>
          <a:off x="1981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StudentID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StudentName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Instructor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Rao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Mehta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Rao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Prof. Sharma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165" y="163581"/>
            <a:ext cx="10515600" cy="70792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2NF — Remove Partial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097281"/>
            <a:ext cx="8499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Student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84739"/>
              </p:ext>
            </p:extLst>
          </p:nvPr>
        </p:nvGraphicFramePr>
        <p:xfrm>
          <a:off x="1981200" y="1630838"/>
          <a:ext cx="3977640" cy="2941163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563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StudentID</a:t>
                      </a:r>
                      <a:r>
                        <a:rPr dirty="0"/>
                        <a:t>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StudentName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3160" y="1097281"/>
            <a:ext cx="11208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Enrollment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513601"/>
              </p:ext>
            </p:extLst>
          </p:nvPr>
        </p:nvGraphicFramePr>
        <p:xfrm>
          <a:off x="6233160" y="1653308"/>
          <a:ext cx="3977640" cy="3200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StudentID</a:t>
                      </a:r>
                      <a:r>
                        <a:rPr dirty="0"/>
                        <a:t>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Instructor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Rao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Mehta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Rao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Prof. Sharma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01" y="141402"/>
            <a:ext cx="9144000" cy="844338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rgbClr val="0070C0"/>
                </a:solidFill>
              </a:rPr>
              <a:t>3NF — Remove Transitive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620521"/>
            <a:ext cx="8018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Course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755133"/>
              </p:ext>
            </p:extLst>
          </p:nvPr>
        </p:nvGraphicFramePr>
        <p:xfrm>
          <a:off x="1981200" y="2054860"/>
          <a:ext cx="3977640" cy="27598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Course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Instructor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8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Prof. Rao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Mehta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Prof. Sharma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0" y="1519080"/>
            <a:ext cx="11208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Enrollment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35807"/>
              </p:ext>
            </p:extLst>
          </p:nvPr>
        </p:nvGraphicFramePr>
        <p:xfrm>
          <a:off x="6233160" y="1894840"/>
          <a:ext cx="3977640" cy="286512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StudentID</a:t>
                      </a:r>
                      <a:r>
                        <a:rPr dirty="0"/>
                        <a:t>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Course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74" y="267247"/>
            <a:ext cx="9144000" cy="630335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BCNF — Every Determinant Is a Super</a:t>
            </a:r>
            <a:r>
              <a:rPr lang="en-US" b="1" dirty="0">
                <a:solidFill>
                  <a:srgbClr val="0070C0"/>
                </a:solidFill>
              </a:rPr>
              <a:t> K</a:t>
            </a:r>
            <a:r>
              <a:rPr b="1" dirty="0">
                <a:solidFill>
                  <a:srgbClr val="0070C0"/>
                </a:solidFill>
              </a:rPr>
              <a:t>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1" y="1371601"/>
            <a:ext cx="8018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Course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063063"/>
              </p:ext>
            </p:extLst>
          </p:nvPr>
        </p:nvGraphicFramePr>
        <p:xfrm>
          <a:off x="1981200" y="1701538"/>
          <a:ext cx="3977640" cy="3200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Course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InstructorID</a:t>
                      </a:r>
                      <a:r>
                        <a:rPr dirty="0"/>
                        <a:t>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DBMS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I1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CN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I3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3161" y="1417639"/>
            <a:ext cx="10198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Instructor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922241"/>
              </p:ext>
            </p:extLst>
          </p:nvPr>
        </p:nvGraphicFramePr>
        <p:xfrm>
          <a:off x="6233160" y="1701538"/>
          <a:ext cx="3977640" cy="3200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rPr dirty="0" err="1"/>
                        <a:t>InstructorID</a:t>
                      </a:r>
                      <a:r>
                        <a:rPr dirty="0"/>
                        <a:t>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Calibri"/>
                        </a:defRPr>
                      </a:pPr>
                      <a:r>
                        <a:t>Instructor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I1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Rao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Prof. Mehta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dirty="0"/>
                        <a:t>Prof. Sharma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725" y="194211"/>
            <a:ext cx="10515600" cy="563224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Dependencies &amp; Keys — Example </a:t>
            </a:r>
            <a:r>
              <a:rPr lang="en-US" b="1" dirty="0">
                <a:solidFill>
                  <a:srgbClr val="0070C0"/>
                </a:solidFill>
              </a:rPr>
              <a:t>B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17397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Assumed FDs:</a:t>
            </a:r>
          </a:p>
          <a:p>
            <a:endParaRPr dirty="0"/>
          </a:p>
          <a:p>
            <a:pPr lvl="1"/>
            <a:r>
              <a:rPr dirty="0" err="1"/>
              <a:t>StudentID</a:t>
            </a:r>
            <a:r>
              <a:rPr dirty="0"/>
              <a:t> → </a:t>
            </a:r>
            <a:r>
              <a:rPr dirty="0" err="1"/>
              <a:t>StudentName</a:t>
            </a:r>
            <a:endParaRPr dirty="0"/>
          </a:p>
          <a:p>
            <a:pPr lvl="1"/>
            <a:r>
              <a:rPr dirty="0"/>
              <a:t>Course → Instructor</a:t>
            </a:r>
          </a:p>
          <a:p>
            <a:pPr lvl="1"/>
            <a:r>
              <a:rPr dirty="0"/>
              <a:t>If one-to-one: Instructor → Course</a:t>
            </a:r>
          </a:p>
          <a:p>
            <a:r>
              <a:rPr dirty="0"/>
              <a:t>Keys after normalization:</a:t>
            </a:r>
          </a:p>
          <a:p>
            <a:endParaRPr dirty="0"/>
          </a:p>
          <a:p>
            <a:pPr lvl="1"/>
            <a:r>
              <a:rPr dirty="0"/>
              <a:t>Student(</a:t>
            </a:r>
            <a:r>
              <a:rPr dirty="0" err="1"/>
              <a:t>StudentID</a:t>
            </a:r>
            <a:r>
              <a:rPr dirty="0"/>
              <a:t>)</a:t>
            </a:r>
          </a:p>
          <a:p>
            <a:pPr lvl="1"/>
            <a:r>
              <a:rPr dirty="0"/>
              <a:t>Course(Course</a:t>
            </a:r>
            <a:r>
              <a:rPr lang="en-IN" dirty="0"/>
              <a:t>ID</a:t>
            </a:r>
            <a:r>
              <a:rPr dirty="0"/>
              <a:t>) / Instructor(</a:t>
            </a:r>
            <a:r>
              <a:rPr dirty="0" err="1"/>
              <a:t>InstructorID</a:t>
            </a:r>
            <a:r>
              <a:rPr dirty="0"/>
              <a:t>)</a:t>
            </a:r>
          </a:p>
          <a:p>
            <a:pPr lvl="1"/>
            <a:r>
              <a:rPr dirty="0"/>
              <a:t>Enrollment(</a:t>
            </a:r>
            <a:r>
              <a:rPr dirty="0" err="1"/>
              <a:t>StudentID</a:t>
            </a:r>
            <a:r>
              <a:rPr dirty="0"/>
              <a:t>, Course)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7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 database is never normalized to 5</a:t>
            </a:r>
            <a:r>
              <a:rPr lang="en-US" baseline="30000">
                <a:latin typeface="Cambria Math"/>
                <a:ea typeface="Cambria Math"/>
                <a:cs typeface="Cambria Math"/>
                <a:sym typeface="Cambria Math"/>
              </a:rPr>
              <a:t>th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NF.</a:t>
            </a:r>
            <a:endParaRPr/>
          </a:p>
          <a:p>
            <a:pPr marL="342900" lvl="0" indent="-190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Once the database is converted to BCNF, it is assumed that all the redundancies of the table has been removed.</a:t>
            </a:r>
            <a:endParaRPr/>
          </a:p>
          <a:p>
            <a:pPr marL="342900" lvl="0" indent="-190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 database is converted to 4</a:t>
            </a:r>
            <a:r>
              <a:rPr lang="en-US" baseline="30000">
                <a:latin typeface="Cambria Math"/>
                <a:ea typeface="Cambria Math"/>
                <a:cs typeface="Cambria Math"/>
                <a:sym typeface="Cambria Math"/>
              </a:rPr>
              <a:t>th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NF and 5</a:t>
            </a:r>
            <a:r>
              <a:rPr lang="en-US" baseline="30000">
                <a:latin typeface="Cambria Math"/>
                <a:ea typeface="Cambria Math"/>
                <a:cs typeface="Cambria Math"/>
                <a:sym typeface="Cambria Math"/>
              </a:rPr>
              <a:t>th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NF only if the database administrator doubts the presence of redundant data in the database.</a:t>
            </a:r>
            <a:endParaRPr/>
          </a:p>
          <a:p>
            <a:pPr marL="342900" lvl="0" indent="-190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In real world, the database is created by considering all aspects like data duplication, storage size, data access and many more.</a:t>
            </a:r>
            <a:endParaRPr/>
          </a:p>
          <a:p>
            <a:pPr marL="342900" lvl="0" indent="-190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Thus, Normalization of database may or may not be required.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968" name="Google Shape;968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mbria"/>
              <a:buNone/>
            </a:pPr>
            <a:r>
              <a:rPr lang="en-US" b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Normal Forms (Special Note)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5"/>
          <p:cNvSpPr txBox="1"/>
          <p:nvPr/>
        </p:nvSpPr>
        <p:spPr>
          <a:xfrm>
            <a:off x="218388" y="2613412"/>
            <a:ext cx="11755223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7705</Words>
  <Application>Microsoft Office PowerPoint</Application>
  <PresentationFormat>Widescreen</PresentationFormat>
  <Paragraphs>2078</Paragraphs>
  <Slides>82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6" baseType="lpstr">
      <vt:lpstr>Calibri Light</vt:lpstr>
      <vt:lpstr>Calibri</vt:lpstr>
      <vt:lpstr>Proxima Nova</vt:lpstr>
      <vt:lpstr>Roboto Condensed</vt:lpstr>
      <vt:lpstr>Inter</vt:lpstr>
      <vt:lpstr>Wingdings 3</vt:lpstr>
      <vt:lpstr>Cambria Math</vt:lpstr>
      <vt:lpstr>Arial</vt:lpstr>
      <vt:lpstr>Wingdings</vt:lpstr>
      <vt:lpstr>times new roman</vt:lpstr>
      <vt:lpstr>Roboto Condensed Light</vt:lpstr>
      <vt:lpstr>Noto Sans Symbols</vt:lpstr>
      <vt:lpstr>Cambria</vt:lpstr>
      <vt:lpstr>1_Office Theme</vt:lpstr>
      <vt:lpstr>PowerPoint Presentation</vt:lpstr>
      <vt:lpstr>PowerPoint Presentation</vt:lpstr>
      <vt:lpstr>Super Key</vt:lpstr>
      <vt:lpstr>Candidate Key</vt:lpstr>
      <vt:lpstr>What is Functional Dependency (FD)?</vt:lpstr>
      <vt:lpstr>Diagrammatic representation of FD</vt:lpstr>
      <vt:lpstr>Types of Functional Dependency (FD)</vt:lpstr>
      <vt:lpstr>Types of Functional Dependency (FD)</vt:lpstr>
      <vt:lpstr>Types of Functional Dependency (FD)</vt:lpstr>
      <vt:lpstr>Types of Functional Dependency (FD)</vt:lpstr>
      <vt:lpstr>Armstrong's axioms OR Inference rules</vt:lpstr>
      <vt:lpstr>What is closure of a set of FDs?</vt:lpstr>
      <vt:lpstr>Closure of a set of FDs [Example]</vt:lpstr>
      <vt:lpstr>Closure of a set of FDs [Example Cont.]</vt:lpstr>
      <vt:lpstr>Closure of a set of FDs [Example Cont.]</vt:lpstr>
      <vt:lpstr>Closure of a set of FDs [Example Cont.]</vt:lpstr>
      <vt:lpstr>Closure of a set of FDs [Example Cont.]</vt:lpstr>
      <vt:lpstr>Closure of a set of FDs [Example]</vt:lpstr>
      <vt:lpstr>Closure of a set of FDs [Example]</vt:lpstr>
      <vt:lpstr>What is a closure of attribute sets?</vt:lpstr>
      <vt:lpstr>What is a closure of attribute sets?</vt:lpstr>
      <vt:lpstr>Closure of attribute sets [Example]</vt:lpstr>
      <vt:lpstr>Closure of attribute sets [Exercise]</vt:lpstr>
      <vt:lpstr>Example: </vt:lpstr>
      <vt:lpstr>Finding a Candidate Key</vt:lpstr>
      <vt:lpstr>Finding a Candidate Key</vt:lpstr>
      <vt:lpstr>Finding a Candidate Key</vt:lpstr>
      <vt:lpstr>What is extraneous attributes?</vt:lpstr>
      <vt:lpstr>What is canonical cover?</vt:lpstr>
      <vt:lpstr>Algorithm to find canonical cover</vt:lpstr>
      <vt:lpstr>Canonical cover [Example]</vt:lpstr>
      <vt:lpstr>What is decomposition?</vt:lpstr>
      <vt:lpstr>Lossy decomposition</vt:lpstr>
      <vt:lpstr>Lossless decomposition</vt:lpstr>
      <vt:lpstr>What is an anomaly in database design?</vt:lpstr>
      <vt:lpstr>Insert anomaly</vt:lpstr>
      <vt:lpstr>Delete anomaly</vt:lpstr>
      <vt:lpstr>Update anomaly</vt:lpstr>
      <vt:lpstr>How to deal with insert, delete and update anomaly</vt:lpstr>
      <vt:lpstr>What is normalization?</vt:lpstr>
      <vt:lpstr>How many normal forms are there?</vt:lpstr>
      <vt:lpstr>1NF (First Normal Form)</vt:lpstr>
      <vt:lpstr>1NF (First Normal Form)  [Example - Composite attribute]</vt:lpstr>
      <vt:lpstr>1NF (First Normal Form) [Example - Composite attribute]</vt:lpstr>
      <vt:lpstr>1NF (First Normal Form) [Example - Multivalued attribute]</vt:lpstr>
      <vt:lpstr>1NF (First Normal Form) [Example - Multivalued attribute]</vt:lpstr>
      <vt:lpstr>1NF (First Normal Form) [Example]</vt:lpstr>
      <vt:lpstr>1NF (First Normal Form) [Example]</vt:lpstr>
      <vt:lpstr>2NF (Second Normal Form)</vt:lpstr>
      <vt:lpstr>2NF (Second Normal Form) [Example]</vt:lpstr>
      <vt:lpstr>2NF (Second Normal Form) [Example]</vt:lpstr>
      <vt:lpstr>2NF (Second Normal Form) [Example]</vt:lpstr>
      <vt:lpstr>2NF (Second Normal Form) [Example]</vt:lpstr>
      <vt:lpstr>2NF (Second Normal Form) [Example]</vt:lpstr>
      <vt:lpstr>3NF (Third Normal Form)</vt:lpstr>
      <vt:lpstr>3NF (Third Normal Form) [Example]</vt:lpstr>
      <vt:lpstr>3NF (Third Normal Form) [Example]</vt:lpstr>
      <vt:lpstr>3NF (Third Normal Form) [Example]</vt:lpstr>
      <vt:lpstr>3NF (Third Normal Form) [Example]</vt:lpstr>
      <vt:lpstr>3NF (Third Normal Form) [Example]</vt:lpstr>
      <vt:lpstr>3NF (Third Normal Form) [Example]</vt:lpstr>
      <vt:lpstr>BCNF (Boyce-Codd Normal Form)</vt:lpstr>
      <vt:lpstr>BCNF (Boyce-Codd Normal Form) [Example]</vt:lpstr>
      <vt:lpstr>BCNF (Boyce-Codd Normal Form) [Example]</vt:lpstr>
      <vt:lpstr>BCNF (Boyce-Codd Normal Form) [Example]</vt:lpstr>
      <vt:lpstr>BCNF (Boyce-Codd Normal Form) [Example]</vt:lpstr>
      <vt:lpstr>Example A</vt:lpstr>
      <vt:lpstr>UNF — Repeating Groups Present</vt:lpstr>
      <vt:lpstr>1NF — Atomic Rows</vt:lpstr>
      <vt:lpstr>2NF — Remove Partial Dependency</vt:lpstr>
      <vt:lpstr>3NF — Remove Transitive Dependency</vt:lpstr>
      <vt:lpstr>BCNF — Every Determinant Is a Superkey</vt:lpstr>
      <vt:lpstr>Dependencies &amp; Keys — Example A</vt:lpstr>
      <vt:lpstr>Example B</vt:lpstr>
      <vt:lpstr>UNF — Repeating Groups Present</vt:lpstr>
      <vt:lpstr>1NF — Atomic Rows</vt:lpstr>
      <vt:lpstr>2NF — Remove Partial Dependency</vt:lpstr>
      <vt:lpstr>3NF — Remove Transitive Dependency</vt:lpstr>
      <vt:lpstr>BCNF — Every Determinant Is a Super Key</vt:lpstr>
      <vt:lpstr>Dependencies &amp; Keys — Example B</vt:lpstr>
      <vt:lpstr>Normal Forms (Special Note)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Twinkle Keshvani</cp:lastModifiedBy>
  <cp:revision>25</cp:revision>
  <dcterms:created xsi:type="dcterms:W3CDTF">2020-05-01T05:09:15Z</dcterms:created>
  <dcterms:modified xsi:type="dcterms:W3CDTF">2025-09-09T05:57:41Z</dcterms:modified>
</cp:coreProperties>
</file>