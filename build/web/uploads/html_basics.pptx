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3"/>
    <p:sldId id="257" r:id="rId4"/>
    <p:sldId id="335" r:id="rId5"/>
    <p:sldId id="336" r:id="rId6"/>
    <p:sldId id="337" r:id="rId7"/>
    <p:sldId id="338" r:id="rId8"/>
    <p:sldId id="339" r:id="rId9"/>
    <p:sldId id="308"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2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375" r:id="rId47"/>
    <p:sldId id="376" r:id="rId48"/>
    <p:sldId id="377" r:id="rId49"/>
    <p:sldId id="378" r:id="rId50"/>
    <p:sldId id="379" r:id="rId51"/>
    <p:sldId id="380" r:id="rId52"/>
    <p:sldId id="381" r:id="rId53"/>
    <p:sldId id="382" r:id="rId54"/>
    <p:sldId id="383" r:id="rId55"/>
    <p:sldId id="384" r:id="rId56"/>
    <p:sldId id="385" r:id="rId57"/>
    <p:sldId id="386" r:id="rId58"/>
    <p:sldId id="387" r:id="rId59"/>
    <p:sldId id="388" r:id="rId60"/>
    <p:sldId id="389" r:id="rId61"/>
    <p:sldId id="392" r:id="rId62"/>
    <p:sldId id="394" r:id="rId63"/>
    <p:sldId id="393" r:id="rId64"/>
    <p:sldId id="396" r:id="rId65"/>
    <p:sldId id="391" r:id="rId66"/>
    <p:sldId id="395" r:id="rId67"/>
    <p:sldId id="397" r:id="rId68"/>
    <p:sldId id="398" r:id="rId69"/>
    <p:sldId id="334" r:id="rId7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howGuides="1">
      <p:cViewPr varScale="1">
        <p:scale>
          <a:sx n="76" d="100"/>
          <a:sy n="76" d="100"/>
        </p:scale>
        <p:origin x="869" y="53"/>
      </p:cViewPr>
      <p:guideLst>
        <p:guide orient="horz" pos="2880"/>
        <p:guide pos="2160"/>
      </p:guideLst>
    </p:cSldViewPr>
  </p:slideViewPr>
  <p:notesTextViewPr>
    <p:cViewPr>
      <p:scale>
        <a:sx n="100" d="100"/>
        <a:sy n="100" d="100"/>
      </p:scale>
      <p:origin x="0" y="0"/>
    </p:cViewPr>
  </p:notesTextViewPr>
  <p:notesViewPr>
    <p:cSldViewPr>
      <p:cViewPr varScale="1">
        <p:scale>
          <a:sx n="81" d="100"/>
          <a:sy n="81" d="100"/>
        </p:scale>
        <p:origin x="1382"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81E6FE9-C2FD-40D6-AFDA-7466CADFB5F8}" type="datetimeFigureOut">
              <a:rPr lang="en-IN" smtClean="0"/>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FF1E3AF-1A71-4790-9592-BA0BA37C725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dirty="0"/>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b="0" i="0">
                <a:solidFill>
                  <a:schemeClr val="tx1"/>
                </a:solidFill>
                <a:latin typeface="Cambria" panose="02040503050406030204" pitchFamily="18" charset="0"/>
                <a:ea typeface="Cambria" panose="02040503050406030204" pitchFamily="18"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Cambria"/>
                <a:cs typeface="Cambria"/>
              </a:defRPr>
            </a:lvl1pPr>
          </a:lstStyle>
          <a:p>
            <a:endParaRPr dirty="0"/>
          </a:p>
        </p:txBody>
      </p:sp>
      <p:sp>
        <p:nvSpPr>
          <p:cNvPr id="3" name="Holder 3"/>
          <p:cNvSpPr>
            <a:spLocks noGrp="1"/>
          </p:cNvSpPr>
          <p:nvPr>
            <p:ph type="body" idx="1"/>
          </p:nvPr>
        </p:nvSpPr>
        <p:spPr>
          <a:xfrm>
            <a:off x="1250950" y="1289050"/>
            <a:ext cx="9309100" cy="276999"/>
          </a:xfrm>
        </p:spPr>
        <p:txBody>
          <a:bodyPr lIns="0" tIns="0" rIns="0" bIns="0"/>
          <a:lstStyle>
            <a:lvl1pPr marL="285750" indent="-285750">
              <a:buFont typeface="Arial" panose="020B0604020202090204" pitchFamily="34" charset="0"/>
              <a:buChar char="•"/>
              <a:defRPr b="0" i="0">
                <a:solidFill>
                  <a:schemeClr val="tx1"/>
                </a:solidFill>
                <a:latin typeface="Cambria" panose="02040503050406030204" pitchFamily="18" charset="0"/>
                <a:ea typeface="Cambria" panose="02040503050406030204" pitchFamily="18"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Cambria"/>
                <a:cs typeface="Cambria"/>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187566" y="1439925"/>
            <a:ext cx="3525520" cy="3767454"/>
          </a:xfrm>
          <a:prstGeom prst="rect">
            <a:avLst/>
          </a:prstGeom>
        </p:spPr>
        <p:txBody>
          <a:bodyPr wrap="square" lIns="0" tIns="0" rIns="0" bIns="0">
            <a:spAutoFit/>
          </a:bodyPr>
          <a:lstStyle>
            <a:lvl1pPr>
              <a:defRPr sz="2400" b="1" i="0">
                <a:solidFill>
                  <a:schemeClr val="tx1"/>
                </a:solidFill>
                <a:latin typeface="Times New Roman" panose="02020503050405090304"/>
                <a:cs typeface="Times New Roman" panose="02020503050405090304"/>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Cambria"/>
                <a:cs typeface="Cambria"/>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9D9D9"/>
          </a:solidFill>
        </p:spPr>
        <p:txBody>
          <a:bodyPr wrap="square" lIns="0" tIns="0" rIns="0" bIns="0" rtlCol="0"/>
          <a:lstStyle/>
          <a:p/>
        </p:txBody>
      </p:sp>
      <p:pic>
        <p:nvPicPr>
          <p:cNvPr id="17" name="bg object 17"/>
          <p:cNvPicPr/>
          <p:nvPr/>
        </p:nvPicPr>
        <p:blipFill>
          <a:blip r:embed="rId6" cstate="print"/>
          <a:stretch>
            <a:fillRect/>
          </a:stretch>
        </p:blipFill>
        <p:spPr>
          <a:xfrm>
            <a:off x="9372600" y="0"/>
            <a:ext cx="2442972" cy="976884"/>
          </a:xfrm>
          <a:prstGeom prst="rect">
            <a:avLst/>
          </a:prstGeom>
        </p:spPr>
      </p:pic>
      <p:sp>
        <p:nvSpPr>
          <p:cNvPr id="18" name="bg object 18"/>
          <p:cNvSpPr/>
          <p:nvPr/>
        </p:nvSpPr>
        <p:spPr>
          <a:xfrm>
            <a:off x="381762" y="762762"/>
            <a:ext cx="11435080" cy="5788660"/>
          </a:xfrm>
          <a:custGeom>
            <a:avLst/>
            <a:gdLst/>
            <a:ahLst/>
            <a:cxnLst/>
            <a:rect l="l" t="t" r="r" b="b"/>
            <a:pathLst>
              <a:path w="11435080" h="5788659">
                <a:moveTo>
                  <a:pt x="10469880" y="0"/>
                </a:moveTo>
                <a:lnTo>
                  <a:pt x="964691" y="0"/>
                </a:lnTo>
                <a:lnTo>
                  <a:pt x="916544" y="1180"/>
                </a:lnTo>
                <a:lnTo>
                  <a:pt x="869008" y="4685"/>
                </a:lnTo>
                <a:lnTo>
                  <a:pt x="822138" y="10460"/>
                </a:lnTo>
                <a:lnTo>
                  <a:pt x="775989" y="18448"/>
                </a:lnTo>
                <a:lnTo>
                  <a:pt x="730618" y="28595"/>
                </a:lnTo>
                <a:lnTo>
                  <a:pt x="686078" y="40845"/>
                </a:lnTo>
                <a:lnTo>
                  <a:pt x="642426" y="55144"/>
                </a:lnTo>
                <a:lnTo>
                  <a:pt x="599716" y="71435"/>
                </a:lnTo>
                <a:lnTo>
                  <a:pt x="558005" y="89664"/>
                </a:lnTo>
                <a:lnTo>
                  <a:pt x="517346" y="109775"/>
                </a:lnTo>
                <a:lnTo>
                  <a:pt x="477796" y="131713"/>
                </a:lnTo>
                <a:lnTo>
                  <a:pt x="439410" y="155422"/>
                </a:lnTo>
                <a:lnTo>
                  <a:pt x="402242" y="180848"/>
                </a:lnTo>
                <a:lnTo>
                  <a:pt x="366349" y="207936"/>
                </a:lnTo>
                <a:lnTo>
                  <a:pt x="331786" y="236629"/>
                </a:lnTo>
                <a:lnTo>
                  <a:pt x="298607" y="266873"/>
                </a:lnTo>
                <a:lnTo>
                  <a:pt x="266868" y="298612"/>
                </a:lnTo>
                <a:lnTo>
                  <a:pt x="236625" y="331791"/>
                </a:lnTo>
                <a:lnTo>
                  <a:pt x="207932" y="366354"/>
                </a:lnTo>
                <a:lnTo>
                  <a:pt x="180845" y="402248"/>
                </a:lnTo>
                <a:lnTo>
                  <a:pt x="155419" y="439415"/>
                </a:lnTo>
                <a:lnTo>
                  <a:pt x="131710" y="477802"/>
                </a:lnTo>
                <a:lnTo>
                  <a:pt x="109772" y="517352"/>
                </a:lnTo>
                <a:lnTo>
                  <a:pt x="89662" y="558010"/>
                </a:lnTo>
                <a:lnTo>
                  <a:pt x="71433" y="599722"/>
                </a:lnTo>
                <a:lnTo>
                  <a:pt x="55142" y="642431"/>
                </a:lnTo>
                <a:lnTo>
                  <a:pt x="40844" y="686083"/>
                </a:lnTo>
                <a:lnTo>
                  <a:pt x="28594" y="730622"/>
                </a:lnTo>
                <a:lnTo>
                  <a:pt x="18447" y="775993"/>
                </a:lnTo>
                <a:lnTo>
                  <a:pt x="10459" y="822141"/>
                </a:lnTo>
                <a:lnTo>
                  <a:pt x="4685" y="869010"/>
                </a:lnTo>
                <a:lnTo>
                  <a:pt x="1180" y="916545"/>
                </a:lnTo>
                <a:lnTo>
                  <a:pt x="0" y="964691"/>
                </a:lnTo>
                <a:lnTo>
                  <a:pt x="0" y="4823460"/>
                </a:lnTo>
                <a:lnTo>
                  <a:pt x="1180" y="4871607"/>
                </a:lnTo>
                <a:lnTo>
                  <a:pt x="4685" y="4919143"/>
                </a:lnTo>
                <a:lnTo>
                  <a:pt x="10459" y="4966013"/>
                </a:lnTo>
                <a:lnTo>
                  <a:pt x="18447" y="5012162"/>
                </a:lnTo>
                <a:lnTo>
                  <a:pt x="28594" y="5057533"/>
                </a:lnTo>
                <a:lnTo>
                  <a:pt x="40844" y="5102073"/>
                </a:lnTo>
                <a:lnTo>
                  <a:pt x="55142" y="5145725"/>
                </a:lnTo>
                <a:lnTo>
                  <a:pt x="71433" y="5188435"/>
                </a:lnTo>
                <a:lnTo>
                  <a:pt x="89662" y="5230146"/>
                </a:lnTo>
                <a:lnTo>
                  <a:pt x="109772" y="5270805"/>
                </a:lnTo>
                <a:lnTo>
                  <a:pt x="131710" y="5310355"/>
                </a:lnTo>
                <a:lnTo>
                  <a:pt x="155419" y="5348741"/>
                </a:lnTo>
                <a:lnTo>
                  <a:pt x="180845" y="5385909"/>
                </a:lnTo>
                <a:lnTo>
                  <a:pt x="207932" y="5421802"/>
                </a:lnTo>
                <a:lnTo>
                  <a:pt x="236625" y="5456365"/>
                </a:lnTo>
                <a:lnTo>
                  <a:pt x="266868" y="5489544"/>
                </a:lnTo>
                <a:lnTo>
                  <a:pt x="298607" y="5521283"/>
                </a:lnTo>
                <a:lnTo>
                  <a:pt x="331786" y="5551526"/>
                </a:lnTo>
                <a:lnTo>
                  <a:pt x="366349" y="5580219"/>
                </a:lnTo>
                <a:lnTo>
                  <a:pt x="402242" y="5607306"/>
                </a:lnTo>
                <a:lnTo>
                  <a:pt x="439410" y="5632732"/>
                </a:lnTo>
                <a:lnTo>
                  <a:pt x="477796" y="5656441"/>
                </a:lnTo>
                <a:lnTo>
                  <a:pt x="517346" y="5678379"/>
                </a:lnTo>
                <a:lnTo>
                  <a:pt x="558005" y="5698489"/>
                </a:lnTo>
                <a:lnTo>
                  <a:pt x="599716" y="5716718"/>
                </a:lnTo>
                <a:lnTo>
                  <a:pt x="642426" y="5733009"/>
                </a:lnTo>
                <a:lnTo>
                  <a:pt x="686078" y="5747307"/>
                </a:lnTo>
                <a:lnTo>
                  <a:pt x="730618" y="5759557"/>
                </a:lnTo>
                <a:lnTo>
                  <a:pt x="775989" y="5769704"/>
                </a:lnTo>
                <a:lnTo>
                  <a:pt x="822138" y="5777692"/>
                </a:lnTo>
                <a:lnTo>
                  <a:pt x="869008" y="5783466"/>
                </a:lnTo>
                <a:lnTo>
                  <a:pt x="916544" y="5786971"/>
                </a:lnTo>
                <a:lnTo>
                  <a:pt x="964691" y="5788152"/>
                </a:lnTo>
                <a:lnTo>
                  <a:pt x="10469880" y="5788152"/>
                </a:lnTo>
                <a:lnTo>
                  <a:pt x="10518026" y="5786971"/>
                </a:lnTo>
                <a:lnTo>
                  <a:pt x="10565561" y="5783466"/>
                </a:lnTo>
                <a:lnTo>
                  <a:pt x="10612430" y="5777692"/>
                </a:lnTo>
                <a:lnTo>
                  <a:pt x="10658578" y="5769704"/>
                </a:lnTo>
                <a:lnTo>
                  <a:pt x="10703949" y="5759557"/>
                </a:lnTo>
                <a:lnTo>
                  <a:pt x="10748488" y="5747307"/>
                </a:lnTo>
                <a:lnTo>
                  <a:pt x="10792140" y="5733009"/>
                </a:lnTo>
                <a:lnTo>
                  <a:pt x="10834849" y="5716718"/>
                </a:lnTo>
                <a:lnTo>
                  <a:pt x="10876561" y="5698489"/>
                </a:lnTo>
                <a:lnTo>
                  <a:pt x="10917219" y="5678379"/>
                </a:lnTo>
                <a:lnTo>
                  <a:pt x="10956769" y="5656441"/>
                </a:lnTo>
                <a:lnTo>
                  <a:pt x="10995156" y="5632732"/>
                </a:lnTo>
                <a:lnTo>
                  <a:pt x="11032323" y="5607306"/>
                </a:lnTo>
                <a:lnTo>
                  <a:pt x="11068217" y="5580219"/>
                </a:lnTo>
                <a:lnTo>
                  <a:pt x="11102780" y="5551526"/>
                </a:lnTo>
                <a:lnTo>
                  <a:pt x="11135959" y="5521283"/>
                </a:lnTo>
                <a:lnTo>
                  <a:pt x="11167698" y="5489544"/>
                </a:lnTo>
                <a:lnTo>
                  <a:pt x="11197942" y="5456365"/>
                </a:lnTo>
                <a:lnTo>
                  <a:pt x="11226635" y="5421802"/>
                </a:lnTo>
                <a:lnTo>
                  <a:pt x="11253723" y="5385909"/>
                </a:lnTo>
                <a:lnTo>
                  <a:pt x="11279149" y="5348741"/>
                </a:lnTo>
                <a:lnTo>
                  <a:pt x="11302858" y="5310355"/>
                </a:lnTo>
                <a:lnTo>
                  <a:pt x="11324796" y="5270805"/>
                </a:lnTo>
                <a:lnTo>
                  <a:pt x="11344907" y="5230146"/>
                </a:lnTo>
                <a:lnTo>
                  <a:pt x="11363136" y="5188435"/>
                </a:lnTo>
                <a:lnTo>
                  <a:pt x="11379427" y="5145725"/>
                </a:lnTo>
                <a:lnTo>
                  <a:pt x="11393726" y="5102073"/>
                </a:lnTo>
                <a:lnTo>
                  <a:pt x="11405976" y="5057533"/>
                </a:lnTo>
                <a:lnTo>
                  <a:pt x="11416123" y="5012162"/>
                </a:lnTo>
                <a:lnTo>
                  <a:pt x="11424111" y="4966013"/>
                </a:lnTo>
                <a:lnTo>
                  <a:pt x="11429886" y="4919143"/>
                </a:lnTo>
                <a:lnTo>
                  <a:pt x="11433391" y="4871607"/>
                </a:lnTo>
                <a:lnTo>
                  <a:pt x="11434572" y="4823460"/>
                </a:lnTo>
                <a:lnTo>
                  <a:pt x="11434572" y="964691"/>
                </a:lnTo>
                <a:lnTo>
                  <a:pt x="11433391" y="916545"/>
                </a:lnTo>
                <a:lnTo>
                  <a:pt x="11429886" y="869010"/>
                </a:lnTo>
                <a:lnTo>
                  <a:pt x="11424111" y="822141"/>
                </a:lnTo>
                <a:lnTo>
                  <a:pt x="11416123" y="775993"/>
                </a:lnTo>
                <a:lnTo>
                  <a:pt x="11405976" y="730622"/>
                </a:lnTo>
                <a:lnTo>
                  <a:pt x="11393726" y="686083"/>
                </a:lnTo>
                <a:lnTo>
                  <a:pt x="11379427" y="642431"/>
                </a:lnTo>
                <a:lnTo>
                  <a:pt x="11363136" y="599722"/>
                </a:lnTo>
                <a:lnTo>
                  <a:pt x="11344907" y="558010"/>
                </a:lnTo>
                <a:lnTo>
                  <a:pt x="11324796" y="517352"/>
                </a:lnTo>
                <a:lnTo>
                  <a:pt x="11302858" y="477802"/>
                </a:lnTo>
                <a:lnTo>
                  <a:pt x="11279149" y="439415"/>
                </a:lnTo>
                <a:lnTo>
                  <a:pt x="11253723" y="402248"/>
                </a:lnTo>
                <a:lnTo>
                  <a:pt x="11226635" y="366354"/>
                </a:lnTo>
                <a:lnTo>
                  <a:pt x="11197942" y="331791"/>
                </a:lnTo>
                <a:lnTo>
                  <a:pt x="11167698" y="298612"/>
                </a:lnTo>
                <a:lnTo>
                  <a:pt x="11135959" y="266873"/>
                </a:lnTo>
                <a:lnTo>
                  <a:pt x="11102780" y="236629"/>
                </a:lnTo>
                <a:lnTo>
                  <a:pt x="11068217" y="207936"/>
                </a:lnTo>
                <a:lnTo>
                  <a:pt x="11032323" y="180848"/>
                </a:lnTo>
                <a:lnTo>
                  <a:pt x="10995156" y="155422"/>
                </a:lnTo>
                <a:lnTo>
                  <a:pt x="10956769" y="131713"/>
                </a:lnTo>
                <a:lnTo>
                  <a:pt x="10917219" y="109775"/>
                </a:lnTo>
                <a:lnTo>
                  <a:pt x="10876561" y="89664"/>
                </a:lnTo>
                <a:lnTo>
                  <a:pt x="10834849" y="71435"/>
                </a:lnTo>
                <a:lnTo>
                  <a:pt x="10792140" y="55144"/>
                </a:lnTo>
                <a:lnTo>
                  <a:pt x="10748488" y="40845"/>
                </a:lnTo>
                <a:lnTo>
                  <a:pt x="10703949" y="28595"/>
                </a:lnTo>
                <a:lnTo>
                  <a:pt x="10658578" y="18448"/>
                </a:lnTo>
                <a:lnTo>
                  <a:pt x="10612430" y="10460"/>
                </a:lnTo>
                <a:lnTo>
                  <a:pt x="10565561" y="4685"/>
                </a:lnTo>
                <a:lnTo>
                  <a:pt x="10518026" y="1180"/>
                </a:lnTo>
                <a:lnTo>
                  <a:pt x="10469880" y="0"/>
                </a:lnTo>
                <a:close/>
              </a:path>
            </a:pathLst>
          </a:custGeom>
          <a:solidFill>
            <a:srgbClr val="FFFFFF"/>
          </a:solidFill>
        </p:spPr>
        <p:txBody>
          <a:bodyPr wrap="square" lIns="0" tIns="0" rIns="0" bIns="0" rtlCol="0"/>
          <a:lstStyle/>
          <a:p/>
        </p:txBody>
      </p:sp>
      <p:sp>
        <p:nvSpPr>
          <p:cNvPr id="19" name="bg object 19"/>
          <p:cNvSpPr/>
          <p:nvPr/>
        </p:nvSpPr>
        <p:spPr>
          <a:xfrm>
            <a:off x="381762" y="762762"/>
            <a:ext cx="11435080" cy="5788660"/>
          </a:xfrm>
          <a:custGeom>
            <a:avLst/>
            <a:gdLst/>
            <a:ahLst/>
            <a:cxnLst/>
            <a:rect l="l" t="t" r="r" b="b"/>
            <a:pathLst>
              <a:path w="11435080" h="5788659">
                <a:moveTo>
                  <a:pt x="0" y="964691"/>
                </a:moveTo>
                <a:lnTo>
                  <a:pt x="1180" y="916545"/>
                </a:lnTo>
                <a:lnTo>
                  <a:pt x="4685" y="869010"/>
                </a:lnTo>
                <a:lnTo>
                  <a:pt x="10459" y="822141"/>
                </a:lnTo>
                <a:lnTo>
                  <a:pt x="18447" y="775993"/>
                </a:lnTo>
                <a:lnTo>
                  <a:pt x="28594" y="730622"/>
                </a:lnTo>
                <a:lnTo>
                  <a:pt x="40844" y="686083"/>
                </a:lnTo>
                <a:lnTo>
                  <a:pt x="55142" y="642431"/>
                </a:lnTo>
                <a:lnTo>
                  <a:pt x="71433" y="599722"/>
                </a:lnTo>
                <a:lnTo>
                  <a:pt x="89662" y="558010"/>
                </a:lnTo>
                <a:lnTo>
                  <a:pt x="109772" y="517352"/>
                </a:lnTo>
                <a:lnTo>
                  <a:pt x="131710" y="477802"/>
                </a:lnTo>
                <a:lnTo>
                  <a:pt x="155419" y="439415"/>
                </a:lnTo>
                <a:lnTo>
                  <a:pt x="180845" y="402248"/>
                </a:lnTo>
                <a:lnTo>
                  <a:pt x="207932" y="366354"/>
                </a:lnTo>
                <a:lnTo>
                  <a:pt x="236625" y="331791"/>
                </a:lnTo>
                <a:lnTo>
                  <a:pt x="266868" y="298612"/>
                </a:lnTo>
                <a:lnTo>
                  <a:pt x="298607" y="266873"/>
                </a:lnTo>
                <a:lnTo>
                  <a:pt x="331786" y="236629"/>
                </a:lnTo>
                <a:lnTo>
                  <a:pt x="366349" y="207936"/>
                </a:lnTo>
                <a:lnTo>
                  <a:pt x="402242" y="180848"/>
                </a:lnTo>
                <a:lnTo>
                  <a:pt x="439410" y="155422"/>
                </a:lnTo>
                <a:lnTo>
                  <a:pt x="477796" y="131713"/>
                </a:lnTo>
                <a:lnTo>
                  <a:pt x="517346" y="109775"/>
                </a:lnTo>
                <a:lnTo>
                  <a:pt x="558005" y="89664"/>
                </a:lnTo>
                <a:lnTo>
                  <a:pt x="599716" y="71435"/>
                </a:lnTo>
                <a:lnTo>
                  <a:pt x="642426" y="55144"/>
                </a:lnTo>
                <a:lnTo>
                  <a:pt x="686078" y="40845"/>
                </a:lnTo>
                <a:lnTo>
                  <a:pt x="730618" y="28595"/>
                </a:lnTo>
                <a:lnTo>
                  <a:pt x="775989" y="18448"/>
                </a:lnTo>
                <a:lnTo>
                  <a:pt x="822138" y="10460"/>
                </a:lnTo>
                <a:lnTo>
                  <a:pt x="869008" y="4685"/>
                </a:lnTo>
                <a:lnTo>
                  <a:pt x="916544" y="1180"/>
                </a:lnTo>
                <a:lnTo>
                  <a:pt x="964691" y="0"/>
                </a:lnTo>
                <a:lnTo>
                  <a:pt x="10469880" y="0"/>
                </a:lnTo>
                <a:lnTo>
                  <a:pt x="10518026" y="1180"/>
                </a:lnTo>
                <a:lnTo>
                  <a:pt x="10565561" y="4685"/>
                </a:lnTo>
                <a:lnTo>
                  <a:pt x="10612430" y="10460"/>
                </a:lnTo>
                <a:lnTo>
                  <a:pt x="10658578" y="18448"/>
                </a:lnTo>
                <a:lnTo>
                  <a:pt x="10703949" y="28595"/>
                </a:lnTo>
                <a:lnTo>
                  <a:pt x="10748488" y="40845"/>
                </a:lnTo>
                <a:lnTo>
                  <a:pt x="10792140" y="55144"/>
                </a:lnTo>
                <a:lnTo>
                  <a:pt x="10834849" y="71435"/>
                </a:lnTo>
                <a:lnTo>
                  <a:pt x="10876561" y="89664"/>
                </a:lnTo>
                <a:lnTo>
                  <a:pt x="10917219" y="109775"/>
                </a:lnTo>
                <a:lnTo>
                  <a:pt x="10956769" y="131713"/>
                </a:lnTo>
                <a:lnTo>
                  <a:pt x="10995156" y="155422"/>
                </a:lnTo>
                <a:lnTo>
                  <a:pt x="11032323" y="180848"/>
                </a:lnTo>
                <a:lnTo>
                  <a:pt x="11068217" y="207936"/>
                </a:lnTo>
                <a:lnTo>
                  <a:pt x="11102780" y="236629"/>
                </a:lnTo>
                <a:lnTo>
                  <a:pt x="11135959" y="266873"/>
                </a:lnTo>
                <a:lnTo>
                  <a:pt x="11167698" y="298612"/>
                </a:lnTo>
                <a:lnTo>
                  <a:pt x="11197942" y="331791"/>
                </a:lnTo>
                <a:lnTo>
                  <a:pt x="11226635" y="366354"/>
                </a:lnTo>
                <a:lnTo>
                  <a:pt x="11253723" y="402248"/>
                </a:lnTo>
                <a:lnTo>
                  <a:pt x="11279149" y="439415"/>
                </a:lnTo>
                <a:lnTo>
                  <a:pt x="11302858" y="477802"/>
                </a:lnTo>
                <a:lnTo>
                  <a:pt x="11324796" y="517352"/>
                </a:lnTo>
                <a:lnTo>
                  <a:pt x="11344907" y="558010"/>
                </a:lnTo>
                <a:lnTo>
                  <a:pt x="11363136" y="599722"/>
                </a:lnTo>
                <a:lnTo>
                  <a:pt x="11379427" y="642431"/>
                </a:lnTo>
                <a:lnTo>
                  <a:pt x="11393726" y="686083"/>
                </a:lnTo>
                <a:lnTo>
                  <a:pt x="11405976" y="730622"/>
                </a:lnTo>
                <a:lnTo>
                  <a:pt x="11416123" y="775993"/>
                </a:lnTo>
                <a:lnTo>
                  <a:pt x="11424111" y="822141"/>
                </a:lnTo>
                <a:lnTo>
                  <a:pt x="11429886" y="869010"/>
                </a:lnTo>
                <a:lnTo>
                  <a:pt x="11433391" y="916545"/>
                </a:lnTo>
                <a:lnTo>
                  <a:pt x="11434572" y="964691"/>
                </a:lnTo>
                <a:lnTo>
                  <a:pt x="11434572" y="4823460"/>
                </a:lnTo>
                <a:lnTo>
                  <a:pt x="11433391" y="4871607"/>
                </a:lnTo>
                <a:lnTo>
                  <a:pt x="11429886" y="4919143"/>
                </a:lnTo>
                <a:lnTo>
                  <a:pt x="11424111" y="4966013"/>
                </a:lnTo>
                <a:lnTo>
                  <a:pt x="11416123" y="5012162"/>
                </a:lnTo>
                <a:lnTo>
                  <a:pt x="11405976" y="5057533"/>
                </a:lnTo>
                <a:lnTo>
                  <a:pt x="11393726" y="5102073"/>
                </a:lnTo>
                <a:lnTo>
                  <a:pt x="11379427" y="5145725"/>
                </a:lnTo>
                <a:lnTo>
                  <a:pt x="11363136" y="5188435"/>
                </a:lnTo>
                <a:lnTo>
                  <a:pt x="11344907" y="5230146"/>
                </a:lnTo>
                <a:lnTo>
                  <a:pt x="11324796" y="5270805"/>
                </a:lnTo>
                <a:lnTo>
                  <a:pt x="11302858" y="5310355"/>
                </a:lnTo>
                <a:lnTo>
                  <a:pt x="11279149" y="5348741"/>
                </a:lnTo>
                <a:lnTo>
                  <a:pt x="11253723" y="5385909"/>
                </a:lnTo>
                <a:lnTo>
                  <a:pt x="11226635" y="5421802"/>
                </a:lnTo>
                <a:lnTo>
                  <a:pt x="11197942" y="5456365"/>
                </a:lnTo>
                <a:lnTo>
                  <a:pt x="11167698" y="5489544"/>
                </a:lnTo>
                <a:lnTo>
                  <a:pt x="11135959" y="5521283"/>
                </a:lnTo>
                <a:lnTo>
                  <a:pt x="11102780" y="5551526"/>
                </a:lnTo>
                <a:lnTo>
                  <a:pt x="11068217" y="5580219"/>
                </a:lnTo>
                <a:lnTo>
                  <a:pt x="11032323" y="5607306"/>
                </a:lnTo>
                <a:lnTo>
                  <a:pt x="10995156" y="5632732"/>
                </a:lnTo>
                <a:lnTo>
                  <a:pt x="10956769" y="5656441"/>
                </a:lnTo>
                <a:lnTo>
                  <a:pt x="10917219" y="5678379"/>
                </a:lnTo>
                <a:lnTo>
                  <a:pt x="10876561" y="5698489"/>
                </a:lnTo>
                <a:lnTo>
                  <a:pt x="10834849" y="5716718"/>
                </a:lnTo>
                <a:lnTo>
                  <a:pt x="10792140" y="5733009"/>
                </a:lnTo>
                <a:lnTo>
                  <a:pt x="10748488" y="5747307"/>
                </a:lnTo>
                <a:lnTo>
                  <a:pt x="10703949" y="5759557"/>
                </a:lnTo>
                <a:lnTo>
                  <a:pt x="10658578" y="5769704"/>
                </a:lnTo>
                <a:lnTo>
                  <a:pt x="10612430" y="5777692"/>
                </a:lnTo>
                <a:lnTo>
                  <a:pt x="10565561" y="5783466"/>
                </a:lnTo>
                <a:lnTo>
                  <a:pt x="10518026" y="5786971"/>
                </a:lnTo>
                <a:lnTo>
                  <a:pt x="10469880" y="5788152"/>
                </a:lnTo>
                <a:lnTo>
                  <a:pt x="964691" y="5788152"/>
                </a:lnTo>
                <a:lnTo>
                  <a:pt x="916544" y="5786971"/>
                </a:lnTo>
                <a:lnTo>
                  <a:pt x="869008" y="5783466"/>
                </a:lnTo>
                <a:lnTo>
                  <a:pt x="822138" y="5777692"/>
                </a:lnTo>
                <a:lnTo>
                  <a:pt x="775989" y="5769704"/>
                </a:lnTo>
                <a:lnTo>
                  <a:pt x="730618" y="5759557"/>
                </a:lnTo>
                <a:lnTo>
                  <a:pt x="686078" y="5747307"/>
                </a:lnTo>
                <a:lnTo>
                  <a:pt x="642426" y="5733009"/>
                </a:lnTo>
                <a:lnTo>
                  <a:pt x="599716" y="5716718"/>
                </a:lnTo>
                <a:lnTo>
                  <a:pt x="558005" y="5698489"/>
                </a:lnTo>
                <a:lnTo>
                  <a:pt x="517346" y="5678379"/>
                </a:lnTo>
                <a:lnTo>
                  <a:pt x="477796" y="5656441"/>
                </a:lnTo>
                <a:lnTo>
                  <a:pt x="439410" y="5632732"/>
                </a:lnTo>
                <a:lnTo>
                  <a:pt x="402242" y="5607306"/>
                </a:lnTo>
                <a:lnTo>
                  <a:pt x="366349" y="5580219"/>
                </a:lnTo>
                <a:lnTo>
                  <a:pt x="331786" y="5551526"/>
                </a:lnTo>
                <a:lnTo>
                  <a:pt x="298607" y="5521283"/>
                </a:lnTo>
                <a:lnTo>
                  <a:pt x="266868" y="5489544"/>
                </a:lnTo>
                <a:lnTo>
                  <a:pt x="236625" y="5456365"/>
                </a:lnTo>
                <a:lnTo>
                  <a:pt x="207932" y="5421802"/>
                </a:lnTo>
                <a:lnTo>
                  <a:pt x="180845" y="5385909"/>
                </a:lnTo>
                <a:lnTo>
                  <a:pt x="155419" y="5348741"/>
                </a:lnTo>
                <a:lnTo>
                  <a:pt x="131710" y="5310355"/>
                </a:lnTo>
                <a:lnTo>
                  <a:pt x="109772" y="5270805"/>
                </a:lnTo>
                <a:lnTo>
                  <a:pt x="89662" y="5230146"/>
                </a:lnTo>
                <a:lnTo>
                  <a:pt x="71433" y="5188435"/>
                </a:lnTo>
                <a:lnTo>
                  <a:pt x="55142" y="5145725"/>
                </a:lnTo>
                <a:lnTo>
                  <a:pt x="40844" y="5102073"/>
                </a:lnTo>
                <a:lnTo>
                  <a:pt x="28594" y="5057533"/>
                </a:lnTo>
                <a:lnTo>
                  <a:pt x="18447" y="5012162"/>
                </a:lnTo>
                <a:lnTo>
                  <a:pt x="10459" y="4966013"/>
                </a:lnTo>
                <a:lnTo>
                  <a:pt x="4685" y="4919143"/>
                </a:lnTo>
                <a:lnTo>
                  <a:pt x="1180" y="4871607"/>
                </a:lnTo>
                <a:lnTo>
                  <a:pt x="0" y="4823460"/>
                </a:lnTo>
                <a:lnTo>
                  <a:pt x="0" y="964691"/>
                </a:lnTo>
                <a:close/>
              </a:path>
            </a:pathLst>
          </a:custGeom>
          <a:ln w="25908">
            <a:solidFill>
              <a:srgbClr val="FFFFFF"/>
            </a:solidFill>
          </a:ln>
        </p:spPr>
        <p:txBody>
          <a:bodyPr wrap="square" lIns="0" tIns="0" rIns="0" bIns="0" rtlCol="0"/>
          <a:lstStyle/>
          <a:p/>
        </p:txBody>
      </p:sp>
      <p:sp>
        <p:nvSpPr>
          <p:cNvPr id="2" name="Holder 2"/>
          <p:cNvSpPr>
            <a:spLocks noGrp="1"/>
          </p:cNvSpPr>
          <p:nvPr>
            <p:ph type="title"/>
          </p:nvPr>
        </p:nvSpPr>
        <p:spPr>
          <a:xfrm>
            <a:off x="380491" y="9271"/>
            <a:ext cx="8004175"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p:txBody>
      </p:sp>
      <p:sp>
        <p:nvSpPr>
          <p:cNvPr id="3" name="Holder 3"/>
          <p:cNvSpPr>
            <a:spLocks noGrp="1"/>
          </p:cNvSpPr>
          <p:nvPr>
            <p:ph type="body" idx="1"/>
          </p:nvPr>
        </p:nvSpPr>
        <p:spPr>
          <a:xfrm>
            <a:off x="1250950" y="1289050"/>
            <a:ext cx="9309100" cy="445058"/>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342900" indent="-342900">
        <a:lnSpc>
          <a:spcPct val="150000"/>
        </a:lnSpc>
        <a:buFont typeface="Arial" panose="020B0604020202090204" pitchFamily="34" charset="0"/>
        <a:buChar char="•"/>
        <a:defRPr sz="2200">
          <a:latin typeface="Cambria" panose="02040503050406030204" pitchFamily="18" charset="0"/>
          <a:ea typeface="Cambria" panose="02040503050406030204" pitchFamily="18" charset="0"/>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javatpoint.com/http-full-for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xample.com/"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xample.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xample.com/" TargetMode="Externa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xample.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0"/>
            <a:ext cx="12192000" cy="6845806"/>
          </a:xfrm>
          <a:prstGeom prst="rect">
            <a:avLst/>
          </a:prstGeom>
        </p:spPr>
      </p:pic>
      <p:sp>
        <p:nvSpPr>
          <p:cNvPr id="3" name="object 3"/>
          <p:cNvSpPr txBox="1"/>
          <p:nvPr/>
        </p:nvSpPr>
        <p:spPr>
          <a:xfrm>
            <a:off x="794105" y="4964568"/>
            <a:ext cx="3442970" cy="736600"/>
          </a:xfrm>
          <a:prstGeom prst="rect">
            <a:avLst/>
          </a:prstGeom>
        </p:spPr>
        <p:txBody>
          <a:bodyPr vert="horz" wrap="square" lIns="0" tIns="95885" rIns="0" bIns="0" rtlCol="0">
            <a:spAutoFit/>
          </a:bodyPr>
          <a:lstStyle/>
          <a:p>
            <a:pPr marL="12700">
              <a:lnSpc>
                <a:spcPct val="100000"/>
              </a:lnSpc>
              <a:spcBef>
                <a:spcPts val="755"/>
              </a:spcBef>
            </a:pPr>
            <a:r>
              <a:rPr sz="1600" dirty="0">
                <a:solidFill>
                  <a:srgbClr val="FFFFFF"/>
                </a:solidFill>
                <a:latin typeface="Arial MT"/>
                <a:cs typeface="Arial MT"/>
              </a:rPr>
              <a:t>Department</a:t>
            </a:r>
            <a:r>
              <a:rPr sz="1600" spc="80" dirty="0">
                <a:solidFill>
                  <a:srgbClr val="FFFFFF"/>
                </a:solidFill>
                <a:latin typeface="Arial MT"/>
                <a:cs typeface="Arial MT"/>
              </a:rPr>
              <a:t> </a:t>
            </a:r>
            <a:r>
              <a:rPr sz="1600" dirty="0">
                <a:solidFill>
                  <a:srgbClr val="FFFFFF"/>
                </a:solidFill>
                <a:latin typeface="Arial MT"/>
                <a:cs typeface="Arial MT"/>
              </a:rPr>
              <a:t>of</a:t>
            </a:r>
            <a:r>
              <a:rPr sz="1600" spc="55" dirty="0">
                <a:solidFill>
                  <a:srgbClr val="FFFFFF"/>
                </a:solidFill>
                <a:latin typeface="Arial MT"/>
                <a:cs typeface="Arial MT"/>
              </a:rPr>
              <a:t> </a:t>
            </a:r>
            <a:r>
              <a:rPr sz="1600" dirty="0">
                <a:solidFill>
                  <a:srgbClr val="FFFFFF"/>
                </a:solidFill>
                <a:latin typeface="Arial MT"/>
                <a:cs typeface="Arial MT"/>
              </a:rPr>
              <a:t>Computer</a:t>
            </a:r>
            <a:r>
              <a:rPr sz="1600" spc="50" dirty="0">
                <a:solidFill>
                  <a:srgbClr val="FFFFFF"/>
                </a:solidFill>
                <a:latin typeface="Arial MT"/>
                <a:cs typeface="Arial MT"/>
              </a:rPr>
              <a:t> </a:t>
            </a:r>
            <a:r>
              <a:rPr sz="1600" spc="-10" dirty="0">
                <a:solidFill>
                  <a:srgbClr val="FFFFFF"/>
                </a:solidFill>
                <a:latin typeface="Arial MT"/>
                <a:cs typeface="Arial MT"/>
              </a:rPr>
              <a:t>Engineering</a:t>
            </a:r>
            <a:endParaRPr sz="1600" dirty="0">
              <a:latin typeface="Arial MT"/>
              <a:cs typeface="Arial MT"/>
            </a:endParaRPr>
          </a:p>
          <a:p>
            <a:pPr marL="12700">
              <a:lnSpc>
                <a:spcPct val="100000"/>
              </a:lnSpc>
              <a:spcBef>
                <a:spcPts val="795"/>
              </a:spcBef>
            </a:pPr>
            <a:endParaRPr sz="1850" dirty="0">
              <a:latin typeface="Arial MT"/>
              <a:cs typeface="Arial MT"/>
            </a:endParaRPr>
          </a:p>
        </p:txBody>
      </p:sp>
      <p:sp>
        <p:nvSpPr>
          <p:cNvPr id="4" name="object 4"/>
          <p:cNvSpPr txBox="1">
            <a:spLocks noGrp="1"/>
          </p:cNvSpPr>
          <p:nvPr>
            <p:ph type="title"/>
          </p:nvPr>
        </p:nvSpPr>
        <p:spPr>
          <a:xfrm>
            <a:off x="317931" y="1328014"/>
            <a:ext cx="6312002" cy="998350"/>
          </a:xfrm>
          <a:prstGeom prst="rect">
            <a:avLst/>
          </a:prstGeom>
        </p:spPr>
        <p:txBody>
          <a:bodyPr vert="horz" wrap="square" lIns="0" tIns="13335" rIns="0" bIns="0" rtlCol="0">
            <a:spAutoFit/>
          </a:bodyPr>
          <a:lstStyle/>
          <a:p>
            <a:r>
              <a:rPr lang="en-US" sz="3200" b="1" dirty="0">
                <a:solidFill>
                  <a:schemeClr val="bg1"/>
                </a:solidFill>
                <a:ea typeface="Open Sans Bold" panose="020B0806030504020204" pitchFamily="34" charset="0"/>
                <a:cs typeface="Open Sans Bold" panose="020B0806030504020204" pitchFamily="34" charset="0"/>
              </a:rPr>
              <a:t>Introduction to Web and HTML 	</a:t>
            </a:r>
            <a:endParaRPr lang="en-US" sz="3200" b="1" dirty="0">
              <a:solidFill>
                <a:schemeClr val="bg1"/>
              </a:solidFill>
              <a:ea typeface="Open Sans Bold" panose="020B0806030504020204" pitchFamily="34" charset="0"/>
              <a:cs typeface="Open Sans Bold" panose="020B0806030504020204" pitchFamily="34" charset="0"/>
            </a:endParaRPr>
          </a:p>
        </p:txBody>
      </p:sp>
      <p:sp>
        <p:nvSpPr>
          <p:cNvPr id="5" name="object 5"/>
          <p:cNvSpPr txBox="1"/>
          <p:nvPr/>
        </p:nvSpPr>
        <p:spPr>
          <a:xfrm>
            <a:off x="516737" y="2078406"/>
            <a:ext cx="2957195" cy="1454244"/>
          </a:xfrm>
          <a:prstGeom prst="rect">
            <a:avLst/>
          </a:prstGeom>
        </p:spPr>
        <p:txBody>
          <a:bodyPr vert="horz" wrap="square" lIns="0" tIns="165100" rIns="0" bIns="0" rtlCol="0">
            <a:spAutoFit/>
          </a:bodyPr>
          <a:lstStyle/>
          <a:p>
            <a:pPr marL="12700">
              <a:lnSpc>
                <a:spcPct val="100000"/>
              </a:lnSpc>
              <a:spcBef>
                <a:spcPts val="1300"/>
              </a:spcBef>
            </a:pPr>
            <a:r>
              <a:rPr sz="2600" spc="-90" dirty="0">
                <a:solidFill>
                  <a:srgbClr val="FFFFFF"/>
                </a:solidFill>
                <a:latin typeface="Arial MT"/>
                <a:cs typeface="Arial MT"/>
              </a:rPr>
              <a:t>Unit-</a:t>
            </a:r>
            <a:r>
              <a:rPr lang="en-US" sz="2600" spc="-50" dirty="0">
                <a:solidFill>
                  <a:srgbClr val="FFFFFF"/>
                </a:solidFill>
                <a:latin typeface="Arial MT"/>
                <a:cs typeface="Arial MT"/>
              </a:rPr>
              <a:t>1</a:t>
            </a:r>
            <a:endParaRPr lang="en-US" sz="2600" dirty="0">
              <a:latin typeface="Arial MT"/>
              <a:cs typeface="Arial MT"/>
            </a:endParaRPr>
          </a:p>
          <a:p>
            <a:pPr marL="12700">
              <a:lnSpc>
                <a:spcPct val="100000"/>
              </a:lnSpc>
              <a:spcBef>
                <a:spcPts val="1300"/>
              </a:spcBef>
            </a:pPr>
            <a:r>
              <a:rPr lang="en-US" spc="-10" dirty="0">
                <a:solidFill>
                  <a:srgbClr val="FFFFFF"/>
                </a:solidFill>
                <a:latin typeface="Arial MT"/>
              </a:rPr>
              <a:t>Web Technology</a:t>
            </a:r>
            <a:r>
              <a:rPr sz="1800" spc="-10" dirty="0">
                <a:solidFill>
                  <a:srgbClr val="FFFFFF"/>
                </a:solidFill>
                <a:latin typeface="Arial MT"/>
                <a:cs typeface="Arial MT"/>
              </a:rPr>
              <a:t>/01CE1401</a:t>
            </a:r>
            <a:endParaRPr lang="en-US" sz="1800" spc="-10" dirty="0">
              <a:solidFill>
                <a:srgbClr val="FFFFFF"/>
              </a:solidFill>
              <a:latin typeface="Arial MT"/>
              <a:cs typeface="Arial MT"/>
            </a:endParaRPr>
          </a:p>
          <a:p>
            <a:pPr marL="12700">
              <a:lnSpc>
                <a:spcPct val="100000"/>
              </a:lnSpc>
              <a:spcBef>
                <a:spcPts val="1300"/>
              </a:spcBef>
            </a:pPr>
            <a:r>
              <a:rPr lang="en-IN" spc="-10" dirty="0">
                <a:solidFill>
                  <a:srgbClr val="FFFFFF"/>
                </a:solidFill>
                <a:latin typeface="Arial MT"/>
                <a:cs typeface="Arial MT"/>
              </a:rPr>
              <a:t>Prepared By: Kajal </a:t>
            </a:r>
            <a:r>
              <a:rPr lang="en-IN" spc="-10" dirty="0" err="1">
                <a:solidFill>
                  <a:srgbClr val="FFFFFF"/>
                </a:solidFill>
                <a:latin typeface="Arial MT"/>
                <a:cs typeface="Arial MT"/>
              </a:rPr>
              <a:t>Tanchak</a:t>
            </a:r>
            <a:endParaRPr sz="1800" dirty="0">
              <a:latin typeface="Arial MT"/>
              <a:cs typeface="Arial MT"/>
            </a:endParaRPr>
          </a:p>
        </p:txBody>
      </p:sp>
      <p:pic>
        <p:nvPicPr>
          <p:cNvPr id="6" name="object 6"/>
          <p:cNvPicPr/>
          <p:nvPr/>
        </p:nvPicPr>
        <p:blipFill>
          <a:blip r:embed="rId2" cstate="print"/>
          <a:stretch>
            <a:fillRect/>
          </a:stretch>
        </p:blipFill>
        <p:spPr>
          <a:xfrm>
            <a:off x="794004" y="3782567"/>
            <a:ext cx="2648711" cy="1181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0" y="838200"/>
            <a:ext cx="11201909" cy="6141425"/>
          </a:xfrm>
          <a:prstGeom prst="rect">
            <a:avLst/>
          </a:prstGeom>
        </p:spPr>
        <p:txBody>
          <a:bodyPr vert="horz" wrap="square" lIns="0" tIns="12065" rIns="0" bIns="0" rtlCol="0">
            <a:spAutoFit/>
          </a:bodyPr>
          <a:lstStyle/>
          <a:p>
            <a:pPr marL="285750" indent="-285750">
              <a:lnSpc>
                <a:spcPct val="150000"/>
              </a:lnSpc>
              <a:buFont typeface="Arial" panose="020B0604020202090204" pitchFamily="34" charset="0"/>
              <a:buChar char="•"/>
            </a:pPr>
            <a:r>
              <a:rPr lang="en-US" sz="2200" dirty="0">
                <a:latin typeface="Cambria" panose="02040503050406030204" pitchFamily="18" charset="0"/>
                <a:ea typeface="Cambria" panose="02040503050406030204" pitchFamily="18" charset="0"/>
              </a:rPr>
              <a:t>Introduction to Web Servers,</a:t>
            </a:r>
            <a:endParaRPr lang="en-US" sz="2200" dirty="0">
              <a:latin typeface="Cambria" panose="02040503050406030204" pitchFamily="18" charset="0"/>
              <a:ea typeface="Cambria" panose="02040503050406030204" pitchFamily="18" charset="0"/>
            </a:endParaRPr>
          </a:p>
          <a:p>
            <a:pPr marL="285750" indent="-285750">
              <a:lnSpc>
                <a:spcPct val="150000"/>
              </a:lnSpc>
              <a:buFont typeface="Arial" panose="020B0604020202090204" pitchFamily="34" charset="0"/>
              <a:buChar char="•"/>
            </a:pPr>
            <a:r>
              <a:rPr lang="en-US" sz="2200" dirty="0">
                <a:latin typeface="Cambria" panose="02040503050406030204" pitchFamily="18" charset="0"/>
                <a:ea typeface="Cambria" panose="02040503050406030204" pitchFamily="18" charset="0"/>
              </a:rPr>
              <a:t>HTTP request and Response Model, </a:t>
            </a:r>
            <a:endParaRPr lang="en-US" sz="2200" dirty="0">
              <a:latin typeface="Cambria" panose="02040503050406030204" pitchFamily="18" charset="0"/>
              <a:ea typeface="Cambria" panose="02040503050406030204" pitchFamily="18" charset="0"/>
            </a:endParaRPr>
          </a:p>
          <a:p>
            <a:pPr marL="285750" indent="-285750">
              <a:lnSpc>
                <a:spcPct val="150000"/>
              </a:lnSpc>
              <a:buFont typeface="Arial" panose="020B0604020202090204" pitchFamily="34" charset="0"/>
              <a:buChar char="•"/>
            </a:pPr>
            <a:r>
              <a:rPr lang="en-US" sz="2200" dirty="0">
                <a:latin typeface="Cambria" panose="02040503050406030204" pitchFamily="18" charset="0"/>
                <a:ea typeface="Cambria" panose="02040503050406030204" pitchFamily="18" charset="0"/>
              </a:rPr>
              <a:t>Structure of HTML, </a:t>
            </a:r>
            <a:endParaRPr lang="en-US" sz="2200" dirty="0">
              <a:latin typeface="Cambria" panose="02040503050406030204" pitchFamily="18" charset="0"/>
              <a:ea typeface="Cambria" panose="02040503050406030204" pitchFamily="18" charset="0"/>
            </a:endParaRPr>
          </a:p>
          <a:p>
            <a:pPr marL="285750" indent="-285750">
              <a:lnSpc>
                <a:spcPct val="150000"/>
              </a:lnSpc>
              <a:buFont typeface="Arial" panose="020B0604020202090204" pitchFamily="34" charset="0"/>
              <a:buChar char="•"/>
            </a:pPr>
            <a:r>
              <a:rPr lang="en-US" sz="2200" dirty="0">
                <a:latin typeface="Cambria" panose="02040503050406030204" pitchFamily="18" charset="0"/>
                <a:ea typeface="Cambria" panose="02040503050406030204" pitchFamily="18" charset="0"/>
              </a:rPr>
              <a:t>Doctypes in HTML, </a:t>
            </a:r>
            <a:endParaRPr lang="en-US" sz="2200" dirty="0">
              <a:latin typeface="Cambria" panose="02040503050406030204" pitchFamily="18" charset="0"/>
              <a:ea typeface="Cambria" panose="02040503050406030204" pitchFamily="18" charset="0"/>
            </a:endParaRPr>
          </a:p>
          <a:p>
            <a:pPr marL="285750" indent="-285750">
              <a:lnSpc>
                <a:spcPct val="150000"/>
              </a:lnSpc>
              <a:buFont typeface="Arial" panose="020B0604020202090204" pitchFamily="34" charset="0"/>
              <a:buChar char="•"/>
            </a:pPr>
            <a:r>
              <a:rPr lang="en-US" sz="2200" dirty="0">
                <a:latin typeface="Cambria" panose="02040503050406030204" pitchFamily="18" charset="0"/>
                <a:ea typeface="Cambria" panose="02040503050406030204" pitchFamily="18" charset="0"/>
              </a:rPr>
              <a:t>HTML Tags, Elements and attributes</a:t>
            </a:r>
            <a:endParaRPr lang="en-US" sz="2200" dirty="0">
              <a:latin typeface="Cambria" panose="02040503050406030204" pitchFamily="18" charset="0"/>
              <a:ea typeface="Cambria" panose="02040503050406030204" pitchFamily="18" charset="0"/>
            </a:endParaRPr>
          </a:p>
          <a:p>
            <a:pPr marL="285750" indent="-285750">
              <a:lnSpc>
                <a:spcPct val="150000"/>
              </a:lnSpc>
              <a:buFont typeface="Arial" panose="020B0604020202090204" pitchFamily="34" charset="0"/>
              <a:buChar char="•"/>
            </a:pPr>
            <a:r>
              <a:rPr lang="en-US" sz="2000" b="1" dirty="0">
                <a:latin typeface="Cambria" panose="02040503050406030204" pitchFamily="18" charset="0"/>
                <a:ea typeface="Cambria" panose="02040503050406030204" pitchFamily="18" charset="0"/>
              </a:rPr>
              <a:t>HTML 5</a:t>
            </a:r>
            <a:endParaRPr lang="en-US" sz="2400" b="1" dirty="0">
              <a:latin typeface="Cambria" panose="02040503050406030204" pitchFamily="18" charset="0"/>
              <a:ea typeface="Cambria" panose="02040503050406030204" pitchFamily="18" charset="0"/>
              <a:cs typeface="Times New Roman" panose="02020503050405090304"/>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HTML 5 Layout and syntax, </a:t>
            </a:r>
            <a:endParaRPr lang="en-US" sz="2000" dirty="0">
              <a:latin typeface="Cambria" panose="02040503050406030204" pitchFamily="18" charset="0"/>
              <a:ea typeface="Cambria" panose="02040503050406030204" pitchFamily="18" charset="0"/>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Attributes, </a:t>
            </a:r>
            <a:endParaRPr lang="en-US" sz="2000" dirty="0">
              <a:latin typeface="Cambria" panose="02040503050406030204" pitchFamily="18" charset="0"/>
              <a:ea typeface="Cambria" panose="02040503050406030204" pitchFamily="18" charset="0"/>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Events, </a:t>
            </a:r>
            <a:endParaRPr lang="en-US" sz="2000" dirty="0">
              <a:latin typeface="Cambria" panose="02040503050406030204" pitchFamily="18" charset="0"/>
              <a:ea typeface="Cambria" panose="02040503050406030204" pitchFamily="18" charset="0"/>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Web forms and validations, </a:t>
            </a:r>
            <a:endParaRPr lang="en-US" sz="2000" dirty="0">
              <a:latin typeface="Cambria" panose="02040503050406030204" pitchFamily="18" charset="0"/>
              <a:ea typeface="Cambria" panose="02040503050406030204" pitchFamily="18" charset="0"/>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Audio &amp; Video, </a:t>
            </a:r>
            <a:endParaRPr lang="en-US" sz="2000" dirty="0">
              <a:latin typeface="Cambria" panose="02040503050406030204" pitchFamily="18" charset="0"/>
              <a:ea typeface="Cambria" panose="02040503050406030204" pitchFamily="18" charset="0"/>
            </a:endParaRPr>
          </a:p>
          <a:p>
            <a:pPr marL="622300" lvl="8" indent="-285750">
              <a:lnSpc>
                <a:spcPct val="150000"/>
              </a:lnSpc>
              <a:buFont typeface="Arial" panose="020B0604020202090204" pitchFamily="34" charset="0"/>
              <a:buChar char="•"/>
            </a:pPr>
            <a:r>
              <a:rPr lang="en-US" sz="2000" dirty="0">
                <a:latin typeface="Cambria" panose="02040503050406030204" pitchFamily="18" charset="0"/>
                <a:ea typeface="Cambria" panose="02040503050406030204" pitchFamily="18" charset="0"/>
              </a:rPr>
              <a:t>SVG.</a:t>
            </a:r>
            <a:endParaRPr lang="en-US" sz="2000" dirty="0">
              <a:latin typeface="Cambria" panose="02040503050406030204" pitchFamily="18" charset="0"/>
              <a:ea typeface="Cambria" panose="02040503050406030204" pitchFamily="18" charset="0"/>
            </a:endParaRPr>
          </a:p>
          <a:p>
            <a:pPr marL="285750" lvl="8" indent="-285750">
              <a:lnSpc>
                <a:spcPct val="150000"/>
              </a:lnSpc>
              <a:buFont typeface="Arial" panose="020B0604020202090204" pitchFamily="34" charset="0"/>
              <a:buChar char="•"/>
            </a:pPr>
            <a:endParaRPr lang="en-US" sz="2000" b="1" dirty="0">
              <a:latin typeface="Cambria" panose="02040503050406030204" pitchFamily="18" charset="0"/>
              <a:ea typeface="Cambria" panose="02040503050406030204" pitchFamily="18" charset="0"/>
            </a:endParaRPr>
          </a:p>
        </p:txBody>
      </p:sp>
      <p:sp>
        <p:nvSpPr>
          <p:cNvPr id="3" name="object 3"/>
          <p:cNvSpPr txBox="1">
            <a:spLocks noGrp="1"/>
          </p:cNvSpPr>
          <p:nvPr>
            <p:ph type="title"/>
          </p:nvPr>
        </p:nvSpPr>
        <p:spPr>
          <a:xfrm>
            <a:off x="380491" y="61086"/>
            <a:ext cx="2933700" cy="574040"/>
          </a:xfrm>
          <a:prstGeom prst="rect">
            <a:avLst/>
          </a:prstGeom>
        </p:spPr>
        <p:txBody>
          <a:bodyPr vert="horz" wrap="square" lIns="0" tIns="12700" rIns="0" bIns="0" rtlCol="0">
            <a:spAutoFit/>
          </a:bodyPr>
          <a:lstStyle/>
          <a:p>
            <a:pPr marL="12700">
              <a:lnSpc>
                <a:spcPct val="100000"/>
              </a:lnSpc>
              <a:spcBef>
                <a:spcPts val="100"/>
              </a:spcBef>
            </a:pPr>
            <a:r>
              <a:rPr spc="-120" dirty="0">
                <a:latin typeface="Times New Roman" panose="02020503050405090304"/>
                <a:cs typeface="Times New Roman" panose="02020503050405090304"/>
              </a:rPr>
              <a:t>Topics</a:t>
            </a:r>
            <a:r>
              <a:rPr spc="-100" dirty="0">
                <a:latin typeface="Times New Roman" panose="02020503050405090304"/>
                <a:cs typeface="Times New Roman" panose="02020503050405090304"/>
              </a:rPr>
              <a:t> </a:t>
            </a:r>
            <a:r>
              <a:rPr spc="-55" dirty="0">
                <a:latin typeface="Times New Roman" panose="02020503050405090304"/>
                <a:cs typeface="Times New Roman" panose="02020503050405090304"/>
              </a:rPr>
              <a:t>Covered</a:t>
            </a:r>
            <a:endParaRPr spc="-55" dirty="0">
              <a:latin typeface="Times New Roman" panose="02020503050405090304"/>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 Mapping</a:t>
            </a:r>
            <a:endParaRPr lang="en-IN" dirty="0"/>
          </a:p>
        </p:txBody>
      </p:sp>
      <p:sp>
        <p:nvSpPr>
          <p:cNvPr id="3" name="Text Placeholder 2"/>
          <p:cNvSpPr>
            <a:spLocks noGrp="1"/>
          </p:cNvSpPr>
          <p:nvPr>
            <p:ph type="body" idx="1"/>
          </p:nvPr>
        </p:nvSpPr>
        <p:spPr>
          <a:xfrm>
            <a:off x="990600" y="1066800"/>
            <a:ext cx="10026650" cy="2147447"/>
          </a:xfrm>
        </p:spPr>
        <p:txBody>
          <a:bodyPr/>
          <a:lstStyle/>
          <a:p>
            <a:pPr marL="457200" indent="-457200" algn="just">
              <a:lnSpc>
                <a:spcPct val="150000"/>
              </a:lnSpc>
              <a:buFont typeface="Arial" panose="020B0604020202090204" pitchFamily="34" charset="0"/>
              <a:buChar char="•"/>
            </a:pPr>
            <a:r>
              <a:rPr lang="en-US" sz="2400" dirty="0">
                <a:effectLst/>
                <a:latin typeface="Cambria" panose="02040503050406030204" pitchFamily="18" charset="0"/>
                <a:ea typeface="Cambria" panose="02040503050406030204" pitchFamily="18" charset="0"/>
              </a:rPr>
              <a:t>CO1:Design and develop interactive web pages using HTML5, identifying the correct use of attributes, incorporating multimedia elements and form validations. (Apply)</a:t>
            </a:r>
            <a:endParaRPr lang="en-IN" sz="2400" dirty="0">
              <a:effectLst/>
              <a:latin typeface="Cambria" panose="02040503050406030204" pitchFamily="18" charset="0"/>
              <a:ea typeface="Cambria" panose="02040503050406030204" pitchFamily="18" charset="0"/>
            </a:endParaRPr>
          </a:p>
          <a:p>
            <a:pPr marL="457200" indent="-457200" algn="just">
              <a:lnSpc>
                <a:spcPct val="150000"/>
              </a:lnSpc>
              <a:buFont typeface="Arial" panose="020B0604020202090204" pitchFamily="34" charset="0"/>
              <a:buChar char="•"/>
            </a:pPr>
            <a:endParaRPr lang="en-IN" sz="24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WWW</a:t>
            </a:r>
            <a:endParaRPr lang="en-IN" dirty="0"/>
          </a:p>
        </p:txBody>
      </p:sp>
      <p:sp>
        <p:nvSpPr>
          <p:cNvPr id="3" name="Text Placeholder 2"/>
          <p:cNvSpPr>
            <a:spLocks noGrp="1"/>
          </p:cNvSpPr>
          <p:nvPr>
            <p:ph type="body" idx="1"/>
          </p:nvPr>
        </p:nvSpPr>
        <p:spPr>
          <a:xfrm>
            <a:off x="854075" y="838200"/>
            <a:ext cx="10483850" cy="7046866"/>
          </a:xfrm>
        </p:spPr>
        <p:txBody>
          <a:bodyPr/>
          <a:lstStyle/>
          <a:p>
            <a:pPr algn="just">
              <a:lnSpc>
                <a:spcPct val="150000"/>
              </a:lnSpc>
            </a:pPr>
            <a:r>
              <a:rPr lang="en-US" sz="2200" dirty="0">
                <a:solidFill>
                  <a:schemeClr val="tx1"/>
                </a:solidFill>
                <a:cs typeface="Times New Roman" panose="02020503050405090304" pitchFamily="18" charset="0"/>
              </a:rPr>
              <a:t>The World Wide Web (WWW) is a network of online content that is formatted in HTML and accessed via HTTP. </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The term refers to all the interlinked HTML pages that can be accessed over the Internet.</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A properly designed hypertext document can help users to locate desired type of information rapidly.</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 Hypertext documents enable this by using a series of link. </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 A link is a special type of item in a hypertext document connecting the document to another document. </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 Hypertext documents on internet are known as Web Pages. </a:t>
            </a:r>
            <a:endParaRPr lang="en-US" sz="2200" dirty="0">
              <a:solidFill>
                <a:schemeClr val="tx1"/>
              </a:solidFill>
              <a:cs typeface="Times New Roman" panose="02020503050405090304" pitchFamily="18" charset="0"/>
            </a:endParaRPr>
          </a:p>
          <a:p>
            <a:pPr algn="just">
              <a:lnSpc>
                <a:spcPct val="150000"/>
              </a:lnSpc>
            </a:pPr>
            <a:r>
              <a:rPr lang="en-US" sz="2200" dirty="0">
                <a:solidFill>
                  <a:schemeClr val="tx1"/>
                </a:solidFill>
                <a:cs typeface="Times New Roman" panose="02020503050405090304" pitchFamily="18" charset="0"/>
              </a:rPr>
              <a:t>The World Wide Web was originally designed in 1991 by Tim Berners-Lee .</a:t>
            </a:r>
            <a:endParaRPr lang="en-US" sz="2200" dirty="0">
              <a:solidFill>
                <a:schemeClr val="tx1"/>
              </a:solidFill>
              <a:cs typeface="Times New Roman" panose="02020503050405090304" pitchFamily="18" charset="0"/>
            </a:endParaRPr>
          </a:p>
          <a:p>
            <a:pPr algn="just">
              <a:lnSpc>
                <a:spcPct val="150000"/>
              </a:lnSpc>
            </a:pPr>
            <a:endParaRPr lang="en-US" sz="2200" dirty="0"/>
          </a:p>
          <a:p>
            <a:pPr algn="just">
              <a:lnSpc>
                <a:spcPct val="150000"/>
              </a:lnSpc>
            </a:pPr>
            <a:endParaRPr lang="en-IN" sz="2200" dirty="0"/>
          </a:p>
          <a:p>
            <a:pPr algn="just">
              <a:lnSpc>
                <a:spcPct val="150000"/>
              </a:lnSpc>
            </a:pPr>
            <a:endParaRPr lang="en-IN"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Internet vs. www</a:t>
            </a:r>
            <a:endParaRPr lang="en-IN" dirty="0"/>
          </a:p>
        </p:txBody>
      </p:sp>
      <p:sp>
        <p:nvSpPr>
          <p:cNvPr id="3" name="Text Placeholder 2"/>
          <p:cNvSpPr>
            <a:spLocks noGrp="1"/>
          </p:cNvSpPr>
          <p:nvPr>
            <p:ph type="body" idx="1"/>
          </p:nvPr>
        </p:nvSpPr>
        <p:spPr>
          <a:xfrm>
            <a:off x="762000" y="914400"/>
            <a:ext cx="10896600" cy="5523372"/>
          </a:xfrm>
        </p:spPr>
        <p:txBody>
          <a:bodyPr/>
          <a:lstStyle/>
          <a:p>
            <a:r>
              <a:rPr lang="en-US" dirty="0">
                <a:solidFill>
                  <a:schemeClr val="tx1"/>
                </a:solidFill>
                <a:cs typeface="Times New Roman" panose="02020503050405090304" pitchFamily="18" charset="0"/>
              </a:rPr>
              <a:t>It is all the Web pages, pictures, videos and other online content that can be accessed via a Web browser.</a:t>
            </a:r>
            <a:endParaRPr lang="en-US" dirty="0">
              <a:solidFill>
                <a:schemeClr val="tx1"/>
              </a:solidFill>
              <a:cs typeface="Times New Roman" panose="02020503050405090304" pitchFamily="18" charset="0"/>
            </a:endParaRPr>
          </a:p>
          <a:p>
            <a:r>
              <a:rPr lang="en-US" dirty="0">
                <a:solidFill>
                  <a:schemeClr val="tx1"/>
                </a:solidFill>
                <a:cs typeface="Times New Roman" panose="02020503050405090304" pitchFamily="18" charset="0"/>
              </a:rPr>
              <a:t>The Internet, in contrast, is the underlying network connection that allows us to send email and access the World Wide Web. </a:t>
            </a:r>
            <a:endParaRPr lang="en-IN" dirty="0">
              <a:solidFill>
                <a:schemeClr val="tx1"/>
              </a:solidFill>
              <a:cs typeface="Times New Roman" panose="02020503050405090304" pitchFamily="18" charset="0"/>
            </a:endParaRPr>
          </a:p>
          <a:p>
            <a:r>
              <a:rPr lang="en-US" b="1" dirty="0"/>
              <a:t>Internet</a:t>
            </a:r>
            <a:endParaRPr lang="en-US" b="1" dirty="0"/>
          </a:p>
          <a:p>
            <a:r>
              <a:rPr lang="en-IN" dirty="0">
                <a:solidFill>
                  <a:schemeClr val="tx1"/>
                </a:solidFill>
                <a:cs typeface="Times New Roman" panose="02020503050405090304" pitchFamily="18" charset="0"/>
              </a:rPr>
              <a:t>Global system of interconnected computer networks to share information</a:t>
            </a:r>
            <a:endParaRPr lang="en-IN" dirty="0">
              <a:solidFill>
                <a:schemeClr val="tx1"/>
              </a:solidFill>
              <a:cs typeface="Times New Roman" panose="02020503050405090304" pitchFamily="18" charset="0"/>
            </a:endParaRPr>
          </a:p>
          <a:p>
            <a:r>
              <a:rPr lang="en-IN" dirty="0">
                <a:solidFill>
                  <a:schemeClr val="tx1"/>
                </a:solidFill>
                <a:cs typeface="Times New Roman" panose="02020503050405090304" pitchFamily="18" charset="0"/>
              </a:rPr>
              <a:t>Use the standard Internet Protocol suite (TCP/IP)</a:t>
            </a:r>
            <a:endParaRPr lang="en-IN" dirty="0">
              <a:solidFill>
                <a:schemeClr val="tx1"/>
              </a:solidFill>
              <a:cs typeface="Times New Roman" panose="02020503050405090304" pitchFamily="18" charset="0"/>
            </a:endParaRPr>
          </a:p>
          <a:p>
            <a:r>
              <a:rPr lang="en-IN" i="1" dirty="0">
                <a:solidFill>
                  <a:schemeClr val="tx1"/>
                </a:solidFill>
                <a:cs typeface="Times New Roman" panose="02020503050405090304" pitchFamily="18" charset="0"/>
              </a:rPr>
              <a:t>network of networks</a:t>
            </a:r>
            <a:endParaRPr lang="en-IN" i="1" dirty="0">
              <a:solidFill>
                <a:schemeClr val="tx1"/>
              </a:solidFill>
              <a:cs typeface="Times New Roman" panose="02020503050405090304" pitchFamily="18" charset="0"/>
            </a:endParaRPr>
          </a:p>
          <a:p>
            <a:endParaRPr lang="en-IN" dirty="0"/>
          </a:p>
          <a:p>
            <a:endParaRPr lang="en-US" b="1"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Internet vs. www</a:t>
            </a:r>
            <a:endParaRPr lang="en-IN" dirty="0"/>
          </a:p>
        </p:txBody>
      </p:sp>
      <p:pic>
        <p:nvPicPr>
          <p:cNvPr id="4" name="Content Placeholder 4"/>
          <p:cNvPicPr>
            <a:picLocks noGrp="1" noChangeAspect="1"/>
          </p:cNvPicPr>
          <p:nvPr>
            <p:ph idx="1"/>
          </p:nvPr>
        </p:nvPicPr>
        <p:blipFill>
          <a:blip r:embed="rId1"/>
          <a:stretch>
            <a:fillRect/>
          </a:stretch>
        </p:blipFill>
        <p:spPr>
          <a:xfrm>
            <a:off x="1219200" y="1295400"/>
            <a:ext cx="9829800" cy="3429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Servers</a:t>
            </a:r>
            <a:endParaRPr lang="en-IN" dirty="0"/>
          </a:p>
        </p:txBody>
      </p:sp>
      <p:sp>
        <p:nvSpPr>
          <p:cNvPr id="3" name="Text Placeholder 2"/>
          <p:cNvSpPr>
            <a:spLocks noGrp="1"/>
          </p:cNvSpPr>
          <p:nvPr>
            <p:ph type="body" idx="1"/>
          </p:nvPr>
        </p:nvSpPr>
        <p:spPr>
          <a:xfrm>
            <a:off x="685800" y="817526"/>
            <a:ext cx="10972800" cy="5015540"/>
          </a:xfrm>
        </p:spPr>
        <p:txBody>
          <a:bodyPr/>
          <a:lstStyle/>
          <a:p>
            <a:pPr algn="just"/>
            <a:r>
              <a:rPr lang="en-US" dirty="0"/>
              <a:t>Web server is a computer where the web content is stored. Basically web server is used to host the web sites but there exists other web servers also such as gaming, storage, FTP, email etc.</a:t>
            </a:r>
            <a:endParaRPr lang="en-US" dirty="0"/>
          </a:p>
          <a:p>
            <a:pPr algn="just"/>
            <a:r>
              <a:rPr lang="en-US" dirty="0"/>
              <a:t>Web site is collection of web pages while web server is a software that respond to the request for web resources.</a:t>
            </a:r>
            <a:endParaRPr lang="en-US" dirty="0"/>
          </a:p>
          <a:p>
            <a:pPr algn="just"/>
            <a:r>
              <a:rPr lang="en-US" b="1" dirty="0"/>
              <a:t>Web Server Working</a:t>
            </a:r>
            <a:endParaRPr lang="en-US" dirty="0"/>
          </a:p>
          <a:p>
            <a:pPr algn="just"/>
            <a:r>
              <a:rPr lang="en-US" dirty="0"/>
              <a:t>Web server respond to the client request in either of the following two ways:</a:t>
            </a:r>
            <a:endParaRPr lang="en-US" dirty="0"/>
          </a:p>
          <a:p>
            <a:pPr algn="just"/>
            <a:r>
              <a:rPr lang="en-US" dirty="0"/>
              <a:t> Sending the file to the client associated with the requested URL.</a:t>
            </a:r>
            <a:endParaRPr lang="en-US" dirty="0"/>
          </a:p>
          <a:p>
            <a:pPr algn="just"/>
            <a:r>
              <a:rPr lang="en-US" dirty="0"/>
              <a:t>Generating response by invoking a script and communicating with database</a:t>
            </a:r>
            <a:endParaRPr lang="en-US" dirty="0"/>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706" y="801215"/>
            <a:ext cx="8278238" cy="4519816"/>
          </a:xfrm>
          <a:prstGeom prst="rect">
            <a:avLst/>
          </a:prstGeom>
        </p:spPr>
      </p:pic>
      <p:sp>
        <p:nvSpPr>
          <p:cNvPr id="3" name="Slide Number Placeholder 2"/>
          <p:cNvSpPr>
            <a:spLocks noGrp="1"/>
          </p:cNvSpPr>
          <p:nvPr>
            <p:ph type="sldNum" sz="quarter" idx="12"/>
          </p:nvPr>
        </p:nvSpPr>
        <p:spPr>
          <a:xfrm>
            <a:off x="10634135" y="6356350"/>
            <a:ext cx="1530927" cy="365125"/>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C11CE39-2868-44A2-A0C6-827D458F7A8B}" type="slidenum">
              <a:rPr lang="en-IN" smtClean="0"/>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Servers</a:t>
            </a:r>
            <a:endParaRPr lang="en-IN" dirty="0"/>
          </a:p>
        </p:txBody>
      </p:sp>
      <p:sp>
        <p:nvSpPr>
          <p:cNvPr id="3" name="Text Placeholder 2"/>
          <p:cNvSpPr>
            <a:spLocks noGrp="1"/>
          </p:cNvSpPr>
          <p:nvPr>
            <p:ph type="body" idx="1"/>
          </p:nvPr>
        </p:nvSpPr>
        <p:spPr>
          <a:xfrm>
            <a:off x="762000" y="762000"/>
            <a:ext cx="10896600" cy="5874237"/>
          </a:xfrm>
        </p:spPr>
        <p:txBody>
          <a:bodyPr/>
          <a:lstStyle/>
          <a:p>
            <a:pPr algn="just"/>
            <a:r>
              <a:rPr lang="en-US" sz="2400" b="1" dirty="0"/>
              <a:t>Key Points</a:t>
            </a:r>
            <a:endParaRPr lang="en-US" sz="2400" dirty="0"/>
          </a:p>
          <a:p>
            <a:pPr algn="just">
              <a:lnSpc>
                <a:spcPct val="120000"/>
              </a:lnSpc>
            </a:pPr>
            <a:r>
              <a:rPr lang="en-US" sz="2400" dirty="0"/>
              <a:t>When client sends request for a web page, the web server search for the requested page if requested page is found then it will send it to client with an HTTP response.</a:t>
            </a:r>
            <a:endParaRPr lang="en-US" sz="2400" dirty="0"/>
          </a:p>
          <a:p>
            <a:pPr algn="just">
              <a:lnSpc>
                <a:spcPct val="120000"/>
              </a:lnSpc>
            </a:pPr>
            <a:r>
              <a:rPr lang="en-US" sz="2400" dirty="0"/>
              <a:t> If the requested web page is not found, web server will the send an HTTP </a:t>
            </a:r>
            <a:r>
              <a:rPr lang="en-US" sz="2400" dirty="0" err="1"/>
              <a:t>response:Error</a:t>
            </a:r>
            <a:r>
              <a:rPr lang="en-US" sz="2400" dirty="0"/>
              <a:t> 404 Not found.</a:t>
            </a:r>
            <a:endParaRPr lang="en-US" sz="2400" dirty="0"/>
          </a:p>
          <a:p>
            <a:pPr algn="just">
              <a:lnSpc>
                <a:spcPct val="120000"/>
              </a:lnSpc>
            </a:pPr>
            <a:r>
              <a:rPr lang="en-US" sz="2400" dirty="0"/>
              <a:t>If client has requested for some other resources then the web server will contact to the application server and data store to construct the HTTP response.</a:t>
            </a:r>
            <a:endParaRPr lang="en-US" sz="2400" b="1" dirty="0"/>
          </a:p>
          <a:p>
            <a:pPr algn="just">
              <a:lnSpc>
                <a:spcPct val="120000"/>
              </a:lnSpc>
            </a:pPr>
            <a:r>
              <a:rPr lang="en-US" sz="2400" b="1" dirty="0"/>
              <a:t>Architecture</a:t>
            </a:r>
            <a:endParaRPr lang="en-US" sz="2400" dirty="0"/>
          </a:p>
          <a:p>
            <a:pPr algn="just">
              <a:lnSpc>
                <a:spcPct val="120000"/>
              </a:lnSpc>
            </a:pPr>
            <a:r>
              <a:rPr lang="en-US" sz="2400" dirty="0"/>
              <a:t>Web Server Architecture follows the following two approaches:</a:t>
            </a:r>
            <a:endParaRPr lang="en-US" sz="2400" dirty="0"/>
          </a:p>
          <a:p>
            <a:pPr algn="just">
              <a:lnSpc>
                <a:spcPct val="120000"/>
              </a:lnSpc>
            </a:pPr>
            <a:r>
              <a:rPr lang="en-US" sz="2400" dirty="0"/>
              <a:t>Concurrent Approach</a:t>
            </a:r>
            <a:endParaRPr lang="en-US" sz="2400" dirty="0"/>
          </a:p>
          <a:p>
            <a:pPr algn="just">
              <a:lnSpc>
                <a:spcPct val="120000"/>
              </a:lnSpc>
            </a:pPr>
            <a:r>
              <a:rPr lang="en-US" sz="2400" dirty="0"/>
              <a:t>Single-Process-Event-Driven Approach.</a:t>
            </a:r>
            <a:endParaRPr lang="en-US" sz="2400" dirty="0"/>
          </a:p>
          <a:p>
            <a:pPr algn="just"/>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Servers</a:t>
            </a:r>
            <a:endParaRPr lang="en-IN" dirty="0"/>
          </a:p>
        </p:txBody>
      </p:sp>
      <p:sp>
        <p:nvSpPr>
          <p:cNvPr id="3" name="Text Placeholder 2"/>
          <p:cNvSpPr>
            <a:spLocks noGrp="1"/>
          </p:cNvSpPr>
          <p:nvPr>
            <p:ph type="body" idx="1"/>
          </p:nvPr>
        </p:nvSpPr>
        <p:spPr>
          <a:xfrm>
            <a:off x="914400" y="602570"/>
            <a:ext cx="10896600" cy="6539034"/>
          </a:xfrm>
        </p:spPr>
        <p:txBody>
          <a:bodyPr/>
          <a:lstStyle/>
          <a:p>
            <a:pPr algn="just"/>
            <a:r>
              <a:rPr lang="en-US" b="1" dirty="0"/>
              <a:t>Concurrent Approach</a:t>
            </a:r>
            <a:endParaRPr lang="en-US" b="1" dirty="0"/>
          </a:p>
          <a:p>
            <a:pPr algn="just"/>
            <a:r>
              <a:rPr lang="en-US" dirty="0"/>
              <a:t>Concurrent approach allows the web server to handle multiple client requests at the same time. It can be achieved by following methods:</a:t>
            </a:r>
            <a:endParaRPr lang="en-US" dirty="0"/>
          </a:p>
          <a:p>
            <a:pPr algn="just"/>
            <a:r>
              <a:rPr lang="en-US" dirty="0"/>
              <a:t>Multi-process</a:t>
            </a:r>
            <a:endParaRPr lang="en-US" dirty="0"/>
          </a:p>
          <a:p>
            <a:pPr algn="just"/>
            <a:r>
              <a:rPr lang="en-US" dirty="0"/>
              <a:t>Multi-threaded</a:t>
            </a:r>
            <a:endParaRPr lang="en-US" dirty="0"/>
          </a:p>
          <a:p>
            <a:pPr algn="just"/>
            <a:r>
              <a:rPr lang="en-US" dirty="0"/>
              <a:t>Hybrid method.</a:t>
            </a:r>
            <a:endParaRPr lang="en-US" dirty="0"/>
          </a:p>
          <a:p>
            <a:pPr algn="just"/>
            <a:r>
              <a:rPr lang="en-US" b="1" dirty="0"/>
              <a:t>Multi-processing</a:t>
            </a:r>
            <a:endParaRPr lang="en-US" b="1" dirty="0"/>
          </a:p>
          <a:p>
            <a:pPr algn="just"/>
            <a:r>
              <a:rPr lang="en-US" dirty="0"/>
              <a:t>In this a single process (parent process) initiates several  child processes and distribute incoming requests to these child processes. Each of the child processes are responsible for handling single request.</a:t>
            </a:r>
            <a:endParaRPr lang="en-US" dirty="0"/>
          </a:p>
          <a:p>
            <a:pPr algn="just"/>
            <a:r>
              <a:rPr lang="en-US" dirty="0"/>
              <a:t>It is the responsibility of parent process to monitor the load and decide if processes should be killed or forked.</a:t>
            </a:r>
            <a:endParaRPr lang="en-US" dirty="0"/>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Servers</a:t>
            </a:r>
            <a:endParaRPr lang="en-IN" dirty="0"/>
          </a:p>
        </p:txBody>
      </p:sp>
      <p:sp>
        <p:nvSpPr>
          <p:cNvPr id="3" name="Text Placeholder 2"/>
          <p:cNvSpPr>
            <a:spLocks noGrp="1"/>
          </p:cNvSpPr>
          <p:nvPr>
            <p:ph type="body" idx="1"/>
          </p:nvPr>
        </p:nvSpPr>
        <p:spPr>
          <a:xfrm>
            <a:off x="762000" y="1066800"/>
            <a:ext cx="10407650" cy="3999878"/>
          </a:xfrm>
        </p:spPr>
        <p:txBody>
          <a:bodyPr/>
          <a:lstStyle/>
          <a:p>
            <a:pPr algn="just"/>
            <a:r>
              <a:rPr lang="en-US" b="1" dirty="0"/>
              <a:t>Multi-threaded</a:t>
            </a:r>
            <a:endParaRPr lang="en-US" b="1" dirty="0"/>
          </a:p>
          <a:p>
            <a:pPr algn="just"/>
            <a:r>
              <a:rPr lang="en-US" dirty="0"/>
              <a:t>Unlike Multi-process, it creates multiple single-threaded process.</a:t>
            </a:r>
            <a:endParaRPr lang="en-US" dirty="0"/>
          </a:p>
          <a:p>
            <a:pPr algn="just"/>
            <a:r>
              <a:rPr lang="en-US" b="1" dirty="0"/>
              <a:t>Hybrid</a:t>
            </a:r>
            <a:endParaRPr lang="en-US" b="1" dirty="0"/>
          </a:p>
          <a:p>
            <a:pPr algn="just"/>
            <a:r>
              <a:rPr lang="en-US" dirty="0"/>
              <a:t>It is combination of above two approaches. In this approach multiple process are created and each process initiates multiple threads. Each of the threads handles one connection. Using multiple threads in single process results in less load on system resources.</a:t>
            </a:r>
            <a:endParaRPr lang="en-US" dirty="0"/>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Text Placeholder 2"/>
          <p:cNvSpPr>
            <a:spLocks noGrp="1"/>
          </p:cNvSpPr>
          <p:nvPr>
            <p:ph type="body" idx="1"/>
          </p:nvPr>
        </p:nvSpPr>
        <p:spPr>
          <a:xfrm>
            <a:off x="762000" y="1066800"/>
            <a:ext cx="11049000" cy="6031203"/>
          </a:xfrm>
        </p:spPr>
        <p:txBody>
          <a:bodyPr/>
          <a:lstStyle/>
          <a:p>
            <a:pPr algn="l" rtl="0" fontAlgn="ctr"/>
            <a:r>
              <a:rPr lang="en-US" b="1" i="0" u="none" strike="noStrike" kern="1200" dirty="0">
                <a:solidFill>
                  <a:srgbClr val="000000"/>
                </a:solidFill>
                <a:effectLst/>
              </a:rPr>
              <a:t>Apache HTTP Server</a:t>
            </a:r>
            <a:br>
              <a:rPr lang="en-US" sz="1800" b="0" i="0" u="none" strike="noStrike" kern="1200" dirty="0">
                <a:solidFill>
                  <a:srgbClr val="000000"/>
                </a:solidFill>
                <a:effectLst/>
              </a:rPr>
            </a:br>
            <a:r>
              <a:rPr lang="en-US" b="0" i="0" u="none" strike="noStrike" kern="1200" dirty="0">
                <a:solidFill>
                  <a:srgbClr val="000000"/>
                </a:solidFill>
                <a:effectLst/>
              </a:rPr>
              <a:t>This is the most popular web server in the world developed by the Apache Software Foundation. Apache web server is an open source software and can be installed on almost all operating systems including Linux, UNIX, Windows, FreeBSD, Mac OS X and more. About 60% of the web server machines run the Apache Web Server.</a:t>
            </a:r>
            <a:endParaRPr lang="en-IN" dirty="0"/>
          </a:p>
          <a:p>
            <a:pPr algn="l" rtl="0" fontAlgn="ctr"/>
            <a:r>
              <a:rPr lang="en-US" b="1" i="0" u="none" strike="noStrike" kern="1200" dirty="0">
                <a:solidFill>
                  <a:srgbClr val="000000"/>
                </a:solidFill>
                <a:effectLst/>
              </a:rPr>
              <a:t>Internet Information Services (IIS)</a:t>
            </a:r>
            <a:br>
              <a:rPr lang="en-US" b="0" i="0" u="none" strike="noStrike" kern="1200" dirty="0">
                <a:solidFill>
                  <a:srgbClr val="000000"/>
                </a:solidFill>
                <a:effectLst/>
              </a:rPr>
            </a:br>
            <a:r>
              <a:rPr lang="en-US" b="0" i="0" u="none" strike="noStrike" kern="1200" dirty="0">
                <a:solidFill>
                  <a:srgbClr val="000000"/>
                </a:solidFill>
                <a:effectLst/>
              </a:rPr>
              <a:t>The Internet Information Server (IIS) is a high performance Web Server from Microsoft. This web server runs on Windows NT/2000 and 2003 platforms (and may be on upcoming new Windows version also). IIS comes bundled with Windows NT/2000 and 2003; Because IIS is tightly integrated with the operating system so it is relatively easy to administer it.</a:t>
            </a:r>
            <a:endParaRPr lang="en-IN" b="0" i="0" u="none" strike="noStrike" dirty="0">
              <a:effectLst/>
            </a:endParaRP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Text Placeholder 2"/>
          <p:cNvSpPr>
            <a:spLocks noGrp="1"/>
          </p:cNvSpPr>
          <p:nvPr>
            <p:ph type="body" idx="1"/>
          </p:nvPr>
        </p:nvSpPr>
        <p:spPr>
          <a:xfrm>
            <a:off x="777875" y="762000"/>
            <a:ext cx="10636250" cy="6031203"/>
          </a:xfrm>
        </p:spPr>
        <p:txBody>
          <a:bodyPr/>
          <a:lstStyle/>
          <a:p>
            <a:pPr marL="0" algn="l" rtl="0" eaLnBrk="1" fontAlgn="ctr" latinLnBrk="0" hangingPunct="1">
              <a:spcBef>
                <a:spcPts val="0"/>
              </a:spcBef>
              <a:spcAft>
                <a:spcPts val="0"/>
              </a:spcAft>
            </a:pPr>
            <a:r>
              <a:rPr lang="en-US" b="1" i="0" u="none" strike="noStrike" kern="1200" dirty="0" err="1">
                <a:solidFill>
                  <a:srgbClr val="000000"/>
                </a:solidFill>
                <a:effectLst/>
              </a:rPr>
              <a:t>Lighttpd</a:t>
            </a:r>
            <a:br>
              <a:rPr lang="en-US" b="0" i="0" u="none" strike="noStrike" kern="1200" dirty="0">
                <a:solidFill>
                  <a:srgbClr val="000000"/>
                </a:solidFill>
                <a:effectLst/>
              </a:rPr>
            </a:br>
            <a:r>
              <a:rPr lang="en-US" b="0" i="0" u="none" strike="noStrike" kern="1200" dirty="0">
                <a:solidFill>
                  <a:srgbClr val="000000"/>
                </a:solidFill>
                <a:effectLst/>
              </a:rPr>
              <a:t>The </a:t>
            </a:r>
            <a:r>
              <a:rPr lang="en-US" b="0" i="0" u="none" strike="noStrike" kern="1200" dirty="0" err="1">
                <a:solidFill>
                  <a:srgbClr val="000000"/>
                </a:solidFill>
                <a:effectLst/>
              </a:rPr>
              <a:t>lighttpd</a:t>
            </a:r>
            <a:r>
              <a:rPr lang="en-US" b="0" i="0" u="none" strike="noStrike" kern="1200" dirty="0">
                <a:solidFill>
                  <a:srgbClr val="000000"/>
                </a:solidFill>
                <a:effectLst/>
              </a:rPr>
              <a:t>, pronounced </a:t>
            </a:r>
            <a:r>
              <a:rPr lang="en-US" b="0" i="0" u="none" strike="noStrike" kern="1200" dirty="0" err="1">
                <a:solidFill>
                  <a:srgbClr val="000000"/>
                </a:solidFill>
                <a:effectLst/>
              </a:rPr>
              <a:t>lighty</a:t>
            </a:r>
            <a:r>
              <a:rPr lang="en-US" b="0" i="0" u="none" strike="noStrike" kern="1200" dirty="0">
                <a:solidFill>
                  <a:srgbClr val="000000"/>
                </a:solidFill>
                <a:effectLst/>
              </a:rPr>
              <a:t> is also a free web server that is distributed with the FreeBSD operating system. This open source web server is fast, secure and consumes much less CPU power. </a:t>
            </a:r>
            <a:r>
              <a:rPr lang="en-US" b="0" i="0" u="none" strike="noStrike" kern="1200" dirty="0" err="1">
                <a:solidFill>
                  <a:srgbClr val="000000"/>
                </a:solidFill>
                <a:effectLst/>
              </a:rPr>
              <a:t>Lighttpd</a:t>
            </a:r>
            <a:r>
              <a:rPr lang="en-US" b="0" i="0" u="none" strike="noStrike" kern="1200" dirty="0">
                <a:solidFill>
                  <a:srgbClr val="000000"/>
                </a:solidFill>
                <a:effectLst/>
              </a:rPr>
              <a:t> can also run on Windows, Mac OS X, Linux and Solaris operating systems.</a:t>
            </a:r>
            <a:endParaRPr lang="en-IN" b="0" i="0" u="none" strike="noStrike" dirty="0">
              <a:effectLst/>
            </a:endParaRPr>
          </a:p>
          <a:p>
            <a:pPr marL="0" algn="l" rtl="0" eaLnBrk="1" fontAlgn="ctr" latinLnBrk="0" hangingPunct="1">
              <a:spcBef>
                <a:spcPts val="0"/>
              </a:spcBef>
              <a:spcAft>
                <a:spcPts val="0"/>
              </a:spcAft>
            </a:pPr>
            <a:r>
              <a:rPr lang="en-US" b="1" i="0" u="none" strike="noStrike" kern="1200" dirty="0">
                <a:solidFill>
                  <a:srgbClr val="000000"/>
                </a:solidFill>
                <a:effectLst/>
              </a:rPr>
              <a:t>Sun Java System Web Server</a:t>
            </a:r>
            <a:br>
              <a:rPr lang="en-US" b="0" i="0" u="none" strike="noStrike" kern="1200" dirty="0">
                <a:solidFill>
                  <a:srgbClr val="000000"/>
                </a:solidFill>
                <a:effectLst/>
              </a:rPr>
            </a:br>
            <a:r>
              <a:rPr lang="en-US" b="0" i="0" u="none" strike="noStrike" kern="1200" dirty="0">
                <a:solidFill>
                  <a:srgbClr val="000000"/>
                </a:solidFill>
                <a:effectLst/>
              </a:rPr>
              <a:t>This web server from Sun Microsystems is suited for medium and large web sites. Though the server is free it is not open source. It however, runs on Windows, Linux and UNIX platforms. The Sun Java System web server supports various languages, scripts and technologies required for Web 2.0 such as JSP, Java Servlets, PHP, Perl, Python, and Ruby on Rails, ASP and </a:t>
            </a:r>
            <a:r>
              <a:rPr lang="en-US" b="0" i="0" u="none" strike="noStrike" kern="1200" dirty="0" err="1">
                <a:solidFill>
                  <a:srgbClr val="000000"/>
                </a:solidFill>
                <a:effectLst/>
              </a:rPr>
              <a:t>Coldfusion</a:t>
            </a:r>
            <a:r>
              <a:rPr lang="en-US" b="0" i="0" u="none" strike="noStrike" kern="1200" dirty="0">
                <a:solidFill>
                  <a:srgbClr val="000000"/>
                </a:solidFill>
                <a:effectLst/>
              </a:rPr>
              <a:t> etc.</a:t>
            </a:r>
            <a:endParaRPr lang="en-IN" b="0" i="0" u="none" strike="noStrike" dirty="0">
              <a:effectLst/>
            </a:endParaRPr>
          </a:p>
          <a:p>
            <a:pPr algn="l"/>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Text Placeholder 2"/>
          <p:cNvSpPr>
            <a:spLocks noGrp="1"/>
          </p:cNvSpPr>
          <p:nvPr>
            <p:ph type="body" idx="1"/>
          </p:nvPr>
        </p:nvSpPr>
        <p:spPr>
          <a:xfrm>
            <a:off x="762000" y="990600"/>
            <a:ext cx="10407650" cy="2984215"/>
          </a:xfrm>
        </p:spPr>
        <p:txBody>
          <a:bodyPr/>
          <a:lstStyle/>
          <a:p>
            <a:pPr algn="l" rtl="0"/>
            <a:r>
              <a:rPr lang="en-US" b="1" i="0" u="none" strike="noStrike" kern="1200" dirty="0">
                <a:solidFill>
                  <a:srgbClr val="000000"/>
                </a:solidFill>
                <a:effectLst/>
              </a:rPr>
              <a:t>Jigsaw Server</a:t>
            </a:r>
            <a:br>
              <a:rPr lang="en-US" b="0" i="0" u="none" strike="noStrike" kern="1200" dirty="0">
                <a:solidFill>
                  <a:srgbClr val="000000"/>
                </a:solidFill>
                <a:effectLst/>
              </a:rPr>
            </a:br>
            <a:r>
              <a:rPr lang="en-US" b="0" i="0" u="none" strike="noStrike" kern="1200" dirty="0">
                <a:solidFill>
                  <a:srgbClr val="000000"/>
                </a:solidFill>
                <a:effectLst/>
              </a:rPr>
              <a:t>Jigsaw (W3C's Server) comes from the World Wide Web Consortium. It is open source and free and can run on various platforms like Linux, UNIX, Windows, and Mac OS X Free BSD etc. Jigsaw has been written in Java and can run CGI scripts and PHP programs.</a:t>
            </a:r>
            <a:endParaRPr lang="en-IN" b="0" i="0" u="none" strike="noStrike" dirty="0">
              <a:effectLst/>
            </a:endParaRP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Browser</a:t>
            </a:r>
            <a:endParaRPr lang="en-IN" dirty="0"/>
          </a:p>
        </p:txBody>
      </p:sp>
      <p:sp>
        <p:nvSpPr>
          <p:cNvPr id="3" name="Text Placeholder 2"/>
          <p:cNvSpPr>
            <a:spLocks noGrp="1"/>
          </p:cNvSpPr>
          <p:nvPr>
            <p:ph type="body" idx="1"/>
          </p:nvPr>
        </p:nvSpPr>
        <p:spPr>
          <a:xfrm>
            <a:off x="838200" y="914400"/>
            <a:ext cx="10744200" cy="6248400"/>
          </a:xfrm>
        </p:spPr>
        <p:txBody>
          <a:bodyPr/>
          <a:lstStyle/>
          <a:p>
            <a:pPr algn="just"/>
            <a:r>
              <a:rPr lang="en-US" dirty="0"/>
              <a:t>A browser is a software program that is used to explore, retrieve, and display the information available on the World Wide Web. </a:t>
            </a:r>
            <a:endParaRPr lang="en-US" dirty="0"/>
          </a:p>
          <a:p>
            <a:pPr algn="just"/>
            <a:r>
              <a:rPr lang="en-US" dirty="0"/>
              <a:t>This information may be in the form of pictures, web pages, videos, and other files that all are connected via hyperlinks and categorized with the help of URLs (Uniform Resource Identifiers).</a:t>
            </a:r>
            <a:endParaRPr lang="en-US" dirty="0"/>
          </a:p>
          <a:p>
            <a:pPr algn="just"/>
            <a:r>
              <a:rPr lang="en-US" dirty="0"/>
              <a:t>A browser is a client program as it runs on a user computer or mobile device and contacts the webserver for the information requested by the user.</a:t>
            </a:r>
            <a:endParaRPr lang="en-US" dirty="0"/>
          </a:p>
          <a:p>
            <a:pPr algn="just"/>
            <a:r>
              <a:rPr lang="en-US" sz="2400" dirty="0"/>
              <a:t>The web server sends the data back to the browser that displays the results on internet supported devices. On behalf of the users, the browser sends requests to web servers all over the internet by using </a:t>
            </a:r>
            <a:r>
              <a:rPr lang="en-US" sz="2400" dirty="0">
                <a:hlinkClick r:id="rId1"/>
              </a:rPr>
              <a:t>HTTP</a:t>
            </a:r>
            <a:r>
              <a:rPr lang="en-US" sz="2400" dirty="0"/>
              <a:t> (Hypertext Transfer Protocol). </a:t>
            </a:r>
            <a:endParaRPr lang="en-US"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Browser</a:t>
            </a:r>
            <a:endParaRPr lang="en-IN" dirty="0"/>
          </a:p>
        </p:txBody>
      </p:sp>
      <p:sp>
        <p:nvSpPr>
          <p:cNvPr id="3" name="Text Placeholder 2"/>
          <p:cNvSpPr>
            <a:spLocks noGrp="1"/>
          </p:cNvSpPr>
          <p:nvPr>
            <p:ph type="body" idx="1"/>
          </p:nvPr>
        </p:nvSpPr>
        <p:spPr>
          <a:xfrm>
            <a:off x="762000" y="914400"/>
            <a:ext cx="11049000" cy="5523372"/>
          </a:xfrm>
        </p:spPr>
        <p:txBody>
          <a:bodyPr/>
          <a:lstStyle/>
          <a:p>
            <a:pPr algn="just"/>
            <a:r>
              <a:rPr lang="en-US" dirty="0"/>
              <a:t>A browser requires a smartphone, computer, or tablet and internet to work.</a:t>
            </a:r>
            <a:endParaRPr lang="en-US" dirty="0"/>
          </a:p>
          <a:p>
            <a:r>
              <a:rPr lang="en-US" b="1" dirty="0"/>
              <a:t>Features of Web Browser</a:t>
            </a:r>
            <a:endParaRPr lang="en-US" dirty="0"/>
          </a:p>
          <a:p>
            <a:r>
              <a:rPr lang="en-US" dirty="0"/>
              <a:t>Most Web browsers offer common features such as:</a:t>
            </a:r>
            <a:endParaRPr lang="en-US" b="1" dirty="0"/>
          </a:p>
          <a:p>
            <a:r>
              <a:rPr lang="en-US" b="1" dirty="0"/>
              <a:t>Refresh button:</a:t>
            </a:r>
            <a:r>
              <a:rPr lang="en-US" dirty="0"/>
              <a:t> Refresh button allows the website to reload the contents of the web pages. Most of the web browsers store local copies of visited pages to enhance the performance by using a caching mechanism. Sometimes, it stops you from seeing the updated information; in this case, by clicking on the refresh button, you can see the updated information.</a:t>
            </a:r>
            <a:endParaRPr lang="en-US" dirty="0"/>
          </a:p>
          <a:p>
            <a:r>
              <a:rPr lang="en-US" b="1" dirty="0"/>
              <a:t>Stop button:</a:t>
            </a:r>
            <a:r>
              <a:rPr lang="en-US" dirty="0"/>
              <a:t> It is used to cancel the communication of the web browser with the server and stops loading the page content. For example, if any malicious site enters the browser accidentally, it helps to save from it by clicking on the stop button.</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Browser</a:t>
            </a:r>
            <a:endParaRPr lang="en-IN" dirty="0"/>
          </a:p>
        </p:txBody>
      </p:sp>
      <p:sp>
        <p:nvSpPr>
          <p:cNvPr id="3" name="Text Placeholder 2"/>
          <p:cNvSpPr>
            <a:spLocks noGrp="1"/>
          </p:cNvSpPr>
          <p:nvPr>
            <p:ph type="body" idx="1"/>
          </p:nvPr>
        </p:nvSpPr>
        <p:spPr>
          <a:xfrm>
            <a:off x="838200" y="826797"/>
            <a:ext cx="10712450" cy="6031203"/>
          </a:xfrm>
        </p:spPr>
        <p:txBody>
          <a:bodyPr/>
          <a:lstStyle/>
          <a:p>
            <a:r>
              <a:rPr lang="en-US" b="1" dirty="0"/>
              <a:t>Home button:</a:t>
            </a:r>
            <a:r>
              <a:rPr lang="en-US" dirty="0"/>
              <a:t> It provides users the option to bring up the predefined home page of the website.</a:t>
            </a:r>
            <a:endParaRPr lang="en-US" dirty="0"/>
          </a:p>
          <a:p>
            <a:r>
              <a:rPr lang="en-US" b="1" dirty="0"/>
              <a:t>Web address bar:</a:t>
            </a:r>
            <a:r>
              <a:rPr lang="en-US" dirty="0"/>
              <a:t> It allows the users to enter a web address in the address bar and visit the website.</a:t>
            </a:r>
            <a:endParaRPr lang="en-US" dirty="0"/>
          </a:p>
          <a:p>
            <a:r>
              <a:rPr lang="en-US" b="1" dirty="0"/>
              <a:t>Tabbed browsing:</a:t>
            </a:r>
            <a:r>
              <a:rPr lang="en-US" dirty="0"/>
              <a:t> It provides users the option to open multiple websites on a single window. It helps users to read different websites at the same time. For example, when you search for anything on the browser, it provides you a list of search results for your query. You can open all the results by right-clicking on each link, staying on the same page.</a:t>
            </a:r>
            <a:endParaRPr lang="en-US" dirty="0"/>
          </a:p>
          <a:p>
            <a:r>
              <a:rPr lang="en-US" b="1" dirty="0"/>
              <a:t>Bookmarks:</a:t>
            </a:r>
            <a:r>
              <a:rPr lang="en-US" dirty="0"/>
              <a:t> It allows the users to select particular website to save it for the later retrieval of information, which is predefined by the users.</a:t>
            </a:r>
            <a:endParaRPr lang="en-US"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Browser</a:t>
            </a:r>
            <a:endParaRPr lang="en-IN" dirty="0"/>
          </a:p>
        </p:txBody>
      </p:sp>
      <p:sp>
        <p:nvSpPr>
          <p:cNvPr id="3" name="Text Placeholder 2"/>
          <p:cNvSpPr>
            <a:spLocks noGrp="1"/>
          </p:cNvSpPr>
          <p:nvPr>
            <p:ph type="body" idx="1"/>
          </p:nvPr>
        </p:nvSpPr>
        <p:spPr>
          <a:xfrm>
            <a:off x="914400" y="914400"/>
            <a:ext cx="10636250" cy="7046866"/>
          </a:xfrm>
        </p:spPr>
        <p:txBody>
          <a:bodyPr/>
          <a:lstStyle/>
          <a:p>
            <a:r>
              <a:rPr lang="en-US" b="1" dirty="0"/>
              <a:t>What is the URL (Uniform Resource Locator)?</a:t>
            </a:r>
            <a:endParaRPr lang="en-US" b="1" dirty="0"/>
          </a:p>
          <a:p>
            <a:r>
              <a:rPr lang="en-US" dirty="0">
                <a:solidFill>
                  <a:schemeClr val="tx1"/>
                </a:solidFill>
              </a:rPr>
              <a:t>A </a:t>
            </a:r>
            <a:r>
              <a:rPr lang="en-US" b="1" dirty="0">
                <a:solidFill>
                  <a:schemeClr val="tx1"/>
                </a:solidFill>
              </a:rPr>
              <a:t>uniform resource locator</a:t>
            </a:r>
            <a:r>
              <a:rPr lang="en-US" dirty="0">
                <a:solidFill>
                  <a:schemeClr val="tx1"/>
                </a:solidFill>
              </a:rPr>
              <a:t> is the address of a resource on the internet or the World Wide Web. </a:t>
            </a:r>
            <a:endParaRPr lang="en-US" dirty="0">
              <a:solidFill>
                <a:schemeClr val="tx1"/>
              </a:solidFill>
            </a:endParaRPr>
          </a:p>
          <a:p>
            <a:r>
              <a:rPr lang="en-US" dirty="0">
                <a:solidFill>
                  <a:schemeClr val="tx1"/>
                </a:solidFill>
              </a:rPr>
              <a:t>It is also known as a web address or uniform resource identifier (URI). </a:t>
            </a:r>
            <a:endParaRPr lang="en-US" dirty="0">
              <a:solidFill>
                <a:schemeClr val="tx1"/>
              </a:solidFill>
            </a:endParaRPr>
          </a:p>
          <a:p>
            <a:r>
              <a:rPr lang="en-US" dirty="0">
                <a:solidFill>
                  <a:schemeClr val="tx1"/>
                </a:solidFill>
              </a:rPr>
              <a:t>A URL represents the address of a resource, including the protocol used to access it.</a:t>
            </a:r>
            <a:endParaRPr lang="en-US" dirty="0">
              <a:solidFill>
                <a:schemeClr val="tx1"/>
              </a:solidFill>
            </a:endParaRPr>
          </a:p>
          <a:p>
            <a:r>
              <a:rPr lang="en-US" dirty="0">
                <a:solidFill>
                  <a:schemeClr val="tx1"/>
                </a:solidFill>
              </a:rPr>
              <a:t>A URL includes the following information:</a:t>
            </a:r>
            <a:endParaRPr lang="en-US" dirty="0">
              <a:solidFill>
                <a:schemeClr val="tx1"/>
              </a:solidFill>
            </a:endParaRPr>
          </a:p>
          <a:p>
            <a:r>
              <a:rPr lang="en-US" dirty="0">
                <a:solidFill>
                  <a:schemeClr val="tx1"/>
                </a:solidFill>
              </a:rPr>
              <a:t>It uses the protocol to access the resource.</a:t>
            </a:r>
            <a:endParaRPr lang="en-US" dirty="0">
              <a:solidFill>
                <a:schemeClr val="tx1"/>
              </a:solidFill>
            </a:endParaRPr>
          </a:p>
          <a:p>
            <a:r>
              <a:rPr lang="en-US" dirty="0">
                <a:solidFill>
                  <a:schemeClr val="tx1"/>
                </a:solidFill>
              </a:rPr>
              <a:t>It defines the location of a server by IP address or the domain name.</a:t>
            </a:r>
            <a:endParaRPr lang="en-US" dirty="0">
              <a:solidFill>
                <a:schemeClr val="tx1"/>
              </a:solidFill>
            </a:endParaRPr>
          </a:p>
          <a:p>
            <a:r>
              <a:rPr lang="en-US" dirty="0">
                <a:solidFill>
                  <a:schemeClr val="tx1"/>
                </a:solidFill>
              </a:rPr>
              <a:t>It includes a fragment identifier, which is optional.</a:t>
            </a:r>
            <a:endParaRPr lang="en-US" dirty="0">
              <a:solidFill>
                <a:schemeClr val="tx1"/>
              </a:solidFill>
            </a:endParaRPr>
          </a:p>
          <a:p>
            <a:r>
              <a:rPr lang="en-US" dirty="0">
                <a:solidFill>
                  <a:schemeClr val="tx1"/>
                </a:solidFill>
              </a:rPr>
              <a:t>It contains the location of the resource in the directory of the server.</a:t>
            </a:r>
            <a:endParaRPr lang="en-US" dirty="0">
              <a:solidFill>
                <a:schemeClr val="tx1"/>
              </a:solidFill>
            </a:endParaRPr>
          </a:p>
          <a:p>
            <a:endParaRPr lang="en-US" dirty="0">
              <a:solidFill>
                <a:schemeClr val="tx1"/>
              </a:solidFill>
            </a:endParaRPr>
          </a:p>
          <a:p>
            <a:endParaRPr lang="en-US"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Browser</a:t>
            </a:r>
            <a:endParaRPr lang="en-IN" dirty="0"/>
          </a:p>
        </p:txBody>
      </p:sp>
      <p:sp>
        <p:nvSpPr>
          <p:cNvPr id="3" name="Text Placeholder 2"/>
          <p:cNvSpPr>
            <a:spLocks noGrp="1"/>
          </p:cNvSpPr>
          <p:nvPr>
            <p:ph type="body" idx="1"/>
          </p:nvPr>
        </p:nvSpPr>
        <p:spPr>
          <a:xfrm>
            <a:off x="777874" y="762000"/>
            <a:ext cx="11109325" cy="6031203"/>
          </a:xfrm>
        </p:spPr>
        <p:txBody>
          <a:bodyPr/>
          <a:lstStyle/>
          <a:p>
            <a:pPr algn="just"/>
            <a:r>
              <a:rPr lang="en-US" dirty="0">
                <a:solidFill>
                  <a:schemeClr val="tx1"/>
                </a:solidFill>
              </a:rPr>
              <a:t>A URL forwards user to a particular online resource, such as a video, webpage, or other resources. </a:t>
            </a:r>
            <a:endParaRPr lang="en-US" dirty="0">
              <a:solidFill>
                <a:schemeClr val="tx1"/>
              </a:solidFill>
            </a:endParaRPr>
          </a:p>
          <a:p>
            <a:pPr algn="just"/>
            <a:r>
              <a:rPr lang="en-US" dirty="0">
                <a:solidFill>
                  <a:schemeClr val="tx1"/>
                </a:solidFill>
              </a:rPr>
              <a:t>For example, when you search information on Google, the search results display the URL of the relevant resources in response to your search query. The title which appears in the search results is a hyperlink of the URL of the webpage. </a:t>
            </a:r>
            <a:endParaRPr lang="en-US" dirty="0">
              <a:solidFill>
                <a:schemeClr val="tx1"/>
              </a:solidFill>
            </a:endParaRPr>
          </a:p>
          <a:p>
            <a:pPr algn="just"/>
            <a:r>
              <a:rPr lang="en-US" dirty="0">
                <a:solidFill>
                  <a:schemeClr val="tx1"/>
                </a:solidFill>
              </a:rPr>
              <a:t>It is a </a:t>
            </a:r>
            <a:r>
              <a:rPr lang="en-US" b="1" dirty="0">
                <a:solidFill>
                  <a:schemeClr val="tx1"/>
                </a:solidFill>
              </a:rPr>
              <a:t>Uniform Resource Identifier</a:t>
            </a:r>
            <a:r>
              <a:rPr lang="en-US" dirty="0">
                <a:solidFill>
                  <a:schemeClr val="tx1"/>
                </a:solidFill>
              </a:rPr>
              <a:t>, which refers to all kinds of names and addresses of the resources on the webservers. URL's first part is known as a </a:t>
            </a:r>
            <a:r>
              <a:rPr lang="en-US" b="1" dirty="0">
                <a:solidFill>
                  <a:schemeClr val="tx1"/>
                </a:solidFill>
              </a:rPr>
              <a:t>protocol identifier</a:t>
            </a:r>
            <a:r>
              <a:rPr lang="en-US" dirty="0">
                <a:solidFill>
                  <a:schemeClr val="tx1"/>
                </a:solidFill>
              </a:rPr>
              <a:t>, and it specifies the protocol to use, and the second part, which is known as a resource name, represents the IP address or the domain name of a resource. </a:t>
            </a:r>
            <a:endParaRPr lang="en-US" dirty="0">
              <a:solidFill>
                <a:schemeClr val="tx1"/>
              </a:solidFill>
            </a:endParaRPr>
          </a:p>
          <a:p>
            <a:pPr algn="just"/>
            <a:r>
              <a:rPr lang="en-US" dirty="0">
                <a:solidFill>
                  <a:schemeClr val="tx1"/>
                </a:solidFill>
              </a:rPr>
              <a:t>Both parts are differentiated by a colon and two forward slashes like </a:t>
            </a:r>
            <a:r>
              <a:rPr lang="en-US" b="1" dirty="0">
                <a:solidFill>
                  <a:schemeClr val="tx1"/>
                </a:solidFill>
              </a:rPr>
              <a:t>http://www.javatpoint.com.</a:t>
            </a:r>
            <a:endParaRPr lang="en-US" dirty="0">
              <a:solidFill>
                <a:schemeClr val="tx1"/>
              </a:solidFill>
            </a:endParaRPr>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1107996"/>
          </a:xfrm>
        </p:spPr>
        <p:txBody>
          <a:bodyPr/>
          <a:lstStyle/>
          <a:p>
            <a:r>
              <a:rPr lang="en-US" b="1" dirty="0"/>
              <a:t>Component of a Web browser</a:t>
            </a:r>
            <a:br>
              <a:rPr lang="en-US" b="1" dirty="0"/>
            </a:br>
            <a:endParaRPr lang="en-IN" dirty="0"/>
          </a:p>
        </p:txBody>
      </p:sp>
      <p:sp>
        <p:nvSpPr>
          <p:cNvPr id="3" name="Text Placeholder 2"/>
          <p:cNvSpPr>
            <a:spLocks noGrp="1"/>
          </p:cNvSpPr>
          <p:nvPr>
            <p:ph type="body" idx="1"/>
          </p:nvPr>
        </p:nvSpPr>
        <p:spPr>
          <a:xfrm>
            <a:off x="892175" y="914400"/>
            <a:ext cx="10407650" cy="5523372"/>
          </a:xfrm>
        </p:spPr>
        <p:txBody>
          <a:bodyPr/>
          <a:lstStyle/>
          <a:p>
            <a:pPr algn="just"/>
            <a:r>
              <a:rPr lang="en-US" b="1" dirty="0">
                <a:solidFill>
                  <a:schemeClr val="tx1"/>
                </a:solidFill>
              </a:rPr>
              <a:t>User Interface: </a:t>
            </a:r>
            <a:r>
              <a:rPr lang="en-US" dirty="0">
                <a:solidFill>
                  <a:schemeClr val="tx1"/>
                </a:solidFill>
              </a:rPr>
              <a:t>The user interface is an area where the user can use several options like address bar, back and forward button, menu, bookmarking, and many other options to interact with the browser.</a:t>
            </a:r>
            <a:endParaRPr lang="en-US" dirty="0">
              <a:solidFill>
                <a:schemeClr val="tx1"/>
              </a:solidFill>
            </a:endParaRPr>
          </a:p>
          <a:p>
            <a:pPr algn="just"/>
            <a:r>
              <a:rPr lang="en-US" b="1" dirty="0">
                <a:solidFill>
                  <a:schemeClr val="tx1"/>
                </a:solidFill>
              </a:rPr>
              <a:t>Browser Engine: </a:t>
            </a:r>
            <a:r>
              <a:rPr lang="en-US" dirty="0">
                <a:solidFill>
                  <a:schemeClr val="tx1"/>
                </a:solidFill>
              </a:rPr>
              <a:t>It connects the UI (User Interface) and the rendering engine as a bridge. It queries and manipulates the rendering engine based on inputs from several user interfaces.</a:t>
            </a:r>
            <a:endParaRPr lang="en-US" dirty="0">
              <a:solidFill>
                <a:schemeClr val="tx1"/>
              </a:solidFill>
            </a:endParaRPr>
          </a:p>
          <a:p>
            <a:pPr algn="just"/>
            <a:r>
              <a:rPr lang="en-US" b="1" dirty="0">
                <a:solidFill>
                  <a:schemeClr val="tx1"/>
                </a:solidFill>
              </a:rPr>
              <a:t>Rendering Engine: </a:t>
            </a:r>
            <a:r>
              <a:rPr lang="en-US" dirty="0">
                <a:solidFill>
                  <a:schemeClr val="tx1"/>
                </a:solidFill>
              </a:rPr>
              <a:t>It is responsible for displaying the requested content on the browser screen. It translates the HTML, XML files, and images, which are formatted by using the CSS. It generates the layout of the content and displays it on the browser screen. </a:t>
            </a:r>
            <a:endParaRPr lang="en-US" dirty="0">
              <a:solidFill>
                <a:schemeClr val="tx1"/>
              </a:solidFill>
            </a:endParaRPr>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1107996"/>
          </a:xfrm>
        </p:spPr>
        <p:txBody>
          <a:bodyPr/>
          <a:lstStyle/>
          <a:p>
            <a:r>
              <a:rPr lang="en-US" b="1" dirty="0"/>
              <a:t>Component of a Web browser</a:t>
            </a:r>
            <a:br>
              <a:rPr lang="en-US" b="1" dirty="0"/>
            </a:br>
            <a:endParaRPr lang="en-IN" dirty="0"/>
          </a:p>
        </p:txBody>
      </p:sp>
      <p:sp>
        <p:nvSpPr>
          <p:cNvPr id="3" name="Text Placeholder 2"/>
          <p:cNvSpPr>
            <a:spLocks noGrp="1"/>
          </p:cNvSpPr>
          <p:nvPr>
            <p:ph type="body" idx="1"/>
          </p:nvPr>
        </p:nvSpPr>
        <p:spPr>
          <a:xfrm>
            <a:off x="625475" y="762000"/>
            <a:ext cx="10956926" cy="7046866"/>
          </a:xfrm>
        </p:spPr>
        <p:txBody>
          <a:bodyPr/>
          <a:lstStyle/>
          <a:p>
            <a:pPr algn="just"/>
            <a:r>
              <a:rPr lang="en-US" dirty="0">
                <a:solidFill>
                  <a:schemeClr val="tx1"/>
                </a:solidFill>
              </a:rPr>
              <a:t>Although it can also display the other types of content by using different types of plugins or extensions. such as:</a:t>
            </a:r>
            <a:endParaRPr lang="en-US" dirty="0">
              <a:solidFill>
                <a:schemeClr val="tx1"/>
              </a:solidFill>
            </a:endParaRPr>
          </a:p>
          <a:p>
            <a:pPr algn="just"/>
            <a:r>
              <a:rPr lang="en-US" dirty="0">
                <a:solidFill>
                  <a:schemeClr val="tx1"/>
                </a:solidFill>
              </a:rPr>
              <a:t>    </a:t>
            </a:r>
            <a:r>
              <a:rPr lang="en-US" sz="2000" dirty="0">
                <a:solidFill>
                  <a:schemeClr val="tx1"/>
                </a:solidFill>
              </a:rPr>
              <a:t>Internet Explorer uses Trident</a:t>
            </a:r>
            <a:endParaRPr lang="en-US" sz="2000" dirty="0">
              <a:solidFill>
                <a:schemeClr val="tx1"/>
              </a:solidFill>
            </a:endParaRPr>
          </a:p>
          <a:p>
            <a:pPr algn="just"/>
            <a:r>
              <a:rPr lang="en-US" sz="2000" dirty="0">
                <a:solidFill>
                  <a:schemeClr val="tx1"/>
                </a:solidFill>
              </a:rPr>
              <a:t>    Chrome &amp; Opera 15+ use Blink</a:t>
            </a:r>
            <a:endParaRPr lang="en-US" sz="2000" dirty="0">
              <a:solidFill>
                <a:schemeClr val="tx1"/>
              </a:solidFill>
            </a:endParaRPr>
          </a:p>
          <a:p>
            <a:pPr algn="just"/>
            <a:r>
              <a:rPr lang="en-US" sz="2000" dirty="0">
                <a:solidFill>
                  <a:schemeClr val="tx1"/>
                </a:solidFill>
              </a:rPr>
              <a:t>    Chrome (iPhone) &amp; Safari use </a:t>
            </a:r>
            <a:r>
              <a:rPr lang="en-US" sz="2000" dirty="0" err="1">
                <a:solidFill>
                  <a:schemeClr val="tx1"/>
                </a:solidFill>
              </a:rPr>
              <a:t>Webkit</a:t>
            </a:r>
            <a:endParaRPr lang="en-US" sz="2000" dirty="0">
              <a:solidFill>
                <a:schemeClr val="tx1"/>
              </a:solidFill>
            </a:endParaRPr>
          </a:p>
          <a:p>
            <a:pPr algn="just"/>
            <a:r>
              <a:rPr lang="en-US" sz="2000" dirty="0">
                <a:solidFill>
                  <a:schemeClr val="tx1"/>
                </a:solidFill>
              </a:rPr>
              <a:t>    Firefox &amp; other Mozilla browsers use Gecko</a:t>
            </a:r>
            <a:endParaRPr lang="en-US" sz="2000" dirty="0">
              <a:solidFill>
                <a:schemeClr val="tx1"/>
              </a:solidFill>
            </a:endParaRPr>
          </a:p>
          <a:p>
            <a:pPr algn="just"/>
            <a:r>
              <a:rPr lang="en-US" b="1" dirty="0">
                <a:solidFill>
                  <a:schemeClr val="tx1"/>
                </a:solidFill>
              </a:rPr>
              <a:t>Networking:</a:t>
            </a:r>
            <a:r>
              <a:rPr lang="en-US" dirty="0">
                <a:solidFill>
                  <a:schemeClr val="tx1"/>
                </a:solidFill>
              </a:rPr>
              <a:t> It retrieves the URLs by using internet protocols like HTTP or FTP. It is responsible for maintaining all aspects of Internet communication and security. Furthermore, it may be used to cache a retrieved document to reduce network traffic.</a:t>
            </a:r>
            <a:endParaRPr lang="en-US" dirty="0">
              <a:solidFill>
                <a:schemeClr val="tx1"/>
              </a:solidFill>
            </a:endParaRPr>
          </a:p>
          <a:p>
            <a:pPr algn="just"/>
            <a:r>
              <a:rPr lang="en-US" b="1" dirty="0">
                <a:solidFill>
                  <a:schemeClr val="tx1"/>
                </a:solidFill>
              </a:rPr>
              <a:t>JavaScript Interpreter: </a:t>
            </a:r>
            <a:r>
              <a:rPr lang="en-US" dirty="0">
                <a:solidFill>
                  <a:schemeClr val="tx1"/>
                </a:solidFill>
              </a:rPr>
              <a:t>As the name suggests, JavaScript Interpreter translates and executes the JavaScript code, which is included in a website. The translated results are sent to the rendering engine to display results on the device screen.</a:t>
            </a:r>
            <a:endParaRPr lang="en-US" dirty="0">
              <a:solidFill>
                <a:schemeClr val="tx1"/>
              </a:solidFill>
            </a:endParaRPr>
          </a:p>
          <a:p>
            <a:endParaRPr lang="en-US" dirty="0">
              <a:solidFill>
                <a:schemeClr val="tx1"/>
              </a:solidFill>
            </a:endParaRP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1107996"/>
          </a:xfrm>
        </p:spPr>
        <p:txBody>
          <a:bodyPr/>
          <a:lstStyle/>
          <a:p>
            <a:r>
              <a:rPr lang="en-US" dirty="0"/>
              <a:t>Component of a Web browser</a:t>
            </a:r>
            <a:br>
              <a:rPr lang="en-US" dirty="0"/>
            </a:br>
            <a:endParaRPr lang="en-IN" dirty="0"/>
          </a:p>
        </p:txBody>
      </p:sp>
      <p:sp>
        <p:nvSpPr>
          <p:cNvPr id="3" name="Text Placeholder 2"/>
          <p:cNvSpPr>
            <a:spLocks noGrp="1"/>
          </p:cNvSpPr>
          <p:nvPr>
            <p:ph type="body" idx="1"/>
          </p:nvPr>
        </p:nvSpPr>
        <p:spPr>
          <a:xfrm>
            <a:off x="685800" y="1066800"/>
            <a:ext cx="11201400" cy="3999878"/>
          </a:xfrm>
        </p:spPr>
        <p:txBody>
          <a:bodyPr/>
          <a:lstStyle/>
          <a:p>
            <a:pPr algn="just"/>
            <a:r>
              <a:rPr lang="en-US" b="1" dirty="0"/>
              <a:t>UI Backend: </a:t>
            </a:r>
            <a:r>
              <a:rPr lang="en-US" dirty="0"/>
              <a:t>It is used to draw basic combo boxes and Windows (widgets). It specifies a generic interface, which is not platform-specific.</a:t>
            </a:r>
            <a:endParaRPr lang="en-US" dirty="0"/>
          </a:p>
          <a:p>
            <a:pPr algn="just"/>
            <a:r>
              <a:rPr lang="en-US" b="1" dirty="0"/>
              <a:t>Data Storage: </a:t>
            </a:r>
            <a:r>
              <a:rPr lang="en-US" dirty="0"/>
              <a:t>The data storage is a persistence layer that is used by the browser to store all sorts of information locally, like cookies. A browser also supports different storage mechanisms such as </a:t>
            </a:r>
            <a:r>
              <a:rPr lang="en-US" dirty="0" err="1"/>
              <a:t>IndexedDB</a:t>
            </a:r>
            <a:r>
              <a:rPr lang="en-US" dirty="0"/>
              <a:t>, </a:t>
            </a:r>
            <a:r>
              <a:rPr lang="en-US" dirty="0" err="1"/>
              <a:t>WebSQL</a:t>
            </a:r>
            <a:r>
              <a:rPr lang="en-US" dirty="0"/>
              <a:t>, </a:t>
            </a:r>
            <a:r>
              <a:rPr lang="en-US" dirty="0" err="1"/>
              <a:t>localStorage</a:t>
            </a:r>
            <a:r>
              <a:rPr lang="en-US" dirty="0"/>
              <a:t>, and </a:t>
            </a:r>
            <a:r>
              <a:rPr lang="en-US" dirty="0" err="1"/>
              <a:t>FileSystem</a:t>
            </a:r>
            <a:r>
              <a:rPr lang="en-US" dirty="0"/>
              <a:t>. It is a database stored on the local drive of your computer where the browser is installed. It handles user data like cache, bookmarks, cookies, and preferences.</a:t>
            </a:r>
            <a:endParaRPr lang="en-US" dirty="0"/>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0634135" y="6356350"/>
            <a:ext cx="1530927" cy="365125"/>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C11CE39-2868-44A2-A0C6-827D458F7A8B}" type="slidenum">
              <a:rPr lang="en-IN" smtClean="0"/>
            </a:fld>
            <a:endParaRPr lang="en-IN"/>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76273" y="817123"/>
            <a:ext cx="7191476" cy="5165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 browser work?</a:t>
            </a:r>
            <a:endParaRPr lang="en-IN" dirty="0"/>
          </a:p>
        </p:txBody>
      </p:sp>
      <p:sp>
        <p:nvSpPr>
          <p:cNvPr id="3" name="Text Placeholder 2"/>
          <p:cNvSpPr>
            <a:spLocks noGrp="1"/>
          </p:cNvSpPr>
          <p:nvPr>
            <p:ph type="body" idx="1"/>
          </p:nvPr>
        </p:nvSpPr>
        <p:spPr>
          <a:xfrm>
            <a:off x="609600" y="891386"/>
            <a:ext cx="11125200" cy="5985036"/>
          </a:xfrm>
        </p:spPr>
        <p:txBody>
          <a:bodyPr/>
          <a:lstStyle/>
          <a:p>
            <a:pPr algn="just"/>
            <a:r>
              <a:rPr lang="en-US" sz="2400" dirty="0">
                <a:solidFill>
                  <a:schemeClr val="tx1"/>
                </a:solidFill>
              </a:rPr>
              <a:t>When a user enters a web address or URL in the search bar like javatpoint.com, the request is passed to a </a:t>
            </a:r>
            <a:r>
              <a:rPr lang="en-US" sz="2400" b="1" dirty="0">
                <a:solidFill>
                  <a:schemeClr val="tx1"/>
                </a:solidFill>
              </a:rPr>
              <a:t>domain name servers</a:t>
            </a:r>
            <a:r>
              <a:rPr lang="en-US" sz="2400" dirty="0">
                <a:solidFill>
                  <a:schemeClr val="tx1"/>
                </a:solidFill>
              </a:rPr>
              <a:t> (DNS). All of these requests are routed via several routers and switches.</a:t>
            </a:r>
            <a:endParaRPr lang="en-US" sz="2400" dirty="0">
              <a:solidFill>
                <a:schemeClr val="tx1"/>
              </a:solidFill>
            </a:endParaRPr>
          </a:p>
          <a:p>
            <a:pPr algn="just"/>
            <a:r>
              <a:rPr lang="en-US" sz="2400" dirty="0">
                <a:solidFill>
                  <a:schemeClr val="tx1"/>
                </a:solidFill>
              </a:rPr>
              <a:t>The domain name servers hold a list of system names and their corresponding IP addresses. Thus, when you type something in the browser search bar, it gets converted into a number that determines the computers to which the search results are to be displayed.</a:t>
            </a:r>
            <a:endParaRPr lang="en-US" sz="2400" dirty="0">
              <a:solidFill>
                <a:schemeClr val="tx1"/>
              </a:solidFill>
            </a:endParaRPr>
          </a:p>
          <a:p>
            <a:pPr algn="just"/>
            <a:r>
              <a:rPr lang="en-US" sz="2400" dirty="0">
                <a:solidFill>
                  <a:schemeClr val="tx1"/>
                </a:solidFill>
              </a:rPr>
              <a:t>The browser acts as a part of the client-server model. A browser is a client program that sends the request to the server in response to the user search queries by using Hypertext Transfer Protocol or HTTP. </a:t>
            </a:r>
            <a:endParaRPr lang="en-US" dirty="0">
              <a:solidFill>
                <a:schemeClr val="tx1"/>
              </a:solidFill>
            </a:endParaRPr>
          </a:p>
          <a:p>
            <a:pPr algn="just"/>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 browser work?</a:t>
            </a:r>
            <a:endParaRPr lang="en-IN" dirty="0"/>
          </a:p>
        </p:txBody>
      </p:sp>
      <p:sp>
        <p:nvSpPr>
          <p:cNvPr id="3" name="Text Placeholder 2"/>
          <p:cNvSpPr>
            <a:spLocks noGrp="1"/>
          </p:cNvSpPr>
          <p:nvPr>
            <p:ph type="body" idx="1"/>
          </p:nvPr>
        </p:nvSpPr>
        <p:spPr>
          <a:xfrm>
            <a:off x="762000" y="981924"/>
            <a:ext cx="10972800" cy="1968552"/>
          </a:xfrm>
        </p:spPr>
        <p:txBody>
          <a:bodyPr/>
          <a:lstStyle/>
          <a:p>
            <a:pPr algn="just"/>
            <a:r>
              <a:rPr lang="en-US" dirty="0">
                <a:solidFill>
                  <a:schemeClr val="tx1"/>
                </a:solidFill>
              </a:rPr>
              <a:t>When the server receives the request, it collects information about the requested document and forwards the information back to the browser. </a:t>
            </a:r>
            <a:endParaRPr lang="en-US" dirty="0">
              <a:solidFill>
                <a:schemeClr val="tx1"/>
              </a:solidFill>
            </a:endParaRPr>
          </a:p>
          <a:p>
            <a:pPr algn="just"/>
            <a:r>
              <a:rPr lang="en-US" dirty="0">
                <a:solidFill>
                  <a:schemeClr val="tx1"/>
                </a:solidFill>
              </a:rPr>
              <a:t>Thereafter, the browser translates and displays the information on the user device.</a:t>
            </a:r>
            <a:endParaRPr lang="en-US" dirty="0">
              <a:solidFill>
                <a:schemeClr val="tx1"/>
              </a:solidFill>
            </a:endParaRPr>
          </a:p>
          <a:p>
            <a:pPr algn="just"/>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600329"/>
          </a:xfrm>
        </p:spPr>
        <p:txBody>
          <a:bodyPr/>
          <a:lstStyle/>
          <a:p>
            <a:r>
              <a:rPr lang="en-US" dirty="0"/>
              <a:t>HTTP request and Response Model 	</a:t>
            </a:r>
            <a:br>
              <a:rPr lang="en-US" dirty="0"/>
            </a:br>
            <a:endParaRPr lang="en-IN" dirty="0"/>
          </a:p>
        </p:txBody>
      </p:sp>
      <p:sp>
        <p:nvSpPr>
          <p:cNvPr id="3" name="Text Placeholder 2"/>
          <p:cNvSpPr>
            <a:spLocks noGrp="1"/>
          </p:cNvSpPr>
          <p:nvPr>
            <p:ph type="body" idx="1"/>
          </p:nvPr>
        </p:nvSpPr>
        <p:spPr>
          <a:xfrm>
            <a:off x="685800" y="990600"/>
            <a:ext cx="10972800" cy="4507709"/>
          </a:xfrm>
        </p:spPr>
        <p:txBody>
          <a:bodyPr/>
          <a:lstStyle/>
          <a:p>
            <a:pPr algn="just"/>
            <a:r>
              <a:rPr lang="en-US" dirty="0">
                <a:solidFill>
                  <a:schemeClr val="tx1"/>
                </a:solidFill>
                <a:cs typeface="Times New Roman" panose="02020503050405090304" pitchFamily="18" charset="0"/>
              </a:rPr>
              <a:t>HTTP means </a:t>
            </a:r>
            <a:r>
              <a:rPr lang="en-US" dirty="0" err="1">
                <a:solidFill>
                  <a:schemeClr val="tx1"/>
                </a:solidFill>
                <a:cs typeface="Times New Roman" panose="02020503050405090304" pitchFamily="18" charset="0"/>
              </a:rPr>
              <a:t>HyperText</a:t>
            </a:r>
            <a:r>
              <a:rPr lang="en-US" dirty="0">
                <a:solidFill>
                  <a:schemeClr val="tx1"/>
                </a:solidFill>
                <a:cs typeface="Times New Roman" panose="02020503050405090304" pitchFamily="18" charset="0"/>
              </a:rPr>
              <a:t> Transfer Protocol. </a:t>
            </a:r>
            <a:endParaRPr lang="en-US" dirty="0">
              <a:solidFill>
                <a:schemeClr val="tx1"/>
              </a:solidFill>
              <a:cs typeface="Times New Roman" panose="02020503050405090304" pitchFamily="18" charset="0"/>
            </a:endParaRPr>
          </a:p>
          <a:p>
            <a:pPr algn="just"/>
            <a:r>
              <a:rPr lang="en-US" dirty="0">
                <a:solidFill>
                  <a:schemeClr val="tx1"/>
                </a:solidFill>
                <a:cs typeface="Times New Roman" panose="02020503050405090304" pitchFamily="18" charset="0"/>
              </a:rPr>
              <a:t>HTTP is used by the World Wide Web and this protocol defines how messages are formatted and transmitted, and what actions Web servers and browsers should take in response to various commands.</a:t>
            </a:r>
            <a:endParaRPr lang="en-US" dirty="0">
              <a:solidFill>
                <a:schemeClr val="tx1"/>
              </a:solidFill>
              <a:cs typeface="Times New Roman" panose="02020503050405090304" pitchFamily="18" charset="0"/>
            </a:endParaRPr>
          </a:p>
          <a:p>
            <a:pPr algn="just"/>
            <a:r>
              <a:rPr lang="en-US" dirty="0">
                <a:solidFill>
                  <a:schemeClr val="tx1"/>
                </a:solidFill>
                <a:cs typeface="Times New Roman" panose="02020503050405090304" pitchFamily="18" charset="0"/>
              </a:rPr>
              <a:t>when you enter a URL in your browser, this actually sends an HTTP command to the Web server directing it to fetch and transmit the requested Web page.</a:t>
            </a:r>
            <a:endParaRPr lang="en-US" dirty="0">
              <a:solidFill>
                <a:schemeClr val="tx1"/>
              </a:solidFill>
              <a:cs typeface="Times New Roman" panose="02020503050405090304" pitchFamily="18" charset="0"/>
            </a:endParaRPr>
          </a:p>
          <a:p>
            <a:pPr algn="just"/>
            <a:r>
              <a:rPr lang="en-IN" dirty="0">
                <a:solidFill>
                  <a:schemeClr val="tx1"/>
                </a:solidFill>
                <a:cs typeface="Times New Roman" panose="02020503050405090304" pitchFamily="18" charset="0"/>
              </a:rPr>
              <a:t>stateless protocol</a:t>
            </a:r>
            <a:endParaRPr lang="en-US" dirty="0"/>
          </a:p>
          <a:p>
            <a:endParaRPr lang="en-US" dirty="0"/>
          </a:p>
          <a:p>
            <a:pPr algn="just"/>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request and Response Model</a:t>
            </a:r>
            <a:endParaRPr lang="en-IN" dirty="0"/>
          </a:p>
        </p:txBody>
      </p:sp>
      <p:sp>
        <p:nvSpPr>
          <p:cNvPr id="3" name="Text Placeholder 2"/>
          <p:cNvSpPr>
            <a:spLocks noGrp="1"/>
          </p:cNvSpPr>
          <p:nvPr>
            <p:ph type="body" idx="1"/>
          </p:nvPr>
        </p:nvSpPr>
        <p:spPr>
          <a:xfrm>
            <a:off x="495300" y="1066800"/>
            <a:ext cx="11201400" cy="5017143"/>
          </a:xfrm>
        </p:spPr>
        <p:txBody>
          <a:bodyPr/>
          <a:lstStyle/>
          <a:p>
            <a:pPr algn="just"/>
            <a:r>
              <a:rPr lang="en-US" dirty="0">
                <a:solidFill>
                  <a:schemeClr val="tx1"/>
                </a:solidFill>
                <a:cs typeface="Times New Roman" panose="02020503050405090304" pitchFamily="18" charset="0"/>
              </a:rPr>
              <a:t>There are three basic features that make HTTP a simple but powerful protocol:</a:t>
            </a:r>
            <a:endParaRPr lang="en-US" dirty="0">
              <a:solidFill>
                <a:schemeClr val="tx1"/>
              </a:solidFill>
              <a:cs typeface="Times New Roman" panose="02020503050405090304" pitchFamily="18" charset="0"/>
            </a:endParaRPr>
          </a:p>
          <a:p>
            <a:pPr algn="just"/>
            <a:r>
              <a:rPr lang="en-US" b="1" dirty="0">
                <a:solidFill>
                  <a:schemeClr val="tx1"/>
                </a:solidFill>
                <a:cs typeface="Times New Roman" panose="02020503050405090304" pitchFamily="18" charset="0"/>
              </a:rPr>
              <a:t>    HTTP is connectionless: </a:t>
            </a:r>
            <a:r>
              <a:rPr lang="en-US" dirty="0">
                <a:solidFill>
                  <a:schemeClr val="tx1"/>
                </a:solidFill>
                <a:cs typeface="Times New Roman" panose="02020503050405090304" pitchFamily="18" charset="0"/>
              </a:rPr>
              <a:t>The HTTP client, i.e., a browser initiates an HTTP request and after a request is made, the client waits for the response. The server processes the request and sends a response back after which client disconnect the connection. So client and server knows about each other during current request and response only. Further requests are made on new connection like client and server are new to each other.</a:t>
            </a:r>
            <a:endParaRPr lang="en-US" dirty="0">
              <a:solidFill>
                <a:schemeClr val="tx1"/>
              </a:solidFill>
              <a:cs typeface="Times New Roman" panose="02020503050405090304" pitchFamily="18" charset="0"/>
            </a:endParaRPr>
          </a:p>
          <a:p>
            <a:pPr algn="just"/>
            <a:r>
              <a:rPr lang="en-US" b="1" dirty="0">
                <a:solidFill>
                  <a:schemeClr val="tx1"/>
                </a:solidFill>
                <a:cs typeface="Times New Roman" panose="02020503050405090304" pitchFamily="18" charset="0"/>
              </a:rPr>
              <a:t>    HTTP is media independent: </a:t>
            </a:r>
            <a:r>
              <a:rPr lang="en-US" dirty="0">
                <a:solidFill>
                  <a:schemeClr val="tx1"/>
                </a:solidFill>
                <a:cs typeface="Times New Roman" panose="02020503050405090304" pitchFamily="18" charset="0"/>
              </a:rPr>
              <a:t>It means, any type of data can be sent by HTTP as long as both the client and the server know how to handle the data content. It is required for the client as well as the server to specify the content type using appropriate MIME-type.</a:t>
            </a:r>
            <a:endParaRPr lang="en-US" dirty="0">
              <a:solidFill>
                <a:schemeClr val="tx1"/>
              </a:solidFill>
              <a:cs typeface="Times New Roman" panose="02020503050405090304" pitchFamily="18" charset="0"/>
            </a:endParaRPr>
          </a:p>
          <a:p>
            <a:pPr marL="0" indent="0" algn="just">
              <a:buNone/>
            </a:pP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request and Response Model</a:t>
            </a:r>
            <a:endParaRPr lang="en-IN" dirty="0"/>
          </a:p>
        </p:txBody>
      </p:sp>
      <p:sp>
        <p:nvSpPr>
          <p:cNvPr id="3" name="Text Placeholder 2"/>
          <p:cNvSpPr>
            <a:spLocks noGrp="1"/>
          </p:cNvSpPr>
          <p:nvPr>
            <p:ph type="body" idx="1"/>
          </p:nvPr>
        </p:nvSpPr>
        <p:spPr>
          <a:xfrm>
            <a:off x="685800" y="990600"/>
            <a:ext cx="10820400" cy="3492046"/>
          </a:xfrm>
        </p:spPr>
        <p:txBody>
          <a:bodyPr/>
          <a:lstStyle/>
          <a:p>
            <a:pPr algn="just"/>
            <a:r>
              <a:rPr lang="en-US" b="1" dirty="0">
                <a:solidFill>
                  <a:schemeClr val="tx1"/>
                </a:solidFill>
                <a:cs typeface="Times New Roman" panose="02020503050405090304" pitchFamily="18" charset="0"/>
              </a:rPr>
              <a:t>HTTP is stateless: </a:t>
            </a:r>
            <a:r>
              <a:rPr lang="en-US" dirty="0">
                <a:solidFill>
                  <a:schemeClr val="tx1"/>
                </a:solidFill>
                <a:cs typeface="Times New Roman" panose="02020503050405090304" pitchFamily="18" charset="0"/>
              </a:rPr>
              <a:t>As mentioned above, HTTP is connectionless and it is a direct result of HTTP being a stateless protocol. The server and client are aware of each other only during a current request. Afterwards, both of them forget about each other. Due to this nature of the protocol, neither the client nor the browser can retain information between different requests across the web pages.</a:t>
            </a:r>
            <a:endParaRPr lang="en-US" dirty="0">
              <a:solidFill>
                <a:schemeClr val="tx1"/>
              </a:solidFill>
              <a:cs typeface="Times New Roman" panose="02020503050405090304" pitchFamily="18" charset="0"/>
            </a:endParaRPr>
          </a:p>
          <a:p>
            <a:pPr algn="just"/>
            <a:endParaRPr lang="en-US" dirty="0">
              <a:solidFill>
                <a:schemeClr val="tx1"/>
              </a:solidFill>
              <a:cs typeface="Times New Roman" panose="02020503050405090304" pitchFamily="18" charset="0"/>
            </a:endParaRPr>
          </a:p>
          <a:p>
            <a:pPr algn="just"/>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a:t>
            </a:r>
            <a:endParaRPr lang="en-IN" dirty="0"/>
          </a:p>
        </p:txBody>
      </p:sp>
      <p:sp>
        <p:nvSpPr>
          <p:cNvPr id="3" name="Text Placeholder 2"/>
          <p:cNvSpPr>
            <a:spLocks noGrp="1"/>
          </p:cNvSpPr>
          <p:nvPr>
            <p:ph type="body" idx="1"/>
          </p:nvPr>
        </p:nvSpPr>
        <p:spPr>
          <a:xfrm>
            <a:off x="762000" y="762000"/>
            <a:ext cx="11277600" cy="2107052"/>
          </a:xfrm>
        </p:spPr>
        <p:txBody>
          <a:bodyPr/>
          <a:lstStyle/>
          <a:p>
            <a:r>
              <a:rPr lang="en-US" sz="2400" dirty="0"/>
              <a:t>HTTP/1.0 uses a new connection for each request/response exchange, where as HTTP/1.1 connection may be used for one or more request/response exchanges.</a:t>
            </a:r>
            <a:endParaRPr lang="en-US" sz="2400" dirty="0"/>
          </a:p>
          <a:p>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43412" y="1905000"/>
            <a:ext cx="3914775" cy="43401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Request Method</a:t>
            </a:r>
            <a:endParaRPr lang="en-IN" dirty="0"/>
          </a:p>
        </p:txBody>
      </p:sp>
      <p:sp>
        <p:nvSpPr>
          <p:cNvPr id="3" name="Text Placeholder 2"/>
          <p:cNvSpPr>
            <a:spLocks noGrp="1"/>
          </p:cNvSpPr>
          <p:nvPr>
            <p:ph type="body" idx="1"/>
          </p:nvPr>
        </p:nvSpPr>
        <p:spPr>
          <a:xfrm>
            <a:off x="838200" y="762000"/>
            <a:ext cx="10864850" cy="6539034"/>
          </a:xfrm>
        </p:spPr>
        <p:txBody>
          <a:bodyPr/>
          <a:lstStyle/>
          <a:p>
            <a:r>
              <a:rPr lang="en-US" dirty="0"/>
              <a:t>The HTTP protocol is a request/response protocol based on the client/server based architecture where web browsers, robots and search engines, etc. act like HTTP clients, and the Web server acts as a server.</a:t>
            </a:r>
            <a:endParaRPr lang="en-US" dirty="0"/>
          </a:p>
          <a:p>
            <a:r>
              <a:rPr lang="en-US" b="1" dirty="0"/>
              <a:t>Request message:</a:t>
            </a:r>
            <a:endParaRPr lang="en-US" b="1" dirty="0"/>
          </a:p>
          <a:p>
            <a:pPr marL="457200" indent="-117475">
              <a:buNone/>
            </a:pPr>
            <a:r>
              <a:rPr lang="en-US" dirty="0">
                <a:solidFill>
                  <a:schemeClr val="accent6">
                    <a:lumMod val="50000"/>
                  </a:schemeClr>
                </a:solidFill>
              </a:rPr>
              <a:t>GET /guide/index.html HTTP/1.1</a:t>
            </a:r>
            <a:endParaRPr lang="en-US" dirty="0">
              <a:solidFill>
                <a:schemeClr val="accent6">
                  <a:lumMod val="50000"/>
                </a:schemeClr>
              </a:solidFill>
            </a:endParaRPr>
          </a:p>
          <a:p>
            <a:pPr marL="457200" indent="-117475">
              <a:buNone/>
            </a:pPr>
            <a:r>
              <a:rPr lang="en-US" dirty="0">
                <a:solidFill>
                  <a:schemeClr val="accent6">
                    <a:lumMod val="50000"/>
                  </a:schemeClr>
                </a:solidFill>
              </a:rPr>
              <a:t>Host: www.xxxx.com</a:t>
            </a:r>
            <a:endParaRPr lang="en-US" dirty="0">
              <a:solidFill>
                <a:schemeClr val="accent6">
                  <a:lumMod val="50000"/>
                </a:schemeClr>
              </a:solidFill>
            </a:endParaRPr>
          </a:p>
          <a:p>
            <a:pPr marL="457200" indent="-117475">
              <a:buNone/>
            </a:pPr>
            <a:r>
              <a:rPr lang="en-US" dirty="0">
                <a:solidFill>
                  <a:schemeClr val="accent6">
                    <a:lumMod val="50000"/>
                  </a:schemeClr>
                </a:solidFill>
              </a:rPr>
              <a:t>Accept: image/gif, image/jpeg, */*</a:t>
            </a:r>
            <a:endParaRPr lang="en-US" dirty="0">
              <a:solidFill>
                <a:schemeClr val="accent6">
                  <a:lumMod val="50000"/>
                </a:schemeClr>
              </a:solidFill>
            </a:endParaRPr>
          </a:p>
          <a:p>
            <a:pPr marL="457200" indent="-117475">
              <a:buNone/>
            </a:pPr>
            <a:r>
              <a:rPr lang="en-US" dirty="0">
                <a:solidFill>
                  <a:schemeClr val="accent6">
                    <a:lumMod val="50000"/>
                  </a:schemeClr>
                </a:solidFill>
              </a:rPr>
              <a:t>Accept-Language: </a:t>
            </a:r>
            <a:r>
              <a:rPr lang="en-US" dirty="0" err="1">
                <a:solidFill>
                  <a:schemeClr val="accent6">
                    <a:lumMod val="50000"/>
                  </a:schemeClr>
                </a:solidFill>
              </a:rPr>
              <a:t>en</a:t>
            </a:r>
            <a:r>
              <a:rPr lang="en-US" dirty="0">
                <a:solidFill>
                  <a:schemeClr val="accent6">
                    <a:lumMod val="50000"/>
                  </a:schemeClr>
                </a:solidFill>
              </a:rPr>
              <a:t>-us</a:t>
            </a:r>
            <a:endParaRPr lang="en-US" dirty="0">
              <a:solidFill>
                <a:schemeClr val="accent6">
                  <a:lumMod val="50000"/>
                </a:schemeClr>
              </a:solidFill>
            </a:endParaRPr>
          </a:p>
          <a:p>
            <a:pPr marL="457200" indent="-117475">
              <a:buNone/>
            </a:pPr>
            <a:r>
              <a:rPr lang="en-US" dirty="0">
                <a:solidFill>
                  <a:schemeClr val="accent6">
                    <a:lumMod val="50000"/>
                  </a:schemeClr>
                </a:solidFill>
              </a:rPr>
              <a:t>Accept-Encoding: </a:t>
            </a:r>
            <a:r>
              <a:rPr lang="en-US" dirty="0" err="1">
                <a:solidFill>
                  <a:schemeClr val="accent6">
                    <a:lumMod val="50000"/>
                  </a:schemeClr>
                </a:solidFill>
              </a:rPr>
              <a:t>gzip</a:t>
            </a:r>
            <a:r>
              <a:rPr lang="en-US" dirty="0">
                <a:solidFill>
                  <a:schemeClr val="accent6">
                    <a:lumMod val="50000"/>
                  </a:schemeClr>
                </a:solidFill>
              </a:rPr>
              <a:t>, deflate</a:t>
            </a:r>
            <a:endParaRPr lang="en-US" dirty="0">
              <a:solidFill>
                <a:schemeClr val="accent6">
                  <a:lumMod val="50000"/>
                </a:schemeClr>
              </a:solidFill>
            </a:endParaRPr>
          </a:p>
          <a:p>
            <a:pPr marL="457200" indent="-117475">
              <a:buNone/>
            </a:pPr>
            <a:r>
              <a:rPr lang="en-US" dirty="0">
                <a:solidFill>
                  <a:schemeClr val="accent6">
                    <a:lumMod val="50000"/>
                  </a:schemeClr>
                </a:solidFill>
              </a:rPr>
              <a:t>User-Agent: Mozilla/4.0 (compatible; MSIE 6.0; Windows NT 5.1)</a:t>
            </a:r>
            <a:endParaRPr lang="en-US" dirty="0">
              <a:solidFill>
                <a:schemeClr val="accent6">
                  <a:lumMod val="50000"/>
                </a:schemeClr>
              </a:solidFill>
            </a:endParaRPr>
          </a:p>
          <a:p>
            <a:pPr marL="457200" indent="-117475">
              <a:buNone/>
            </a:pPr>
            <a:r>
              <a:rPr lang="en-US" dirty="0">
                <a:solidFill>
                  <a:schemeClr val="accent6">
                    <a:lumMod val="50000"/>
                  </a:schemeClr>
                </a:solidFill>
              </a:rPr>
              <a:t>(blank line)</a:t>
            </a:r>
            <a:endParaRPr lang="en-US" dirty="0">
              <a:solidFill>
                <a:schemeClr val="accent6">
                  <a:lumMod val="50000"/>
                </a:schemeClr>
              </a:solidFill>
            </a:endParaRPr>
          </a:p>
          <a:p>
            <a:endParaRPr lang="en-US" dirty="0"/>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838200" y="1066800"/>
            <a:ext cx="9309100" cy="3999878"/>
          </a:xfrm>
        </p:spPr>
        <p:txBody>
          <a:bodyPr/>
          <a:lstStyle/>
          <a:p>
            <a:r>
              <a:rPr lang="en-US" dirty="0">
                <a:solidFill>
                  <a:schemeClr val="tx1"/>
                </a:solidFill>
              </a:rPr>
              <a:t>GET</a:t>
            </a:r>
            <a:endParaRPr lang="en-US" dirty="0">
              <a:solidFill>
                <a:schemeClr val="tx1"/>
              </a:solidFill>
            </a:endParaRPr>
          </a:p>
          <a:p>
            <a:r>
              <a:rPr lang="en-US" dirty="0">
                <a:solidFill>
                  <a:schemeClr val="tx1"/>
                </a:solidFill>
              </a:rPr>
              <a:t>POST</a:t>
            </a:r>
            <a:endParaRPr lang="en-US" dirty="0">
              <a:solidFill>
                <a:schemeClr val="tx1"/>
              </a:solidFill>
            </a:endParaRPr>
          </a:p>
          <a:p>
            <a:r>
              <a:rPr lang="en-US" dirty="0">
                <a:solidFill>
                  <a:schemeClr val="tx1"/>
                </a:solidFill>
              </a:rPr>
              <a:t>PUT</a:t>
            </a:r>
            <a:endParaRPr lang="en-US" dirty="0">
              <a:solidFill>
                <a:schemeClr val="tx1"/>
              </a:solidFill>
            </a:endParaRPr>
          </a:p>
          <a:p>
            <a:r>
              <a:rPr lang="en-US" dirty="0">
                <a:solidFill>
                  <a:schemeClr val="tx1"/>
                </a:solidFill>
              </a:rPr>
              <a:t>HEAD</a:t>
            </a:r>
            <a:endParaRPr lang="en-US" dirty="0">
              <a:solidFill>
                <a:schemeClr val="tx1"/>
              </a:solidFill>
            </a:endParaRPr>
          </a:p>
          <a:p>
            <a:r>
              <a:rPr lang="en-US" dirty="0">
                <a:solidFill>
                  <a:schemeClr val="tx1"/>
                </a:solidFill>
              </a:rPr>
              <a:t>DELETE</a:t>
            </a:r>
            <a:endParaRPr lang="en-US" dirty="0">
              <a:solidFill>
                <a:schemeClr val="tx1"/>
              </a:solidFill>
            </a:endParaRPr>
          </a:p>
          <a:p>
            <a:r>
              <a:rPr lang="en-US" dirty="0">
                <a:solidFill>
                  <a:schemeClr val="tx1"/>
                </a:solidFill>
              </a:rPr>
              <a:t>OPTIONS</a:t>
            </a:r>
            <a:endParaRPr lang="en-US" dirty="0">
              <a:solidFill>
                <a:schemeClr val="tx1"/>
              </a:solidFill>
            </a:endParaRPr>
          </a:p>
          <a:p>
            <a:endParaRPr lang="en-US" dirty="0"/>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838200" y="914400"/>
            <a:ext cx="10820400" cy="6877588"/>
          </a:xfrm>
        </p:spPr>
        <p:txBody>
          <a:bodyPr/>
          <a:lstStyle/>
          <a:p>
            <a:r>
              <a:rPr lang="en-US" b="1" dirty="0"/>
              <a:t>GET</a:t>
            </a:r>
            <a:endParaRPr lang="en-US" b="1" dirty="0"/>
          </a:p>
          <a:p>
            <a:pPr>
              <a:buFont typeface="Arial" panose="020B0604020202090204" pitchFamily="34" charset="0"/>
              <a:buChar char="•"/>
            </a:pPr>
            <a:r>
              <a:rPr lang="en-US" b="1" dirty="0"/>
              <a:t>Purpose</a:t>
            </a:r>
            <a:r>
              <a:rPr lang="en-US" dirty="0"/>
              <a:t>: Retrieve data from a specified resource.</a:t>
            </a:r>
            <a:endParaRPr lang="en-US" dirty="0"/>
          </a:p>
          <a:p>
            <a:pPr>
              <a:buFont typeface="Arial" panose="020B0604020202090204" pitchFamily="34" charset="0"/>
              <a:buChar char="•"/>
            </a:pPr>
            <a:r>
              <a:rPr lang="en-US" b="1" dirty="0"/>
              <a:t>Characteristics</a:t>
            </a:r>
            <a:r>
              <a:rPr lang="en-US" dirty="0"/>
              <a:t>:</a:t>
            </a:r>
            <a:endParaRPr lang="en-US" dirty="0"/>
          </a:p>
          <a:p>
            <a:pPr marL="742950" lvl="1" indent="-285750">
              <a:buFont typeface="Arial" panose="020B0604020202090204" pitchFamily="34" charset="0"/>
              <a:buChar char="•"/>
            </a:pPr>
            <a:r>
              <a:rPr lang="en-US" sz="2200" dirty="0">
                <a:latin typeface="Cambria" panose="02040503050406030204" pitchFamily="18" charset="0"/>
                <a:ea typeface="Cambria" panose="02040503050406030204" pitchFamily="18" charset="0"/>
              </a:rPr>
              <a:t>Safe and idempotent (does not change server state).</a:t>
            </a:r>
            <a:endParaRPr lang="en-US" sz="2200" dirty="0">
              <a:latin typeface="Cambria" panose="02040503050406030204" pitchFamily="18" charset="0"/>
              <a:ea typeface="Cambria" panose="02040503050406030204" pitchFamily="18" charset="0"/>
            </a:endParaRPr>
          </a:p>
          <a:p>
            <a:pPr marL="742950" lvl="1" indent="-285750">
              <a:buFont typeface="Arial" panose="020B0604020202090204" pitchFamily="34" charset="0"/>
              <a:buChar char="•"/>
            </a:pPr>
            <a:r>
              <a:rPr lang="en-US" sz="2200" dirty="0">
                <a:latin typeface="Cambria" panose="02040503050406030204" pitchFamily="18" charset="0"/>
                <a:ea typeface="Cambria" panose="02040503050406030204" pitchFamily="18" charset="0"/>
              </a:rPr>
              <a:t>Parameters can be passed in the URL as query strings.</a:t>
            </a:r>
            <a:endParaRPr lang="en-US" sz="2200" dirty="0">
              <a:latin typeface="Cambria" panose="02040503050406030204" pitchFamily="18" charset="0"/>
              <a:ea typeface="Cambria" panose="02040503050406030204" pitchFamily="18" charset="0"/>
            </a:endParaRPr>
          </a:p>
          <a:p>
            <a:r>
              <a:rPr lang="en-US" b="1" dirty="0">
                <a:solidFill>
                  <a:schemeClr val="tx1"/>
                </a:solidFill>
              </a:rPr>
              <a:t>Notes</a:t>
            </a:r>
            <a:endParaRPr lang="en-US" b="1" dirty="0">
              <a:solidFill>
                <a:schemeClr val="tx1"/>
              </a:solidFill>
            </a:endParaRPr>
          </a:p>
          <a:p>
            <a:pPr lvl="1"/>
            <a:r>
              <a:rPr lang="en-US" sz="2200" dirty="0">
                <a:solidFill>
                  <a:schemeClr val="tx1"/>
                </a:solidFill>
                <a:latin typeface="Cambria" panose="02040503050406030204" pitchFamily="18" charset="0"/>
                <a:ea typeface="Cambria" panose="02040503050406030204" pitchFamily="18" charset="0"/>
              </a:rPr>
              <a:t>GET requests can be cached</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GET requests remain in the browser history</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GET requests can be bookmarked</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GET requests should never be used when dealing with sensitive data</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GET requests have length restrictions</a:t>
            </a:r>
            <a:endParaRPr lang="en-US" sz="2200" dirty="0">
              <a:solidFill>
                <a:schemeClr val="tx1"/>
              </a:solidFill>
              <a:latin typeface="Cambria" panose="02040503050406030204" pitchFamily="18" charset="0"/>
              <a:ea typeface="Cambria" panose="02040503050406030204" pitchFamily="18" charset="0"/>
            </a:endParaRPr>
          </a:p>
          <a:p>
            <a:pPr lvl="1"/>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Example:</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GET /</a:t>
            </a:r>
            <a:r>
              <a:rPr lang="en-US" sz="2200" dirty="0" err="1">
                <a:solidFill>
                  <a:schemeClr val="tx1"/>
                </a:solidFill>
                <a:latin typeface="Cambria" panose="02040503050406030204" pitchFamily="18" charset="0"/>
                <a:ea typeface="Cambria" panose="02040503050406030204" pitchFamily="18" charset="0"/>
              </a:rPr>
              <a:t>students?id</a:t>
            </a:r>
            <a:r>
              <a:rPr lang="en-US" sz="2200" dirty="0">
                <a:solidFill>
                  <a:schemeClr val="tx1"/>
                </a:solidFill>
                <a:latin typeface="Cambria" panose="02040503050406030204" pitchFamily="18" charset="0"/>
                <a:ea typeface="Cambria" panose="02040503050406030204" pitchFamily="18" charset="0"/>
              </a:rPr>
              <a:t>=101 HTTP/1.1Host: </a:t>
            </a:r>
            <a:r>
              <a:rPr lang="en-US" sz="2200" dirty="0">
                <a:solidFill>
                  <a:schemeClr val="tx1"/>
                </a:solidFill>
                <a:latin typeface="Cambria" panose="02040503050406030204" pitchFamily="18" charset="0"/>
                <a:ea typeface="Cambria" panose="02040503050406030204" pitchFamily="18" charset="0"/>
                <a:hlinkClick r:id="rId1"/>
              </a:rPr>
              <a:t>www.example.com</a:t>
            </a:r>
            <a:endParaRPr lang="en-US" sz="2200" dirty="0">
              <a:solidFill>
                <a:schemeClr val="tx1"/>
              </a:solidFill>
              <a:latin typeface="Cambria" panose="02040503050406030204" pitchFamily="18" charset="0"/>
              <a:ea typeface="Cambria" panose="02040503050406030204" pitchFamily="18" charset="0"/>
            </a:endParaRPr>
          </a:p>
          <a:p>
            <a:pPr lvl="1"/>
            <a:r>
              <a:rPr lang="en-US" sz="2400" dirty="0">
                <a:latin typeface="Cambria" panose="02040503050406030204" pitchFamily="18" charset="0"/>
                <a:ea typeface="Cambria" panose="02040503050406030204" pitchFamily="18" charset="0"/>
              </a:rPr>
              <a:t>Returns details of the student with ID 101.</a:t>
            </a:r>
            <a:endParaRPr lang="en-US" sz="2200" dirty="0">
              <a:solidFill>
                <a:schemeClr val="tx1"/>
              </a:solidFill>
              <a:latin typeface="Cambria" panose="02040503050406030204" pitchFamily="18" charset="0"/>
              <a:ea typeface="Cambria" panose="02040503050406030204" pitchFamily="18" charset="0"/>
            </a:endParaRPr>
          </a:p>
          <a:p>
            <a:pPr lvl="1"/>
            <a:r>
              <a:rPr lang="en-US" sz="2200" dirty="0">
                <a:solidFill>
                  <a:schemeClr val="tx1"/>
                </a:solidFill>
                <a:latin typeface="Cambria" panose="02040503050406030204" pitchFamily="18" charset="0"/>
                <a:ea typeface="Cambria" panose="02040503050406030204" pitchFamily="18" charset="0"/>
              </a:rPr>
              <a:t>	</a:t>
            </a:r>
            <a:endParaRPr lang="en-US" sz="2200" dirty="0">
              <a:solidFill>
                <a:schemeClr val="tx1"/>
              </a:solidFill>
              <a:latin typeface="Cambria" panose="02040503050406030204" pitchFamily="18" charset="0"/>
              <a:ea typeface="Cambria" panose="02040503050406030204" pitchFamily="18" charset="0"/>
            </a:endParaRPr>
          </a:p>
          <a:p>
            <a:pPr lvl="1"/>
            <a:endParaRPr lang="en-IN" sz="2200" dirty="0">
              <a:solidFill>
                <a:schemeClr val="tx1"/>
              </a:solidFill>
              <a:latin typeface="Cambria" panose="02040503050406030204" pitchFamily="18" charset="0"/>
              <a:ea typeface="Cambria" panose="02040503050406030204" pitchFamily="18" charset="0"/>
            </a:endParaRPr>
          </a:p>
          <a:p>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762000" y="762000"/>
            <a:ext cx="10407650" cy="6241773"/>
          </a:xfrm>
        </p:spPr>
        <p:txBody>
          <a:bodyPr/>
          <a:lstStyle/>
          <a:p>
            <a:r>
              <a:rPr lang="en-US" sz="2100" b="1" dirty="0"/>
              <a:t>POST</a:t>
            </a:r>
            <a:endParaRPr lang="en-US" sz="2100" b="1" dirty="0"/>
          </a:p>
          <a:p>
            <a:pPr>
              <a:buFont typeface="Arial" panose="020B0604020202090204" pitchFamily="34" charset="0"/>
              <a:buChar char="•"/>
            </a:pPr>
            <a:r>
              <a:rPr lang="en-US" sz="2100" b="1" dirty="0"/>
              <a:t>Purpose</a:t>
            </a:r>
            <a:r>
              <a:rPr lang="en-US" sz="2100" dirty="0"/>
              <a:t>: Send data to the server to create a new resource.</a:t>
            </a:r>
            <a:endParaRPr lang="en-US" sz="2100" dirty="0"/>
          </a:p>
          <a:p>
            <a:pPr>
              <a:buFont typeface="Arial" panose="020B0604020202090204" pitchFamily="34" charset="0"/>
              <a:buChar char="•"/>
            </a:pPr>
            <a:r>
              <a:rPr lang="en-US" sz="2100" b="1" dirty="0"/>
              <a:t>Characteristics</a:t>
            </a:r>
            <a:r>
              <a:rPr lang="en-US" sz="2100" dirty="0"/>
              <a:t>:</a:t>
            </a:r>
            <a:endParaRPr lang="en-US" sz="2100" dirty="0"/>
          </a:p>
          <a:p>
            <a:pPr marL="742950" lvl="1" indent="-285750">
              <a:buFont typeface="Arial" panose="020B0604020202090204" pitchFamily="34" charset="0"/>
              <a:buChar char="•"/>
            </a:pPr>
            <a:r>
              <a:rPr lang="en-US" sz="2100" dirty="0">
                <a:latin typeface="Cambria" panose="02040503050406030204" pitchFamily="18" charset="0"/>
                <a:ea typeface="Cambria" panose="02040503050406030204" pitchFamily="18" charset="0"/>
              </a:rPr>
              <a:t>Not idempotent (repeating the request may create duplicates).</a:t>
            </a:r>
            <a:endParaRPr lang="en-US" sz="2100" dirty="0">
              <a:latin typeface="Cambria" panose="02040503050406030204" pitchFamily="18" charset="0"/>
              <a:ea typeface="Cambria" panose="02040503050406030204" pitchFamily="18" charset="0"/>
            </a:endParaRPr>
          </a:p>
          <a:p>
            <a:pPr marL="742950" lvl="1" indent="-285750">
              <a:buFont typeface="Arial" panose="020B0604020202090204" pitchFamily="34" charset="0"/>
              <a:buChar char="•"/>
            </a:pPr>
            <a:r>
              <a:rPr lang="en-US" sz="2100" dirty="0">
                <a:latin typeface="Cambria" panose="02040503050406030204" pitchFamily="18" charset="0"/>
                <a:ea typeface="Cambria" panose="02040503050406030204" pitchFamily="18" charset="0"/>
              </a:rPr>
              <a:t>Data is sent in the request body (not URL).</a:t>
            </a:r>
            <a:endParaRPr lang="en-US" sz="2100" dirty="0">
              <a:latin typeface="Cambria" panose="02040503050406030204" pitchFamily="18" charset="0"/>
              <a:ea typeface="Cambria" panose="02040503050406030204" pitchFamily="18" charset="0"/>
            </a:endParaRPr>
          </a:p>
          <a:p>
            <a:pPr>
              <a:buFont typeface="Arial" panose="020B0604020202090204" pitchFamily="34" charset="0"/>
              <a:buChar char="•"/>
            </a:pPr>
            <a:r>
              <a:rPr lang="en-US" sz="2100" b="1" dirty="0"/>
              <a:t>Example</a:t>
            </a:r>
            <a:r>
              <a:rPr lang="en-US" sz="2100" dirty="0"/>
              <a:t>:</a:t>
            </a:r>
            <a:endParaRPr lang="en-US" sz="2100" dirty="0"/>
          </a:p>
          <a:p>
            <a:r>
              <a:rPr lang="en-US" sz="2100" dirty="0"/>
              <a:t>POST /students HTTP/1.1Host: </a:t>
            </a:r>
            <a:r>
              <a:rPr lang="en-US" sz="2100" dirty="0">
                <a:hlinkClick r:id="rId1"/>
              </a:rPr>
              <a:t>www.example.com</a:t>
            </a:r>
            <a:endParaRPr lang="en-US" sz="2100" dirty="0"/>
          </a:p>
          <a:p>
            <a:r>
              <a:rPr lang="en-US" sz="2100" dirty="0"/>
              <a:t>Content-Type: application/</a:t>
            </a:r>
            <a:r>
              <a:rPr lang="en-US" sz="2100" dirty="0" err="1"/>
              <a:t>json</a:t>
            </a:r>
            <a:r>
              <a:rPr lang="en-US" sz="2100" dirty="0"/>
              <a:t>{  "name": "John",  "age": 21}</a:t>
            </a:r>
            <a:endParaRPr lang="en-US" sz="2100" dirty="0"/>
          </a:p>
          <a:p>
            <a:r>
              <a:rPr lang="en-US" sz="2100" dirty="0"/>
              <a:t>Adds a new student record to the database.</a:t>
            </a:r>
            <a:endParaRPr lang="en-US" sz="2100" dirty="0"/>
          </a:p>
          <a:p>
            <a:r>
              <a:rPr lang="en-US" sz="2100" dirty="0"/>
              <a:t>Notes</a:t>
            </a:r>
            <a:endParaRPr lang="en-US" sz="2100" dirty="0"/>
          </a:p>
          <a:p>
            <a:pPr lvl="1"/>
            <a:r>
              <a:rPr lang="en-US" sz="2100" dirty="0">
                <a:solidFill>
                  <a:schemeClr val="tx1"/>
                </a:solidFill>
                <a:latin typeface="Cambria" panose="02040503050406030204" pitchFamily="18" charset="0"/>
                <a:ea typeface="Cambria" panose="02040503050406030204" pitchFamily="18" charset="0"/>
              </a:rPr>
              <a:t>    POST requests are never cached</a:t>
            </a:r>
            <a:endParaRPr lang="en-US" sz="2100" dirty="0">
              <a:solidFill>
                <a:schemeClr val="tx1"/>
              </a:solidFill>
              <a:latin typeface="Cambria" panose="02040503050406030204" pitchFamily="18" charset="0"/>
              <a:ea typeface="Cambria" panose="02040503050406030204" pitchFamily="18" charset="0"/>
            </a:endParaRPr>
          </a:p>
          <a:p>
            <a:pPr lvl="1"/>
            <a:r>
              <a:rPr lang="en-US" sz="2100" dirty="0">
                <a:solidFill>
                  <a:schemeClr val="tx1"/>
                </a:solidFill>
                <a:latin typeface="Cambria" panose="02040503050406030204" pitchFamily="18" charset="0"/>
                <a:ea typeface="Cambria" panose="02040503050406030204" pitchFamily="18" charset="0"/>
              </a:rPr>
              <a:t>    POST requests do not remain in the browser history</a:t>
            </a:r>
            <a:endParaRPr lang="en-US" sz="2100" dirty="0">
              <a:solidFill>
                <a:schemeClr val="tx1"/>
              </a:solidFill>
              <a:latin typeface="Cambria" panose="02040503050406030204" pitchFamily="18" charset="0"/>
              <a:ea typeface="Cambria" panose="02040503050406030204" pitchFamily="18" charset="0"/>
            </a:endParaRPr>
          </a:p>
          <a:p>
            <a:pPr lvl="1"/>
            <a:r>
              <a:rPr lang="en-US" sz="2100" dirty="0">
                <a:solidFill>
                  <a:schemeClr val="tx1"/>
                </a:solidFill>
                <a:latin typeface="Cambria" panose="02040503050406030204" pitchFamily="18" charset="0"/>
                <a:ea typeface="Cambria" panose="02040503050406030204" pitchFamily="18" charset="0"/>
              </a:rPr>
              <a:t>    POST requests cannot be bookmarked</a:t>
            </a:r>
            <a:endParaRPr lang="en-US" sz="2100" dirty="0">
              <a:solidFill>
                <a:schemeClr val="tx1"/>
              </a:solidFill>
              <a:latin typeface="Cambria" panose="02040503050406030204" pitchFamily="18" charset="0"/>
              <a:ea typeface="Cambria" panose="02040503050406030204" pitchFamily="18" charset="0"/>
            </a:endParaRPr>
          </a:p>
          <a:p>
            <a:pPr lvl="1"/>
            <a:r>
              <a:rPr lang="en-US" sz="2100" dirty="0">
                <a:solidFill>
                  <a:schemeClr val="tx1"/>
                </a:solidFill>
                <a:latin typeface="Cambria" panose="02040503050406030204" pitchFamily="18" charset="0"/>
                <a:ea typeface="Cambria" panose="02040503050406030204" pitchFamily="18" charset="0"/>
              </a:rPr>
              <a:t>    POST requests have no restrictions on data length based o server configuration.</a:t>
            </a:r>
            <a:endParaRPr lang="en-US" sz="2100" dirty="0">
              <a:solidFill>
                <a:schemeClr val="tx1"/>
              </a:solidFill>
              <a:latin typeface="Cambria" panose="02040503050406030204" pitchFamily="18" charset="0"/>
              <a:ea typeface="Cambria" panose="02040503050406030204" pitchFamily="18" charset="0"/>
            </a:endParaRPr>
          </a:p>
          <a:p>
            <a:endParaRPr lang="en-IN"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914400" y="990600"/>
            <a:ext cx="10439400" cy="5105400"/>
          </a:xfrm>
        </p:spPr>
        <p:txBody>
          <a:bodyPr/>
          <a:lstStyle/>
          <a:p>
            <a:r>
              <a:rPr lang="en-US" b="1" dirty="0"/>
              <a:t>PUT</a:t>
            </a:r>
            <a:endParaRPr lang="en-US" b="1" dirty="0"/>
          </a:p>
          <a:p>
            <a:pPr>
              <a:buFont typeface="Arial" panose="020B0604020202090204" pitchFamily="34" charset="0"/>
              <a:buChar char="•"/>
            </a:pPr>
            <a:r>
              <a:rPr lang="en-US" b="1" dirty="0"/>
              <a:t>Purpose</a:t>
            </a:r>
            <a:r>
              <a:rPr lang="en-US" dirty="0"/>
              <a:t>: Update an existing resource or create a new one if it doesn’t exist.</a:t>
            </a:r>
            <a:endParaRPr lang="en-US" dirty="0"/>
          </a:p>
          <a:p>
            <a:pPr>
              <a:buFont typeface="Arial" panose="020B0604020202090204" pitchFamily="34" charset="0"/>
              <a:buChar char="•"/>
            </a:pPr>
            <a:r>
              <a:rPr lang="en-US" b="1" dirty="0"/>
              <a:t>Characteristics</a:t>
            </a:r>
            <a:r>
              <a:rPr lang="en-US" dirty="0"/>
              <a:t>:</a:t>
            </a:r>
            <a:endParaRPr lang="en-US" dirty="0"/>
          </a:p>
          <a:p>
            <a:pPr marL="742950" lvl="1" indent="-285750">
              <a:buFont typeface="Arial" panose="020B0604020202090204" pitchFamily="34" charset="0"/>
              <a:buChar char="•"/>
            </a:pPr>
            <a:r>
              <a:rPr lang="en-US" sz="2200" dirty="0">
                <a:latin typeface="Cambria" panose="02040503050406030204" pitchFamily="18" charset="0"/>
                <a:ea typeface="Cambria" panose="02040503050406030204" pitchFamily="18" charset="0"/>
              </a:rPr>
              <a:t>Idempotent (repeating the request results in the same outcome).</a:t>
            </a:r>
            <a:endParaRPr lang="en-US" sz="2200" dirty="0">
              <a:latin typeface="Cambria" panose="02040503050406030204" pitchFamily="18" charset="0"/>
              <a:ea typeface="Cambria" panose="02040503050406030204" pitchFamily="18" charset="0"/>
            </a:endParaRPr>
          </a:p>
          <a:p>
            <a:pPr>
              <a:buFont typeface="Arial" panose="020B0604020202090204" pitchFamily="34" charset="0"/>
              <a:buChar char="•"/>
            </a:pPr>
            <a:r>
              <a:rPr lang="en-US" b="1" dirty="0"/>
              <a:t>Example</a:t>
            </a:r>
            <a:r>
              <a:rPr lang="en-US" dirty="0"/>
              <a:t>:</a:t>
            </a:r>
            <a:endParaRPr lang="en-US" dirty="0"/>
          </a:p>
          <a:p>
            <a:r>
              <a:rPr lang="en-US" dirty="0"/>
              <a:t>PUT /students/101 HTTP/1.1Host: www.example.comContent-Type: application/</a:t>
            </a:r>
            <a:r>
              <a:rPr lang="en-US" dirty="0" err="1"/>
              <a:t>json</a:t>
            </a:r>
            <a:r>
              <a:rPr lang="en-US" dirty="0"/>
              <a:t>{  "name": "John Updated",  "age": 22}</a:t>
            </a:r>
            <a:endParaRPr lang="en-US" dirty="0"/>
          </a:p>
          <a:p>
            <a:r>
              <a:rPr lang="en-US" dirty="0"/>
              <a:t>Updates the student record with ID 101.</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1250950" y="1289050"/>
            <a:ext cx="9309100" cy="5569538"/>
          </a:xfrm>
        </p:spPr>
        <p:txBody>
          <a:bodyPr/>
          <a:lstStyle/>
          <a:p>
            <a:r>
              <a:rPr lang="en-US" b="1" dirty="0"/>
              <a:t>DELETE</a:t>
            </a:r>
            <a:endParaRPr lang="en-US" b="1" dirty="0"/>
          </a:p>
          <a:p>
            <a:pPr>
              <a:buFont typeface="Arial" panose="020B0604020202090204" pitchFamily="34" charset="0"/>
              <a:buChar char="•"/>
            </a:pPr>
            <a:r>
              <a:rPr lang="en-US" b="1" dirty="0"/>
              <a:t>Purpose</a:t>
            </a:r>
            <a:r>
              <a:rPr lang="en-US" dirty="0"/>
              <a:t>: Remove a specified resource.</a:t>
            </a:r>
            <a:endParaRPr lang="en-US" dirty="0"/>
          </a:p>
          <a:p>
            <a:pPr>
              <a:buFont typeface="Arial" panose="020B0604020202090204" pitchFamily="34" charset="0"/>
              <a:buChar char="•"/>
            </a:pPr>
            <a:r>
              <a:rPr lang="en-US" b="1" dirty="0"/>
              <a:t>Characteristics</a:t>
            </a:r>
            <a:r>
              <a:rPr lang="en-US" dirty="0"/>
              <a:t>:</a:t>
            </a:r>
            <a:endParaRPr lang="en-US" dirty="0"/>
          </a:p>
          <a:p>
            <a:pPr marL="742950" lvl="1" indent="-285750">
              <a:buFont typeface="Arial" panose="020B0604020202090204" pitchFamily="34" charset="0"/>
              <a:buChar char="•"/>
            </a:pPr>
            <a:r>
              <a:rPr lang="en-US" dirty="0"/>
              <a:t>Idempotent (deleting the same resource again has no further effect).</a:t>
            </a:r>
            <a:endParaRPr lang="en-US" dirty="0"/>
          </a:p>
          <a:p>
            <a:pPr>
              <a:buFont typeface="Arial" panose="020B0604020202090204" pitchFamily="34" charset="0"/>
              <a:buChar char="•"/>
            </a:pPr>
            <a:r>
              <a:rPr lang="en-US" b="1" dirty="0"/>
              <a:t>Example</a:t>
            </a:r>
            <a:r>
              <a:rPr lang="en-US" dirty="0"/>
              <a:t>:</a:t>
            </a:r>
            <a:endParaRPr lang="en-US" dirty="0"/>
          </a:p>
          <a:p>
            <a:r>
              <a:rPr lang="en-IN" dirty="0"/>
              <a:t>DELETE /students/101 HTTP/1.1Host: </a:t>
            </a:r>
            <a:r>
              <a:rPr lang="en-IN" dirty="0">
                <a:hlinkClick r:id="rId1"/>
              </a:rPr>
              <a:t>www.example.com</a:t>
            </a:r>
            <a:endParaRPr lang="en-IN" dirty="0"/>
          </a:p>
          <a:p>
            <a:r>
              <a:rPr lang="en-US" dirty="0"/>
              <a:t>Deletes the student with ID 101.</a:t>
            </a:r>
            <a:endParaRPr lang="en-IN" dirty="0"/>
          </a:p>
          <a:p>
            <a:r>
              <a:rPr lang="en-US" b="1" dirty="0"/>
              <a:t>PATCH</a:t>
            </a:r>
            <a:endParaRPr lang="en-US" b="1" dirty="0"/>
          </a:p>
          <a:p>
            <a:pPr>
              <a:buFont typeface="Arial" panose="020B0604020202090204" pitchFamily="34" charset="0"/>
              <a:buChar char="•"/>
            </a:pPr>
            <a:r>
              <a:rPr lang="en-US" b="1" dirty="0"/>
              <a:t>Purpose</a:t>
            </a:r>
            <a:r>
              <a:rPr lang="en-US" dirty="0"/>
              <a:t>: Partially update a resource (only specific fields).</a:t>
            </a:r>
            <a:endParaRPr lang="en-US" dirty="0"/>
          </a:p>
          <a:p>
            <a:pPr>
              <a:buFont typeface="Arial" panose="020B0604020202090204" pitchFamily="34" charset="0"/>
              <a:buChar char="•"/>
            </a:pPr>
            <a:r>
              <a:rPr lang="en-US" b="1" dirty="0"/>
              <a:t>Characteristics</a:t>
            </a:r>
            <a:r>
              <a:rPr lang="en-US" dirty="0"/>
              <a:t>:</a:t>
            </a:r>
            <a:endParaRPr lang="en-US" dirty="0"/>
          </a:p>
          <a:p>
            <a:pPr marL="742950" lvl="1" indent="-285750">
              <a:buFont typeface="Arial" panose="020B0604020202090204" pitchFamily="34" charset="0"/>
              <a:buChar char="•"/>
            </a:pPr>
            <a:r>
              <a:rPr lang="en-US" dirty="0"/>
              <a:t>Not always idempotent.</a:t>
            </a:r>
            <a:endParaRPr lang="en-US" dirty="0"/>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990600" y="914400"/>
            <a:ext cx="9309100" cy="5015540"/>
          </a:xfrm>
        </p:spPr>
        <p:txBody>
          <a:bodyPr/>
          <a:lstStyle/>
          <a:p>
            <a:r>
              <a:rPr lang="en-IN" b="1" dirty="0"/>
              <a:t>Example</a:t>
            </a:r>
            <a:r>
              <a:rPr lang="en-IN" dirty="0"/>
              <a:t>:</a:t>
            </a:r>
            <a:endParaRPr lang="en-IN" dirty="0"/>
          </a:p>
          <a:p>
            <a:r>
              <a:rPr lang="en-US" dirty="0"/>
              <a:t>PATCH /students/101 HTTP/1.1Host: www.example.comContent-Type: application/</a:t>
            </a:r>
            <a:r>
              <a:rPr lang="en-US" dirty="0" err="1"/>
              <a:t>json</a:t>
            </a:r>
            <a:r>
              <a:rPr lang="en-US" dirty="0"/>
              <a:t>{  "age": 23}</a:t>
            </a:r>
            <a:endParaRPr lang="en-IN" dirty="0"/>
          </a:p>
          <a:p>
            <a:r>
              <a:rPr lang="en-US" dirty="0"/>
              <a:t>Only updates the age of the student with ID 101.</a:t>
            </a:r>
            <a:endParaRPr lang="en-US" dirty="0"/>
          </a:p>
          <a:p>
            <a:r>
              <a:rPr lang="en-US" b="1" dirty="0"/>
              <a:t>HEAD</a:t>
            </a:r>
            <a:endParaRPr lang="en-US" b="1" dirty="0"/>
          </a:p>
          <a:p>
            <a:pPr>
              <a:buFont typeface="Arial" panose="020B0604020202090204" pitchFamily="34" charset="0"/>
              <a:buChar char="•"/>
            </a:pPr>
            <a:r>
              <a:rPr lang="en-US" b="1" dirty="0"/>
              <a:t>Purpose</a:t>
            </a:r>
            <a:r>
              <a:rPr lang="en-US" dirty="0"/>
              <a:t>: Similar to GET but fetches only the headers, not the body.</a:t>
            </a:r>
            <a:endParaRPr lang="en-US" dirty="0"/>
          </a:p>
          <a:p>
            <a:pPr>
              <a:buFont typeface="Arial" panose="020B0604020202090204" pitchFamily="34" charset="0"/>
              <a:buChar char="•"/>
            </a:pPr>
            <a:r>
              <a:rPr lang="en-US" b="1" dirty="0"/>
              <a:t>Use Case</a:t>
            </a:r>
            <a:r>
              <a:rPr lang="en-US" dirty="0"/>
              <a:t>: Check if a resource exists or to get metadata.</a:t>
            </a:r>
            <a:endParaRPr lang="en-US" dirty="0"/>
          </a:p>
          <a:p>
            <a:pPr>
              <a:buFont typeface="Arial" panose="020B0604020202090204" pitchFamily="34" charset="0"/>
              <a:buChar char="•"/>
            </a:pPr>
            <a:r>
              <a:rPr lang="en-US" b="1" dirty="0"/>
              <a:t>Example</a:t>
            </a:r>
            <a:r>
              <a:rPr lang="en-US" dirty="0"/>
              <a:t>:</a:t>
            </a:r>
            <a:endParaRPr lang="en-US" dirty="0"/>
          </a:p>
          <a:p>
            <a:r>
              <a:rPr lang="en-US" dirty="0"/>
              <a:t>HEAD /students/101 HTTP/1.1Host: </a:t>
            </a:r>
            <a:r>
              <a:rPr lang="en-US" dirty="0">
                <a:hlinkClick r:id="rId1"/>
              </a:rPr>
              <a:t>www.example.com</a:t>
            </a:r>
            <a:endParaRPr lang="en-US" dirty="0"/>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Methods</a:t>
            </a:r>
            <a:endParaRPr lang="en-IN" dirty="0"/>
          </a:p>
        </p:txBody>
      </p:sp>
      <p:sp>
        <p:nvSpPr>
          <p:cNvPr id="3" name="Text Placeholder 2"/>
          <p:cNvSpPr>
            <a:spLocks noGrp="1"/>
          </p:cNvSpPr>
          <p:nvPr>
            <p:ph type="body" idx="1"/>
          </p:nvPr>
        </p:nvSpPr>
        <p:spPr>
          <a:xfrm>
            <a:off x="914400" y="981924"/>
            <a:ext cx="9309100" cy="2476384"/>
          </a:xfrm>
        </p:spPr>
        <p:txBody>
          <a:bodyPr/>
          <a:lstStyle/>
          <a:p>
            <a:r>
              <a:rPr lang="en-US" b="1" dirty="0"/>
              <a:t>OPTIONS</a:t>
            </a:r>
            <a:endParaRPr lang="en-US" b="1" dirty="0"/>
          </a:p>
          <a:p>
            <a:pPr>
              <a:buFont typeface="Arial" panose="020B0604020202090204" pitchFamily="34" charset="0"/>
              <a:buChar char="•"/>
            </a:pPr>
            <a:r>
              <a:rPr lang="en-US" b="1" dirty="0"/>
              <a:t>Purpose</a:t>
            </a:r>
            <a:r>
              <a:rPr lang="en-US" dirty="0"/>
              <a:t>: Returns allowed HTTP methods for a specific resource.</a:t>
            </a:r>
            <a:endParaRPr lang="en-US" dirty="0"/>
          </a:p>
          <a:p>
            <a:pPr>
              <a:buFont typeface="Arial" panose="020B0604020202090204" pitchFamily="34" charset="0"/>
              <a:buChar char="•"/>
            </a:pPr>
            <a:r>
              <a:rPr lang="en-US" b="1" dirty="0"/>
              <a:t>Use Case</a:t>
            </a:r>
            <a:r>
              <a:rPr lang="en-US" dirty="0"/>
              <a:t>: Useful in CORS (Cross-Origin Resource Sharing).</a:t>
            </a:r>
            <a:endParaRPr lang="en-US" dirty="0"/>
          </a:p>
          <a:p>
            <a:pPr>
              <a:buFont typeface="Arial" panose="020B0604020202090204" pitchFamily="34" charset="0"/>
              <a:buChar char="•"/>
            </a:pPr>
            <a:r>
              <a:rPr lang="en-US" b="1" dirty="0"/>
              <a:t>Example</a:t>
            </a:r>
            <a:r>
              <a:rPr lang="en-US" dirty="0"/>
              <a:t>:</a:t>
            </a:r>
            <a:endParaRPr lang="en-US" dirty="0"/>
          </a:p>
          <a:p>
            <a:r>
              <a:rPr lang="en-IN" dirty="0"/>
              <a:t>OPTIONS /students HTTP/1.1Host: www.example.com</a:t>
            </a: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 Message</a:t>
            </a:r>
            <a:endParaRPr lang="en-IN" dirty="0"/>
          </a:p>
        </p:txBody>
      </p:sp>
      <p:sp>
        <p:nvSpPr>
          <p:cNvPr id="3" name="Text Placeholder 2"/>
          <p:cNvSpPr>
            <a:spLocks noGrp="1"/>
          </p:cNvSpPr>
          <p:nvPr>
            <p:ph type="body" idx="1"/>
          </p:nvPr>
        </p:nvSpPr>
        <p:spPr>
          <a:xfrm>
            <a:off x="838200" y="838200"/>
            <a:ext cx="10058400" cy="6837484"/>
          </a:xfrm>
        </p:spPr>
        <p:txBody>
          <a:bodyPr/>
          <a:lstStyle/>
          <a:p>
            <a:pPr marL="0" indent="0">
              <a:buNone/>
            </a:pPr>
            <a:r>
              <a:rPr lang="en-US" dirty="0"/>
              <a:t>HTTP/1.1 200 OK</a:t>
            </a:r>
            <a:endParaRPr lang="en-US" dirty="0"/>
          </a:p>
          <a:p>
            <a:pPr marL="0" indent="0">
              <a:buNone/>
            </a:pPr>
            <a:r>
              <a:rPr lang="en-US" dirty="0"/>
              <a:t>Date: Sun, 18 Oct 2015 08:56:53 GMT</a:t>
            </a:r>
            <a:endParaRPr lang="en-US" dirty="0"/>
          </a:p>
          <a:p>
            <a:pPr marL="0" indent="0">
              <a:buNone/>
            </a:pPr>
            <a:r>
              <a:rPr lang="en-US" dirty="0"/>
              <a:t>Server: Apache/2.2.14 (Win32)</a:t>
            </a:r>
            <a:endParaRPr lang="en-US" dirty="0"/>
          </a:p>
          <a:p>
            <a:pPr marL="0" indent="0">
              <a:buNone/>
            </a:pPr>
            <a:r>
              <a:rPr lang="en-US" dirty="0"/>
              <a:t>Last-Modified: Sat, 20 Nov 2015 07:16:26 GMT</a:t>
            </a:r>
            <a:endParaRPr lang="en-US" dirty="0"/>
          </a:p>
          <a:p>
            <a:pPr marL="0" indent="0">
              <a:buNone/>
            </a:pPr>
            <a:r>
              <a:rPr lang="en-US" dirty="0"/>
              <a:t>Accept-Ranges: bytes</a:t>
            </a:r>
            <a:endParaRPr lang="en-US" dirty="0"/>
          </a:p>
          <a:p>
            <a:pPr marL="0" indent="0">
              <a:buNone/>
            </a:pPr>
            <a:r>
              <a:rPr lang="en-US" dirty="0"/>
              <a:t>Content-Length: 44</a:t>
            </a:r>
            <a:endParaRPr lang="en-US" dirty="0"/>
          </a:p>
          <a:p>
            <a:pPr marL="0" indent="0">
              <a:buNone/>
            </a:pPr>
            <a:r>
              <a:rPr lang="en-US" dirty="0"/>
              <a:t>Connection: close</a:t>
            </a:r>
            <a:endParaRPr lang="en-US" dirty="0"/>
          </a:p>
          <a:p>
            <a:pPr marL="0" indent="0">
              <a:buNone/>
            </a:pPr>
            <a:r>
              <a:rPr lang="en-US" dirty="0"/>
              <a:t>Content-Type: text/html</a:t>
            </a:r>
            <a:endParaRPr lang="en-US" dirty="0"/>
          </a:p>
          <a:p>
            <a:pPr marL="0" indent="0">
              <a:buNone/>
            </a:pPr>
            <a:r>
              <a:rPr lang="en-US" dirty="0"/>
              <a:t>X-Pad: avoid browser bug</a:t>
            </a:r>
            <a:endParaRPr lang="en-US" dirty="0"/>
          </a:p>
          <a:p>
            <a:pPr marL="0" indent="0">
              <a:buNone/>
            </a:pPr>
            <a:r>
              <a:rPr lang="en-US" dirty="0"/>
              <a:t>&lt;html&gt;&lt;body&gt;&lt;h1&gt;Guide&lt;/h1&gt;&lt;p&gt;This is guide</a:t>
            </a:r>
            <a:endParaRPr lang="en-US" dirty="0"/>
          </a:p>
          <a:p>
            <a:pPr marL="0" indent="0">
              <a:buNone/>
            </a:pPr>
            <a:r>
              <a:rPr lang="en-US" dirty="0"/>
              <a:t>on HTTP protocol&lt;/p&gt;&lt;/body&gt;&lt;/html&gt;</a:t>
            </a:r>
            <a:endParaRPr lang="en-US" dirty="0"/>
          </a:p>
          <a:p>
            <a:endParaRPr lang="en-US" dirty="0"/>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 Message</a:t>
            </a:r>
            <a:endParaRPr lang="en-IN" dirty="0"/>
          </a:p>
        </p:txBody>
      </p:sp>
      <p:pic>
        <p:nvPicPr>
          <p:cNvPr id="4" name="Content Placeholder 4"/>
          <p:cNvPicPr>
            <a:picLocks noChangeAspect="1"/>
          </p:cNvPicPr>
          <p:nvPr/>
        </p:nvPicPr>
        <p:blipFill>
          <a:blip r:embed="rId1"/>
          <a:stretch>
            <a:fillRect/>
          </a:stretch>
        </p:blipFill>
        <p:spPr>
          <a:xfrm>
            <a:off x="1981200" y="1295400"/>
            <a:ext cx="8010525" cy="39728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 Message</a:t>
            </a:r>
            <a:endParaRPr lang="en-IN" dirty="0"/>
          </a:p>
        </p:txBody>
      </p:sp>
      <p:pic>
        <p:nvPicPr>
          <p:cNvPr id="4" name="Content Placeholder 4"/>
          <p:cNvPicPr>
            <a:picLocks noChangeAspect="1"/>
          </p:cNvPicPr>
          <p:nvPr/>
        </p:nvPicPr>
        <p:blipFill>
          <a:blip r:embed="rId1"/>
          <a:stretch>
            <a:fillRect/>
          </a:stretch>
        </p:blipFill>
        <p:spPr>
          <a:xfrm>
            <a:off x="1219200" y="1066800"/>
            <a:ext cx="7915275" cy="4457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http and https</a:t>
            </a:r>
            <a:endParaRPr lang="en-IN" dirty="0"/>
          </a:p>
        </p:txBody>
      </p:sp>
      <p:pic>
        <p:nvPicPr>
          <p:cNvPr id="4" name="Content Placeholder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15289" y="1905000"/>
            <a:ext cx="7966911" cy="31909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600329"/>
          </a:xfrm>
        </p:spPr>
        <p:txBody>
          <a:bodyPr/>
          <a:lstStyle/>
          <a:p>
            <a:r>
              <a:rPr lang="en-US" dirty="0"/>
              <a:t>Structure of HTML	</a:t>
            </a:r>
            <a:br>
              <a:rPr lang="en-US" dirty="0"/>
            </a:br>
            <a:endParaRPr lang="en-IN" dirty="0"/>
          </a:p>
        </p:txBody>
      </p:sp>
      <p:sp>
        <p:nvSpPr>
          <p:cNvPr id="3" name="Text Placeholder 2"/>
          <p:cNvSpPr>
            <a:spLocks noGrp="1"/>
          </p:cNvSpPr>
          <p:nvPr>
            <p:ph type="body" idx="1"/>
          </p:nvPr>
        </p:nvSpPr>
        <p:spPr>
          <a:xfrm>
            <a:off x="914400" y="838200"/>
            <a:ext cx="10820400" cy="6708311"/>
          </a:xfrm>
        </p:spPr>
        <p:txBody>
          <a:bodyPr/>
          <a:lstStyle/>
          <a:p>
            <a:r>
              <a:rPr lang="en-US" dirty="0"/>
              <a:t>HTML is the standard markup language for creating Web pages</a:t>
            </a:r>
            <a:endParaRPr lang="en-US" dirty="0"/>
          </a:p>
          <a:p>
            <a:r>
              <a:rPr lang="en-US" dirty="0"/>
              <a:t>stands for Hyper Text Markup Language</a:t>
            </a:r>
            <a:endParaRPr lang="en-US" dirty="0"/>
          </a:p>
          <a:p>
            <a:r>
              <a:rPr lang="en-US" dirty="0"/>
              <a:t>describes the structure of a Web page </a:t>
            </a:r>
            <a:endParaRPr lang="en-US" dirty="0"/>
          </a:p>
          <a:p>
            <a:r>
              <a:rPr lang="en-US" dirty="0"/>
              <a:t>consists of a series of elements</a:t>
            </a:r>
            <a:endParaRPr lang="en-US" dirty="0"/>
          </a:p>
          <a:p>
            <a:r>
              <a:rPr lang="en-US" dirty="0"/>
              <a:t>HTML elements tell the browser how to display the content</a:t>
            </a:r>
            <a:endParaRPr lang="en-US" dirty="0"/>
          </a:p>
          <a:p>
            <a:r>
              <a:rPr lang="en-US" dirty="0"/>
              <a:t>HTML elements are represented by tags</a:t>
            </a:r>
            <a:endParaRPr lang="en-US" dirty="0"/>
          </a:p>
          <a:p>
            <a:r>
              <a:rPr lang="en-US" dirty="0"/>
              <a:t>HTML tags label pieces of content such as "heading", "paragraph", "table", and so on</a:t>
            </a:r>
            <a:endParaRPr lang="en-US" dirty="0"/>
          </a:p>
          <a:p>
            <a:r>
              <a:rPr lang="en-US" dirty="0"/>
              <a:t>Browsers do not display the HTML tags, but use them to render the content of the page</a:t>
            </a:r>
            <a:endParaRPr lang="en-US" dirty="0"/>
          </a:p>
          <a:p>
            <a:r>
              <a:rPr lang="en-US" dirty="0"/>
              <a:t>HTML is not case sensitive</a:t>
            </a:r>
            <a:endParaRPr lang="en-IN" dirty="0"/>
          </a:p>
          <a:p>
            <a:pPr marL="0" indent="0">
              <a:buNone/>
            </a:pPr>
            <a:r>
              <a:rPr lang="en-IN" dirty="0"/>
              <a:t>&lt;html&gt;</a:t>
            </a:r>
            <a:endParaRPr lang="en-IN" dirty="0"/>
          </a:p>
          <a:p>
            <a:pPr marL="457200" lvl="1" indent="0">
              <a:buNone/>
            </a:pPr>
            <a:r>
              <a:rPr lang="en-IN" sz="2200" dirty="0">
                <a:solidFill>
                  <a:schemeClr val="tx1"/>
                </a:solidFill>
                <a:latin typeface="Cambria" panose="02040503050406030204" pitchFamily="18" charset="0"/>
                <a:ea typeface="Cambria" panose="02040503050406030204" pitchFamily="18" charset="0"/>
              </a:rPr>
              <a:t>A little bit of html</a:t>
            </a:r>
            <a:endParaRPr lang="en-IN" sz="2200" dirty="0">
              <a:solidFill>
                <a:schemeClr val="tx1"/>
              </a:solidFill>
              <a:latin typeface="Cambria" panose="02040503050406030204" pitchFamily="18" charset="0"/>
              <a:ea typeface="Cambria" panose="02040503050406030204" pitchFamily="18" charset="0"/>
            </a:endParaRPr>
          </a:p>
          <a:p>
            <a:pPr marL="0" lvl="1" indent="0">
              <a:buNone/>
            </a:pPr>
            <a:r>
              <a:rPr lang="en-IN" sz="2200" dirty="0">
                <a:solidFill>
                  <a:schemeClr val="tx1"/>
                </a:solidFill>
                <a:latin typeface="Cambria" panose="02040503050406030204" pitchFamily="18" charset="0"/>
                <a:ea typeface="Cambria" panose="02040503050406030204" pitchFamily="18" charset="0"/>
              </a:rPr>
              <a:t>&lt;/html&gt;</a:t>
            </a:r>
            <a:endParaRPr lang="en-IN" sz="2200" dirty="0">
              <a:solidFill>
                <a:schemeClr val="tx1"/>
              </a:solidFill>
              <a:latin typeface="Cambria" panose="02040503050406030204" pitchFamily="18" charset="0"/>
              <a:ea typeface="Cambria" panose="02040503050406030204" pitchFamily="18" charset="0"/>
            </a:endParaRPr>
          </a:p>
          <a:p>
            <a:endParaRPr lang="en-US" dirty="0"/>
          </a:p>
          <a:p>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US" dirty="0"/>
              <a:t>Structure of HTML	</a:t>
            </a:r>
            <a:endParaRPr lang="en-IN" dirty="0"/>
          </a:p>
        </p:txBody>
      </p:sp>
      <p:sp>
        <p:nvSpPr>
          <p:cNvPr id="3" name="Text Placeholder 2"/>
          <p:cNvSpPr>
            <a:spLocks noGrp="1"/>
          </p:cNvSpPr>
          <p:nvPr>
            <p:ph type="body" idx="1"/>
          </p:nvPr>
        </p:nvSpPr>
        <p:spPr>
          <a:xfrm>
            <a:off x="1250950" y="990600"/>
            <a:ext cx="10331450" cy="3153492"/>
          </a:xfrm>
        </p:spPr>
        <p:txBody>
          <a:bodyPr/>
          <a:lstStyle/>
          <a:p>
            <a:pPr marL="342900" lvl="1" indent="-342900">
              <a:buFont typeface="Arial" panose="020B0604020202090204" pitchFamily="34" charset="0"/>
              <a:buChar char="•"/>
            </a:pPr>
            <a:r>
              <a:rPr lang="en-IN" sz="2200" dirty="0">
                <a:solidFill>
                  <a:schemeClr val="tx1"/>
                </a:solidFill>
                <a:latin typeface="Cambria" panose="02040503050406030204" pitchFamily="18" charset="0"/>
                <a:ea typeface="Cambria" panose="02040503050406030204" pitchFamily="18" charset="0"/>
              </a:rPr>
              <a:t>Anything written in triangular bracket is known as tag.</a:t>
            </a:r>
            <a:endParaRPr lang="en-IN" sz="2200" dirty="0">
              <a:solidFill>
                <a:schemeClr val="tx1"/>
              </a:solidFill>
              <a:latin typeface="Cambria" panose="02040503050406030204" pitchFamily="18" charset="0"/>
              <a:ea typeface="Cambria" panose="02040503050406030204" pitchFamily="18" charset="0"/>
            </a:endParaRPr>
          </a:p>
          <a:p>
            <a:pPr marL="342900" lvl="1" indent="-342900">
              <a:buFont typeface="Arial" panose="020B0604020202090204" pitchFamily="34" charset="0"/>
              <a:buChar char="•"/>
            </a:pPr>
            <a:r>
              <a:rPr lang="en-IN" sz="2200" dirty="0">
                <a:solidFill>
                  <a:schemeClr val="tx1"/>
                </a:solidFill>
                <a:latin typeface="Cambria" panose="02040503050406030204" pitchFamily="18" charset="0"/>
                <a:ea typeface="Cambria" panose="02040503050406030204" pitchFamily="18" charset="0"/>
              </a:rPr>
              <a:t>&lt;html&gt; defines that it is HTML.</a:t>
            </a:r>
            <a:endParaRPr lang="en-IN" sz="2200" dirty="0">
              <a:solidFill>
                <a:schemeClr val="tx1"/>
              </a:solidFill>
              <a:latin typeface="Cambria" panose="02040503050406030204" pitchFamily="18" charset="0"/>
              <a:ea typeface="Cambria" panose="02040503050406030204" pitchFamily="18" charset="0"/>
            </a:endParaRPr>
          </a:p>
          <a:p>
            <a:pPr marL="342900" lvl="1" indent="-342900">
              <a:buFont typeface="Arial" panose="020B0604020202090204" pitchFamily="34" charset="0"/>
              <a:buChar char="•"/>
            </a:pPr>
            <a:r>
              <a:rPr lang="en-IN" sz="2200" dirty="0">
                <a:solidFill>
                  <a:schemeClr val="tx1"/>
                </a:solidFill>
                <a:latin typeface="Cambria" panose="02040503050406030204" pitchFamily="18" charset="0"/>
                <a:ea typeface="Cambria" panose="02040503050406030204" pitchFamily="18" charset="0"/>
              </a:rPr>
              <a:t>First and last line is same except / it denotes closing tag is matching with opening  tag.</a:t>
            </a:r>
            <a:endParaRPr lang="en-IN" sz="2200" dirty="0">
              <a:solidFill>
                <a:schemeClr val="tx1"/>
              </a:solidFill>
              <a:latin typeface="Cambria" panose="02040503050406030204" pitchFamily="18" charset="0"/>
              <a:ea typeface="Cambria" panose="02040503050406030204" pitchFamily="18" charset="0"/>
            </a:endParaRPr>
          </a:p>
          <a:p>
            <a:pPr marL="0" lvl="1" indent="0">
              <a:buNone/>
            </a:pPr>
            <a:r>
              <a:rPr lang="en-IN" sz="2200" dirty="0">
                <a:solidFill>
                  <a:schemeClr val="tx1"/>
                </a:solidFill>
                <a:latin typeface="Cambria" panose="02040503050406030204" pitchFamily="18" charset="0"/>
                <a:ea typeface="Cambria" panose="02040503050406030204" pitchFamily="18" charset="0"/>
              </a:rPr>
              <a:t>Note:</a:t>
            </a:r>
            <a:endParaRPr lang="en-IN" sz="2200" dirty="0">
              <a:solidFill>
                <a:schemeClr val="tx1"/>
              </a:solidFill>
              <a:latin typeface="Cambria" panose="02040503050406030204" pitchFamily="18" charset="0"/>
              <a:ea typeface="Cambria" panose="02040503050406030204" pitchFamily="18" charset="0"/>
            </a:endParaRPr>
          </a:p>
          <a:p>
            <a:pPr marL="342900" lvl="1" indent="-342900">
              <a:buFont typeface="Arial" panose="020B0604020202090204" pitchFamily="34" charset="0"/>
              <a:buChar char="•"/>
            </a:pPr>
            <a:r>
              <a:rPr lang="en-IN" sz="2200" dirty="0">
                <a:solidFill>
                  <a:schemeClr val="tx1"/>
                </a:solidFill>
                <a:latin typeface="Cambria" panose="02040503050406030204" pitchFamily="18" charset="0"/>
                <a:ea typeface="Cambria" panose="02040503050406030204" pitchFamily="18" charset="0"/>
              </a:rPr>
              <a:t>Html tags are in lower case.</a:t>
            </a:r>
            <a:endParaRPr lang="en-IN" sz="2200" dirty="0">
              <a:solidFill>
                <a:schemeClr val="tx1"/>
              </a:solidFill>
              <a:latin typeface="Cambria" panose="02040503050406030204" pitchFamily="18" charset="0"/>
              <a:ea typeface="Cambria" panose="02040503050406030204" pitchFamily="18" charset="0"/>
            </a:endParaRPr>
          </a:p>
          <a:p>
            <a:pPr marL="342900" lvl="1" indent="-342900">
              <a:buFont typeface="Arial" panose="020B0604020202090204" pitchFamily="34" charset="0"/>
              <a:buChar char="•"/>
            </a:pPr>
            <a:r>
              <a:rPr lang="en-IN" sz="2200" dirty="0">
                <a:solidFill>
                  <a:schemeClr val="tx1"/>
                </a:solidFill>
                <a:latin typeface="Cambria" panose="02040503050406030204" pitchFamily="18" charset="0"/>
                <a:ea typeface="Cambria" panose="02040503050406030204" pitchFamily="18" charset="0"/>
              </a:rPr>
              <a:t>Html is not case sensitive</a:t>
            </a:r>
            <a:endParaRPr lang="en-IN" sz="2200" dirty="0">
              <a:solidFill>
                <a:schemeClr val="tx1"/>
              </a:solidFill>
              <a:latin typeface="Cambria" panose="02040503050406030204" pitchFamily="18" charset="0"/>
              <a:ea typeface="Cambria" panose="02040503050406030204" pitchFamily="18" charset="0"/>
            </a:endParaRPr>
          </a:p>
          <a:p>
            <a:pPr marL="342900" lvl="1" indent="-342900">
              <a:buFont typeface="Arial" panose="020B0604020202090204" pitchFamily="34" charset="0"/>
              <a:buChar char="•"/>
            </a:pPr>
            <a:endParaRPr lang="en-US" sz="2200" dirty="0">
              <a:latin typeface="Cambria" panose="02040503050406030204" pitchFamily="18" charset="0"/>
              <a:ea typeface="Cambria" panose="02040503050406030204" pitchFamily="18" charset="0"/>
            </a:endParaRPr>
          </a:p>
          <a:p>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US" dirty="0"/>
              <a:t>Structure of HTML	</a:t>
            </a:r>
            <a:endParaRPr lang="en-IN" dirty="0"/>
          </a:p>
        </p:txBody>
      </p:sp>
      <p:sp>
        <p:nvSpPr>
          <p:cNvPr id="3" name="Text Placeholder 2"/>
          <p:cNvSpPr>
            <a:spLocks noGrp="1"/>
          </p:cNvSpPr>
          <p:nvPr>
            <p:ph type="body" idx="1"/>
          </p:nvPr>
        </p:nvSpPr>
        <p:spPr>
          <a:xfrm>
            <a:off x="762000" y="838200"/>
            <a:ext cx="11125200" cy="6541214"/>
          </a:xfrm>
        </p:spPr>
        <p:txBody>
          <a:bodyPr/>
          <a:lstStyle/>
          <a:p>
            <a:pPr marL="0" lvl="0" indent="0" algn="l">
              <a:lnSpc>
                <a:spcPct val="90000"/>
              </a:lnSpc>
              <a:spcBef>
                <a:spcPts val="1200"/>
              </a:spcBef>
              <a:buClr>
                <a:srgbClr val="40BAD2"/>
              </a:buClr>
              <a:buNone/>
            </a:pPr>
            <a:r>
              <a:rPr lang="en-US" sz="1800" dirty="0">
                <a:solidFill>
                  <a:schemeClr val="accent6">
                    <a:lumMod val="75000"/>
                  </a:schemeClr>
                </a:solidFill>
              </a:rPr>
              <a:t>&lt;!DOCTYPE html&gt;</a:t>
            </a:r>
            <a:br>
              <a:rPr lang="en-US" sz="1800" dirty="0">
                <a:solidFill>
                  <a:schemeClr val="accent6">
                    <a:lumMod val="75000"/>
                  </a:schemeClr>
                </a:solidFill>
              </a:rPr>
            </a:br>
            <a:r>
              <a:rPr lang="en-US" sz="1800" dirty="0">
                <a:solidFill>
                  <a:schemeClr val="accent6">
                    <a:lumMod val="75000"/>
                  </a:schemeClr>
                </a:solidFill>
              </a:rPr>
              <a:t>&lt;html&gt;</a:t>
            </a:r>
            <a:br>
              <a:rPr lang="en-US" sz="1800" dirty="0">
                <a:solidFill>
                  <a:schemeClr val="accent6">
                    <a:lumMod val="75000"/>
                  </a:schemeClr>
                </a:solidFill>
              </a:rPr>
            </a:br>
            <a:r>
              <a:rPr lang="en-US" sz="1800" dirty="0">
                <a:solidFill>
                  <a:schemeClr val="accent6">
                    <a:lumMod val="75000"/>
                  </a:schemeClr>
                </a:solidFill>
              </a:rPr>
              <a:t>	&lt;head&gt;</a:t>
            </a:r>
            <a:br>
              <a:rPr lang="en-US" sz="1800" dirty="0">
                <a:solidFill>
                  <a:schemeClr val="accent6">
                    <a:lumMod val="75000"/>
                  </a:schemeClr>
                </a:solidFill>
              </a:rPr>
            </a:br>
            <a:r>
              <a:rPr lang="en-US" sz="1800" dirty="0">
                <a:solidFill>
                  <a:schemeClr val="accent6">
                    <a:lumMod val="75000"/>
                  </a:schemeClr>
                </a:solidFill>
              </a:rPr>
              <a:t>		&lt;title&gt;Page Title&lt;/title&gt;</a:t>
            </a:r>
            <a:br>
              <a:rPr lang="en-US" sz="1800" dirty="0">
                <a:solidFill>
                  <a:schemeClr val="accent6">
                    <a:lumMod val="75000"/>
                  </a:schemeClr>
                </a:solidFill>
              </a:rPr>
            </a:br>
            <a:r>
              <a:rPr lang="en-US" sz="1800" dirty="0">
                <a:solidFill>
                  <a:schemeClr val="accent6">
                    <a:lumMod val="75000"/>
                  </a:schemeClr>
                </a:solidFill>
              </a:rPr>
              <a:t>	&lt;/head&gt;</a:t>
            </a:r>
            <a:br>
              <a:rPr lang="en-US" sz="1800" dirty="0">
                <a:solidFill>
                  <a:schemeClr val="accent6">
                    <a:lumMod val="75000"/>
                  </a:schemeClr>
                </a:solidFill>
              </a:rPr>
            </a:br>
            <a:r>
              <a:rPr lang="en-US" sz="1800" dirty="0">
                <a:solidFill>
                  <a:schemeClr val="accent6">
                    <a:lumMod val="75000"/>
                  </a:schemeClr>
                </a:solidFill>
              </a:rPr>
              <a:t>	&lt;body&gt;</a:t>
            </a:r>
            <a:br>
              <a:rPr lang="en-US" sz="1800" dirty="0">
                <a:solidFill>
                  <a:schemeClr val="accent6">
                    <a:lumMod val="75000"/>
                  </a:schemeClr>
                </a:solidFill>
              </a:rPr>
            </a:br>
            <a:br>
              <a:rPr lang="en-US" sz="1800" dirty="0">
                <a:solidFill>
                  <a:schemeClr val="accent6">
                    <a:lumMod val="75000"/>
                  </a:schemeClr>
                </a:solidFill>
              </a:rPr>
            </a:br>
            <a:r>
              <a:rPr lang="en-US" sz="1800" dirty="0">
                <a:solidFill>
                  <a:schemeClr val="accent6">
                    <a:lumMod val="75000"/>
                  </a:schemeClr>
                </a:solidFill>
              </a:rPr>
              <a:t>		&lt;h1&gt;My First Heading&lt;/h1&gt;</a:t>
            </a:r>
            <a:br>
              <a:rPr lang="en-US" sz="1800" dirty="0">
                <a:solidFill>
                  <a:schemeClr val="accent6">
                    <a:lumMod val="75000"/>
                  </a:schemeClr>
                </a:solidFill>
              </a:rPr>
            </a:br>
            <a:r>
              <a:rPr lang="en-US" sz="1800" dirty="0">
                <a:solidFill>
                  <a:schemeClr val="accent6">
                    <a:lumMod val="75000"/>
                  </a:schemeClr>
                </a:solidFill>
              </a:rPr>
              <a:t>		&lt;p&gt;My first paragraph.&lt;/p&gt;</a:t>
            </a:r>
            <a:br>
              <a:rPr lang="en-US" sz="1800" dirty="0">
                <a:solidFill>
                  <a:schemeClr val="accent6">
                    <a:lumMod val="75000"/>
                  </a:schemeClr>
                </a:solidFill>
              </a:rPr>
            </a:br>
            <a:br>
              <a:rPr lang="en-US" sz="1800" dirty="0">
                <a:solidFill>
                  <a:schemeClr val="accent6">
                    <a:lumMod val="75000"/>
                  </a:schemeClr>
                </a:solidFill>
              </a:rPr>
            </a:br>
            <a:r>
              <a:rPr lang="en-US" sz="1800" dirty="0">
                <a:solidFill>
                  <a:schemeClr val="accent6">
                    <a:lumMod val="75000"/>
                  </a:schemeClr>
                </a:solidFill>
              </a:rPr>
              <a:t>	&lt;/body&gt;</a:t>
            </a:r>
            <a:br>
              <a:rPr lang="en-US" sz="1800" dirty="0">
                <a:solidFill>
                  <a:schemeClr val="accent6">
                    <a:lumMod val="75000"/>
                  </a:schemeClr>
                </a:solidFill>
              </a:rPr>
            </a:br>
            <a:r>
              <a:rPr lang="en-US" sz="1800" dirty="0">
                <a:solidFill>
                  <a:schemeClr val="accent6">
                    <a:lumMod val="75000"/>
                  </a:schemeClr>
                </a:solidFill>
              </a:rPr>
              <a:t>&lt;/html&gt; </a:t>
            </a:r>
            <a:endParaRPr lang="en-US" sz="1800" dirty="0">
              <a:solidFill>
                <a:schemeClr val="accent6">
                  <a:lumMod val="75000"/>
                </a:schemeClr>
              </a:solidFill>
            </a:endParaRPr>
          </a:p>
          <a:p>
            <a:pPr marL="0" indent="0"/>
            <a:r>
              <a:rPr lang="en-US" sz="2000" dirty="0"/>
              <a:t>    The &lt;!DOCTYPE html&gt; declaration defines this document to be HTML5</a:t>
            </a:r>
            <a:endParaRPr lang="en-US" sz="2000" dirty="0"/>
          </a:p>
          <a:p>
            <a:pPr marL="0" indent="0"/>
            <a:r>
              <a:rPr lang="en-US" sz="2000" dirty="0"/>
              <a:t>    The &lt;html&gt; element is the root element of an HTML page</a:t>
            </a:r>
            <a:endParaRPr lang="en-US" sz="2000" dirty="0"/>
          </a:p>
          <a:p>
            <a:pPr marL="0" indent="0"/>
            <a:r>
              <a:rPr lang="en-US" sz="2000" dirty="0"/>
              <a:t>    The &lt;head&gt; element contains meta information about the document</a:t>
            </a:r>
            <a:endParaRPr lang="en-US" sz="2000" dirty="0"/>
          </a:p>
          <a:p>
            <a:pPr marL="0" indent="0"/>
            <a:r>
              <a:rPr lang="en-US" sz="2000" dirty="0"/>
              <a:t>    The &lt;title&gt; element specifies a title for the document</a:t>
            </a:r>
            <a:endParaRPr lang="en-US" sz="2000" dirty="0"/>
          </a:p>
          <a:p>
            <a:pPr marL="0" indent="0"/>
            <a:r>
              <a:rPr lang="en-US" sz="2000" dirty="0"/>
              <a:t>    The &lt;body&gt; element contains the visible page content</a:t>
            </a:r>
            <a:endParaRPr lang="en-US" sz="2000" dirty="0"/>
          </a:p>
          <a:p>
            <a:pPr marL="0" indent="0"/>
            <a:r>
              <a:rPr lang="en-US" sz="2000" dirty="0"/>
              <a:t>    The &lt;h1&gt; element defines a large heading</a:t>
            </a:r>
            <a:endParaRPr lang="en-US" sz="2000" dirty="0">
              <a:solidFill>
                <a:schemeClr val="accent6">
                  <a:lumMod val="75000"/>
                </a:schemeClr>
              </a:solidFill>
            </a:endParaRPr>
          </a:p>
          <a:p>
            <a:pPr marL="0" indent="0"/>
            <a:endParaRPr lang="en-US" sz="1800" dirty="0"/>
          </a:p>
          <a:p>
            <a:endParaRPr lang="en-IN"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HTML	</a:t>
            </a:r>
            <a:endParaRPr lang="en-IN" dirty="0"/>
          </a:p>
        </p:txBody>
      </p:sp>
      <p:sp>
        <p:nvSpPr>
          <p:cNvPr id="3" name="Text Placeholder 2"/>
          <p:cNvSpPr>
            <a:spLocks noGrp="1"/>
          </p:cNvSpPr>
          <p:nvPr>
            <p:ph type="body" idx="1"/>
          </p:nvPr>
        </p:nvSpPr>
        <p:spPr>
          <a:xfrm>
            <a:off x="1250950" y="1289050"/>
            <a:ext cx="9309100" cy="5523372"/>
          </a:xfrm>
        </p:spPr>
        <p:txBody>
          <a:bodyPr/>
          <a:lstStyle/>
          <a:p>
            <a:r>
              <a:rPr lang="en-US" dirty="0"/>
              <a:t>The purpose of a web browser (Chrome, Edge, Firefox, Safari) is to read HTML documents and display them.</a:t>
            </a:r>
            <a:endParaRPr lang="en-US" dirty="0"/>
          </a:p>
          <a:p>
            <a:r>
              <a:rPr lang="en-US" dirty="0"/>
              <a:t>The browser does not display the HTML tags, but uses them to determine how to display the document:</a:t>
            </a:r>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1950" y="3406391"/>
            <a:ext cx="6049219" cy="24053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Doctype  in HTML</a:t>
            </a:r>
            <a:endParaRPr lang="en-IN" dirty="0"/>
          </a:p>
        </p:txBody>
      </p:sp>
      <p:sp>
        <p:nvSpPr>
          <p:cNvPr id="3" name="Text Placeholder 2"/>
          <p:cNvSpPr>
            <a:spLocks noGrp="1"/>
          </p:cNvSpPr>
          <p:nvPr>
            <p:ph type="body" idx="1"/>
          </p:nvPr>
        </p:nvSpPr>
        <p:spPr>
          <a:xfrm>
            <a:off x="533400" y="762000"/>
            <a:ext cx="10788650" cy="6963060"/>
          </a:xfrm>
        </p:spPr>
        <p:txBody>
          <a:bodyPr/>
          <a:lstStyle/>
          <a:p>
            <a:r>
              <a:rPr lang="en-US" sz="1900" dirty="0"/>
              <a:t>The &lt;!DOCTYPE&gt; declaration must be the very first thing in your HTML document, before the </a:t>
            </a:r>
            <a:r>
              <a:rPr lang="en-IN" sz="1900" dirty="0"/>
              <a:t>&lt;html&gt; tag.</a:t>
            </a:r>
            <a:endParaRPr lang="en-IN" sz="1900" dirty="0"/>
          </a:p>
          <a:p>
            <a:r>
              <a:rPr lang="en-US" sz="1900" dirty="0"/>
              <a:t>The &lt;!DOCTYPE&gt; declaration is not an HTML tag.</a:t>
            </a:r>
            <a:endParaRPr lang="en-US" sz="1900" dirty="0"/>
          </a:p>
          <a:p>
            <a:r>
              <a:rPr lang="en-US" sz="1900" dirty="0"/>
              <a:t>It is an instruction to the web browser about what version of HTML the page is written in.</a:t>
            </a:r>
            <a:endParaRPr lang="en-US" sz="1900" dirty="0"/>
          </a:p>
          <a:p>
            <a:r>
              <a:rPr lang="en-US" sz="1900" dirty="0"/>
              <a:t>The DTD specifies the rules for the mark up language, so that the browsers render and display the content </a:t>
            </a:r>
            <a:r>
              <a:rPr lang="en-IN" sz="1900" dirty="0"/>
              <a:t>correctly.</a:t>
            </a:r>
            <a:endParaRPr lang="en-IN" sz="1900" dirty="0"/>
          </a:p>
          <a:p>
            <a:r>
              <a:rPr lang="en-US" sz="1900" dirty="0"/>
              <a:t>There are different document types on the web.</a:t>
            </a:r>
            <a:endParaRPr lang="en-US" sz="1900" dirty="0"/>
          </a:p>
          <a:p>
            <a:r>
              <a:rPr lang="en-US" sz="1900" dirty="0"/>
              <a:t>To display a document correctly, the browser must know both type and version.</a:t>
            </a:r>
            <a:endParaRPr lang="en-US" sz="1900" dirty="0"/>
          </a:p>
          <a:p>
            <a:r>
              <a:rPr lang="en-US" sz="1900" dirty="0"/>
              <a:t>The doctype declaration is not case sensitive. All </a:t>
            </a:r>
            <a:r>
              <a:rPr lang="en-IN" sz="1900" dirty="0"/>
              <a:t>cases are acceptable:</a:t>
            </a:r>
            <a:endParaRPr lang="en-IN" sz="1900" dirty="0"/>
          </a:p>
          <a:p>
            <a:r>
              <a:rPr lang="en-IN" sz="1900" dirty="0"/>
              <a:t>&lt;!DOCTYPE html&gt;</a:t>
            </a:r>
            <a:endParaRPr lang="en-IN" sz="1900" dirty="0"/>
          </a:p>
          <a:p>
            <a:r>
              <a:rPr lang="en-IN" sz="1900" dirty="0"/>
              <a:t>&lt;!DOCTYPE HTML&gt;</a:t>
            </a:r>
            <a:endParaRPr lang="en-IN" sz="1900" dirty="0"/>
          </a:p>
          <a:p>
            <a:r>
              <a:rPr lang="en-IN" sz="1900" dirty="0"/>
              <a:t>&lt;!doctype html&gt;</a:t>
            </a:r>
            <a:endParaRPr lang="en-IN" sz="1900" dirty="0"/>
          </a:p>
          <a:p>
            <a:r>
              <a:rPr lang="en-IN" sz="1900" dirty="0"/>
              <a:t>&lt;!Doctype Html&gt;</a:t>
            </a:r>
            <a:endParaRPr lang="en-IN" sz="1900" dirty="0"/>
          </a:p>
          <a:p>
            <a:endParaRPr lang="en-IN" sz="1900" dirty="0"/>
          </a:p>
          <a:p>
            <a:endParaRPr lang="en-US" sz="1900" dirty="0"/>
          </a:p>
          <a:p>
            <a:endParaRPr lang="en-IN" sz="1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Elements, tags and attributes</a:t>
            </a:r>
            <a:endParaRPr lang="en-IN" dirty="0"/>
          </a:p>
        </p:txBody>
      </p:sp>
      <p:sp>
        <p:nvSpPr>
          <p:cNvPr id="3" name="Text Placeholder 2"/>
          <p:cNvSpPr>
            <a:spLocks noGrp="1"/>
          </p:cNvSpPr>
          <p:nvPr>
            <p:ph type="body" idx="1"/>
          </p:nvPr>
        </p:nvSpPr>
        <p:spPr>
          <a:xfrm>
            <a:off x="609600" y="914400"/>
            <a:ext cx="11049000" cy="5523372"/>
          </a:xfrm>
        </p:spPr>
        <p:txBody>
          <a:bodyPr/>
          <a:lstStyle/>
          <a:p>
            <a:r>
              <a:rPr lang="en-US" b="1" dirty="0"/>
              <a:t>HTML Elements</a:t>
            </a:r>
            <a:r>
              <a:rPr lang="en-US" dirty="0"/>
              <a:t>:</a:t>
            </a:r>
            <a:endParaRPr lang="en-US" dirty="0"/>
          </a:p>
          <a:p>
            <a:r>
              <a:rPr lang="en-US" dirty="0"/>
              <a:t>An HTML element usually consists of a </a:t>
            </a:r>
            <a:r>
              <a:rPr lang="en-US" b="1" dirty="0"/>
              <a:t>start</a:t>
            </a:r>
            <a:r>
              <a:rPr lang="en-US" dirty="0"/>
              <a:t> tag and an </a:t>
            </a:r>
            <a:r>
              <a:rPr lang="en-US" b="1" dirty="0"/>
              <a:t>end</a:t>
            </a:r>
            <a:r>
              <a:rPr lang="en-US" dirty="0"/>
              <a:t> tag, with the content inserted in between:</a:t>
            </a:r>
            <a:endParaRPr lang="en-US" dirty="0"/>
          </a:p>
          <a:p>
            <a:r>
              <a:rPr lang="en-US" dirty="0"/>
              <a:t>&lt;</a:t>
            </a:r>
            <a:r>
              <a:rPr lang="en-US" dirty="0" err="1"/>
              <a:t>tagname</a:t>
            </a:r>
            <a:r>
              <a:rPr lang="en-US" dirty="0"/>
              <a:t>&gt;Content goes here...&lt;/</a:t>
            </a:r>
            <a:r>
              <a:rPr lang="en-US" dirty="0" err="1"/>
              <a:t>tagname</a:t>
            </a:r>
            <a:r>
              <a:rPr lang="en-US" dirty="0"/>
              <a:t>&gt; </a:t>
            </a:r>
            <a:endParaRPr lang="en-US" dirty="0"/>
          </a:p>
          <a:p>
            <a:r>
              <a:rPr lang="en-US" dirty="0"/>
              <a:t>The HTML </a:t>
            </a:r>
            <a:r>
              <a:rPr lang="en-US" b="1" dirty="0"/>
              <a:t>element</a:t>
            </a:r>
            <a:r>
              <a:rPr lang="en-US" dirty="0"/>
              <a:t> is everything from the start tag to the end tag:</a:t>
            </a:r>
            <a:endParaRPr lang="en-US" dirty="0"/>
          </a:p>
          <a:p>
            <a:r>
              <a:rPr lang="en-US" dirty="0"/>
              <a:t>&lt;p&gt;My first paragraph.&lt;/p&gt; </a:t>
            </a:r>
            <a:endParaRPr lang="en-US" dirty="0"/>
          </a:p>
          <a:p>
            <a:endParaRPr lang="en-US" dirty="0"/>
          </a:p>
          <a:p>
            <a:endParaRPr lang="en-US" dirty="0"/>
          </a:p>
          <a:p>
            <a:endParaRPr lang="en-US" dirty="0"/>
          </a:p>
          <a:p>
            <a:endParaRPr lang="en-US" dirty="0"/>
          </a:p>
          <a:p>
            <a:endParaRPr lang="en-IN" dirty="0"/>
          </a:p>
        </p:txBody>
      </p:sp>
      <p:pic>
        <p:nvPicPr>
          <p:cNvPr id="4" name="Picture 3"/>
          <p:cNvPicPr>
            <a:picLocks noChangeAspect="1"/>
          </p:cNvPicPr>
          <p:nvPr/>
        </p:nvPicPr>
        <p:blipFill>
          <a:blip r:embed="rId1"/>
          <a:stretch>
            <a:fillRect/>
          </a:stretch>
        </p:blipFill>
        <p:spPr>
          <a:xfrm>
            <a:off x="914400" y="4114800"/>
            <a:ext cx="6230652" cy="212768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Elements, tags and attributes</a:t>
            </a:r>
            <a:endParaRPr lang="en-IN" dirty="0"/>
          </a:p>
        </p:txBody>
      </p:sp>
      <p:sp>
        <p:nvSpPr>
          <p:cNvPr id="3" name="Text Placeholder 2"/>
          <p:cNvSpPr>
            <a:spLocks noGrp="1"/>
          </p:cNvSpPr>
          <p:nvPr>
            <p:ph type="body" idx="1"/>
          </p:nvPr>
        </p:nvSpPr>
        <p:spPr>
          <a:xfrm>
            <a:off x="762000" y="990600"/>
            <a:ext cx="9309100" cy="5015540"/>
          </a:xfrm>
        </p:spPr>
        <p:txBody>
          <a:bodyPr/>
          <a:lstStyle/>
          <a:p>
            <a:r>
              <a:rPr lang="en-IN" b="1" dirty="0"/>
              <a:t>Empty element</a:t>
            </a:r>
            <a:r>
              <a:rPr lang="en-IN" dirty="0"/>
              <a:t>:</a:t>
            </a:r>
            <a:endParaRPr lang="en-IN" dirty="0"/>
          </a:p>
          <a:p>
            <a:r>
              <a:rPr lang="en-US" dirty="0"/>
              <a:t>HTML elements with no content are called empty elements. </a:t>
            </a:r>
            <a:endParaRPr lang="en-US" dirty="0"/>
          </a:p>
          <a:p>
            <a:r>
              <a:rPr lang="en-US" dirty="0"/>
              <a:t>Empty elements do not have an end tag, such as the &lt;</a:t>
            </a:r>
            <a:r>
              <a:rPr lang="en-US" dirty="0" err="1"/>
              <a:t>br</a:t>
            </a:r>
            <a:r>
              <a:rPr lang="en-US" dirty="0"/>
              <a:t>&gt; element (which indicates a line break).</a:t>
            </a:r>
            <a:endParaRPr lang="en-US" dirty="0"/>
          </a:p>
          <a:p>
            <a:r>
              <a:rPr lang="en-US" b="1" dirty="0"/>
              <a:t>Nested HTML Elements:</a:t>
            </a:r>
            <a:endParaRPr lang="en-US" b="1" dirty="0"/>
          </a:p>
          <a:p>
            <a:r>
              <a:rPr lang="en-US" dirty="0"/>
              <a:t>HTML elements can be nested (elements can contain elements).</a:t>
            </a:r>
            <a:endParaRPr lang="en-US" dirty="0"/>
          </a:p>
          <a:p>
            <a:r>
              <a:rPr lang="en-US" dirty="0"/>
              <a:t>All HTML documents consist of nested HTML elements.</a:t>
            </a:r>
            <a:endParaRPr lang="en-US" dirty="0"/>
          </a:p>
          <a:p>
            <a:endParaRPr lang="en-US" b="1" dirty="0"/>
          </a:p>
          <a:p>
            <a:endParaRPr lang="en-US" dirty="0"/>
          </a:p>
          <a:p>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Elements, tags and attributes</a:t>
            </a:r>
            <a:endParaRPr lang="en-IN" dirty="0"/>
          </a:p>
        </p:txBody>
      </p:sp>
      <p:sp>
        <p:nvSpPr>
          <p:cNvPr id="3" name="Text Placeholder 2"/>
          <p:cNvSpPr>
            <a:spLocks noGrp="1"/>
          </p:cNvSpPr>
          <p:nvPr>
            <p:ph type="body" idx="1"/>
          </p:nvPr>
        </p:nvSpPr>
        <p:spPr>
          <a:xfrm>
            <a:off x="838200" y="990600"/>
            <a:ext cx="9309100" cy="4458465"/>
          </a:xfrm>
        </p:spPr>
        <p:txBody>
          <a:bodyPr/>
          <a:lstStyle/>
          <a:p>
            <a:pPr marL="182880" lvl="0" indent="-182880" algn="l">
              <a:lnSpc>
                <a:spcPct val="90000"/>
              </a:lnSpc>
              <a:spcBef>
                <a:spcPts val="1200"/>
              </a:spcBef>
              <a:buClr>
                <a:srgbClr val="40BAD2"/>
              </a:buClr>
              <a:buFont typeface="Wingdings 2" panose="05020102010507070707" pitchFamily="18" charset="2"/>
              <a:buChar char=""/>
            </a:pPr>
            <a:r>
              <a:rPr lang="en-US" dirty="0">
                <a:solidFill>
                  <a:srgbClr val="000000">
                    <a:lumMod val="65000"/>
                    <a:lumOff val="35000"/>
                  </a:srgbClr>
                </a:solidFill>
              </a:rPr>
              <a:t>This example contains four HTML elements:</a:t>
            </a:r>
            <a:endParaRPr lang="en-US" dirty="0">
              <a:solidFill>
                <a:srgbClr val="000000">
                  <a:lumMod val="65000"/>
                  <a:lumOff val="35000"/>
                </a:srgbClr>
              </a:solidFill>
            </a:endParaRPr>
          </a:p>
          <a:p>
            <a:pPr marL="182880" lvl="0" indent="-182880" algn="l">
              <a:lnSpc>
                <a:spcPct val="90000"/>
              </a:lnSpc>
              <a:spcBef>
                <a:spcPts val="1200"/>
              </a:spcBef>
              <a:buClr>
                <a:srgbClr val="40BAD2"/>
              </a:buClr>
              <a:buFont typeface="Wingdings 2" panose="05020102010507070707" pitchFamily="18" charset="2"/>
              <a:buChar char=""/>
            </a:pPr>
            <a:r>
              <a:rPr lang="en-US" dirty="0"/>
              <a:t>&lt;!DOCTYPE html&gt;</a:t>
            </a:r>
            <a:br>
              <a:rPr lang="en-US" dirty="0"/>
            </a:br>
            <a:r>
              <a:rPr lang="en-US" dirty="0"/>
              <a:t>&lt;html&gt;</a:t>
            </a:r>
            <a:br>
              <a:rPr lang="en-US" dirty="0"/>
            </a:br>
            <a:r>
              <a:rPr lang="en-US" dirty="0"/>
              <a:t>	</a:t>
            </a:r>
            <a:br>
              <a:rPr lang="en-US" dirty="0"/>
            </a:br>
            <a:r>
              <a:rPr lang="en-US" dirty="0"/>
              <a:t>	&lt;body&gt;</a:t>
            </a:r>
            <a:br>
              <a:rPr lang="en-US" dirty="0"/>
            </a:br>
            <a:br>
              <a:rPr lang="en-US" dirty="0"/>
            </a:br>
            <a:r>
              <a:rPr lang="en-US" dirty="0"/>
              <a:t>		&lt;h1&gt;My First Heading&lt;/h1&gt;</a:t>
            </a:r>
            <a:br>
              <a:rPr lang="en-US" dirty="0"/>
            </a:br>
            <a:r>
              <a:rPr lang="en-US" dirty="0"/>
              <a:t>		&lt;p&gt;My first paragraph.&lt;/p&gt;</a:t>
            </a:r>
            <a:br>
              <a:rPr lang="en-US" dirty="0"/>
            </a:br>
            <a:br>
              <a:rPr lang="en-US" dirty="0"/>
            </a:br>
            <a:r>
              <a:rPr lang="en-US" dirty="0"/>
              <a:t>	&lt;/body&gt;</a:t>
            </a:r>
            <a:br>
              <a:rPr lang="en-US" dirty="0"/>
            </a:br>
            <a:r>
              <a:rPr lang="en-US" dirty="0"/>
              <a:t>&lt;/html&gt; </a:t>
            </a:r>
            <a:endParaRPr lang="en-US" dirty="0"/>
          </a:p>
          <a:p>
            <a:endParaRPr lang="en-US" dirty="0"/>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IN" dirty="0"/>
              <a:t>HTML Attributes</a:t>
            </a:r>
            <a:endParaRPr lang="en-IN" dirty="0"/>
          </a:p>
        </p:txBody>
      </p:sp>
      <p:sp>
        <p:nvSpPr>
          <p:cNvPr id="3" name="Text Placeholder 2"/>
          <p:cNvSpPr>
            <a:spLocks noGrp="1"/>
          </p:cNvSpPr>
          <p:nvPr>
            <p:ph type="body" idx="1"/>
          </p:nvPr>
        </p:nvSpPr>
        <p:spPr>
          <a:xfrm>
            <a:off x="762000" y="921230"/>
            <a:ext cx="10972800" cy="5015540"/>
          </a:xfrm>
        </p:spPr>
        <p:txBody>
          <a:bodyPr/>
          <a:lstStyle/>
          <a:p>
            <a:pPr algn="just"/>
            <a:r>
              <a:rPr lang="en-US" dirty="0"/>
              <a:t>All HTML elements can have </a:t>
            </a:r>
            <a:r>
              <a:rPr lang="en-US" b="1" dirty="0"/>
              <a:t>attributes</a:t>
            </a:r>
            <a:endParaRPr lang="en-US" dirty="0"/>
          </a:p>
          <a:p>
            <a:pPr algn="just"/>
            <a:r>
              <a:rPr lang="en-US" dirty="0"/>
              <a:t>Attributes provide </a:t>
            </a:r>
            <a:r>
              <a:rPr lang="en-US" b="1" dirty="0"/>
              <a:t>additional information</a:t>
            </a:r>
            <a:r>
              <a:rPr lang="en-US" dirty="0"/>
              <a:t> about an HTML element</a:t>
            </a:r>
            <a:endParaRPr lang="en-US" dirty="0"/>
          </a:p>
          <a:p>
            <a:pPr algn="just"/>
            <a:r>
              <a:rPr lang="en-US" dirty="0"/>
              <a:t>Attributes are always specified in </a:t>
            </a:r>
            <a:r>
              <a:rPr lang="en-US" b="1" dirty="0"/>
              <a:t>the start tag</a:t>
            </a:r>
            <a:endParaRPr lang="en-US" dirty="0"/>
          </a:p>
          <a:p>
            <a:pPr algn="just"/>
            <a:r>
              <a:rPr lang="en-US" dirty="0"/>
              <a:t>Attributes usually come in name/value pairs like: </a:t>
            </a:r>
            <a:r>
              <a:rPr lang="en-US" b="1" dirty="0"/>
              <a:t>name="value"</a:t>
            </a:r>
            <a:endParaRPr lang="en-US" dirty="0"/>
          </a:p>
          <a:p>
            <a:pPr algn="just"/>
            <a:r>
              <a:rPr lang="en-US" b="1" dirty="0"/>
              <a:t>The </a:t>
            </a:r>
            <a:r>
              <a:rPr lang="en-US" b="1" dirty="0" err="1"/>
              <a:t>href</a:t>
            </a:r>
            <a:r>
              <a:rPr lang="en-US" b="1" dirty="0"/>
              <a:t> Attribute:</a:t>
            </a:r>
            <a:endParaRPr lang="en-US" b="1" dirty="0"/>
          </a:p>
          <a:p>
            <a:pPr algn="just"/>
            <a:r>
              <a:rPr lang="en-US" dirty="0"/>
              <a:t>HTML links are defined with the anchor &lt;a&gt; tag. The link address is specified in the </a:t>
            </a:r>
            <a:r>
              <a:rPr lang="en-US" dirty="0" err="1"/>
              <a:t>href</a:t>
            </a:r>
            <a:r>
              <a:rPr lang="en-US" dirty="0"/>
              <a:t> attribute:</a:t>
            </a:r>
            <a:endParaRPr lang="en-US" dirty="0"/>
          </a:p>
          <a:p>
            <a:pPr algn="just"/>
            <a:r>
              <a:rPr lang="en-US" dirty="0"/>
              <a:t>&lt;a </a:t>
            </a:r>
            <a:r>
              <a:rPr lang="en-US" dirty="0" err="1"/>
              <a:t>href</a:t>
            </a:r>
            <a:r>
              <a:rPr lang="en-US" dirty="0"/>
              <a:t>="https://www.w3schools.com"&gt;This is a link&lt;/a&gt; </a:t>
            </a:r>
            <a:endParaRPr lang="en-US" dirty="0"/>
          </a:p>
          <a:p>
            <a:pPr algn="just"/>
            <a:endParaRPr lang="en-US" b="1" dirty="0"/>
          </a:p>
          <a:p>
            <a:pPr algn="just"/>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 Attributes</a:t>
            </a:r>
            <a:endParaRPr lang="en-IN" dirty="0"/>
          </a:p>
        </p:txBody>
      </p:sp>
      <p:sp>
        <p:nvSpPr>
          <p:cNvPr id="3" name="Text Placeholder 2"/>
          <p:cNvSpPr>
            <a:spLocks noGrp="1"/>
          </p:cNvSpPr>
          <p:nvPr>
            <p:ph type="body" idx="1"/>
          </p:nvPr>
        </p:nvSpPr>
        <p:spPr>
          <a:xfrm>
            <a:off x="914400" y="990600"/>
            <a:ext cx="10972800" cy="6031203"/>
          </a:xfrm>
        </p:spPr>
        <p:txBody>
          <a:bodyPr/>
          <a:lstStyle/>
          <a:p>
            <a:r>
              <a:rPr lang="en-US" b="1" dirty="0"/>
              <a:t>The </a:t>
            </a:r>
            <a:r>
              <a:rPr lang="en-US" b="1" dirty="0" err="1"/>
              <a:t>src</a:t>
            </a:r>
            <a:r>
              <a:rPr lang="en-US" b="1" dirty="0"/>
              <a:t> Attribute:</a:t>
            </a:r>
            <a:endParaRPr lang="en-US" b="1" dirty="0"/>
          </a:p>
          <a:p>
            <a:r>
              <a:rPr lang="en-US" dirty="0"/>
              <a:t>HTML images are defined with the &lt;</a:t>
            </a:r>
            <a:r>
              <a:rPr lang="en-US" dirty="0" err="1"/>
              <a:t>img</a:t>
            </a:r>
            <a:r>
              <a:rPr lang="en-US" dirty="0"/>
              <a:t>&gt; tag.</a:t>
            </a:r>
            <a:endParaRPr lang="en-US" dirty="0"/>
          </a:p>
          <a:p>
            <a:r>
              <a:rPr lang="en-US" dirty="0"/>
              <a:t>The filename of the image source is specified in the </a:t>
            </a:r>
            <a:r>
              <a:rPr lang="en-US" dirty="0" err="1"/>
              <a:t>src</a:t>
            </a:r>
            <a:r>
              <a:rPr lang="en-US" dirty="0"/>
              <a:t> attribute:</a:t>
            </a:r>
            <a:endParaRPr lang="en-US" dirty="0"/>
          </a:p>
          <a:p>
            <a:r>
              <a:rPr lang="en-US" dirty="0"/>
              <a:t>&lt;</a:t>
            </a:r>
            <a:r>
              <a:rPr lang="en-US" dirty="0" err="1"/>
              <a:t>img</a:t>
            </a:r>
            <a:r>
              <a:rPr lang="en-US" dirty="0"/>
              <a:t> </a:t>
            </a:r>
            <a:r>
              <a:rPr lang="en-US" dirty="0" err="1"/>
              <a:t>src</a:t>
            </a:r>
            <a:r>
              <a:rPr lang="en-US" dirty="0"/>
              <a:t>="img_girl.jpg"&gt; </a:t>
            </a:r>
            <a:endParaRPr lang="en-US" dirty="0"/>
          </a:p>
          <a:p>
            <a:r>
              <a:rPr lang="en-US" b="1" dirty="0"/>
              <a:t>The width and height Attributes</a:t>
            </a:r>
            <a:endParaRPr lang="en-US" b="1" dirty="0"/>
          </a:p>
          <a:p>
            <a:r>
              <a:rPr lang="en-US" dirty="0"/>
              <a:t>HTML images also have width and height attributes, which specifies the width and height of the image:</a:t>
            </a:r>
            <a:endParaRPr lang="en-US" dirty="0"/>
          </a:p>
          <a:p>
            <a:r>
              <a:rPr lang="en-US" dirty="0"/>
              <a:t>&lt;</a:t>
            </a:r>
            <a:r>
              <a:rPr lang="en-US" dirty="0" err="1"/>
              <a:t>img</a:t>
            </a:r>
            <a:r>
              <a:rPr lang="en-US" dirty="0"/>
              <a:t> </a:t>
            </a:r>
            <a:r>
              <a:rPr lang="en-US" dirty="0" err="1"/>
              <a:t>src</a:t>
            </a:r>
            <a:r>
              <a:rPr lang="en-US" dirty="0"/>
              <a:t>="img_girl.jpg" width="500" height=“500"&gt; </a:t>
            </a:r>
            <a:endParaRPr lang="en-US" dirty="0"/>
          </a:p>
          <a:p>
            <a:r>
              <a:rPr lang="en-US" dirty="0"/>
              <a:t>The width and height are specified in pixels by default; so width="500" means 500 pixels wide.</a:t>
            </a:r>
            <a:endParaRPr lang="en-US" dirty="0"/>
          </a:p>
          <a:p>
            <a:endParaRPr lang="en-US" dirty="0"/>
          </a:p>
          <a:p>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 Attributes</a:t>
            </a:r>
            <a:endParaRPr lang="en-IN" dirty="0"/>
          </a:p>
        </p:txBody>
      </p:sp>
      <p:sp>
        <p:nvSpPr>
          <p:cNvPr id="3" name="Text Placeholder 2"/>
          <p:cNvSpPr>
            <a:spLocks noGrp="1"/>
          </p:cNvSpPr>
          <p:nvPr>
            <p:ph type="body" idx="1"/>
          </p:nvPr>
        </p:nvSpPr>
        <p:spPr>
          <a:xfrm>
            <a:off x="685800" y="762000"/>
            <a:ext cx="11049000" cy="6553200"/>
          </a:xfrm>
        </p:spPr>
        <p:txBody>
          <a:bodyPr/>
          <a:lstStyle/>
          <a:p>
            <a:r>
              <a:rPr lang="en-US" b="1" dirty="0"/>
              <a:t>The alt  Attribute:</a:t>
            </a:r>
            <a:endParaRPr lang="en-US" b="1" dirty="0"/>
          </a:p>
          <a:p>
            <a:r>
              <a:rPr lang="en-US" dirty="0"/>
              <a:t>The alt attribute specifies an alternative text to be used, if an image cannot be displayed.</a:t>
            </a:r>
            <a:endParaRPr lang="en-US" dirty="0"/>
          </a:p>
          <a:p>
            <a:r>
              <a:rPr lang="en-US" dirty="0"/>
              <a:t>The value of the alt attribute can be read by screen readers. This way, someone "listening" to the webpage, e.g. a vision impaired person, can "hear" the element.</a:t>
            </a:r>
            <a:endParaRPr lang="en-US" dirty="0"/>
          </a:p>
          <a:p>
            <a:r>
              <a:rPr lang="en-US" dirty="0"/>
              <a:t>&lt;</a:t>
            </a:r>
            <a:r>
              <a:rPr lang="en-US" dirty="0" err="1"/>
              <a:t>img</a:t>
            </a:r>
            <a:r>
              <a:rPr lang="en-US" dirty="0"/>
              <a:t> </a:t>
            </a:r>
            <a:r>
              <a:rPr lang="en-US" dirty="0" err="1"/>
              <a:t>src</a:t>
            </a:r>
            <a:r>
              <a:rPr lang="en-US" dirty="0"/>
              <a:t>="img_girl.jpg" alt="Girl with a jacket"&gt; </a:t>
            </a:r>
            <a:endParaRPr lang="en-US" dirty="0"/>
          </a:p>
          <a:p>
            <a:r>
              <a:rPr lang="en-US" b="1" dirty="0"/>
              <a:t>The style Attribute</a:t>
            </a:r>
            <a:endParaRPr lang="en-US" b="1" dirty="0"/>
          </a:p>
          <a:p>
            <a:r>
              <a:rPr lang="en-US" dirty="0"/>
              <a:t>The style attribute is used to specify the styling of an element, like color, font, size etc.</a:t>
            </a:r>
            <a:endParaRPr lang="en-US" dirty="0"/>
          </a:p>
          <a:p>
            <a:r>
              <a:rPr lang="en-US" dirty="0"/>
              <a:t>&lt;p style="</a:t>
            </a:r>
            <a:r>
              <a:rPr lang="en-US" dirty="0" err="1"/>
              <a:t>color:red</a:t>
            </a:r>
            <a:r>
              <a:rPr lang="en-US" dirty="0"/>
              <a:t>"&gt;This is a paragraph.&lt;/p&gt; </a:t>
            </a:r>
            <a:endParaRPr lang="en-US" dirty="0"/>
          </a:p>
          <a:p>
            <a:r>
              <a:rPr lang="en-US" b="1" dirty="0"/>
              <a:t>The lang Attribute:</a:t>
            </a:r>
            <a:endParaRPr lang="en-US" b="1" dirty="0"/>
          </a:p>
          <a:p>
            <a:r>
              <a:rPr lang="en-US" dirty="0"/>
              <a:t>The language of the document can be declared in the &lt;html&gt; tag.</a:t>
            </a:r>
            <a:endParaRPr lang="en-US" dirty="0"/>
          </a:p>
          <a:p>
            <a:r>
              <a:rPr lang="en-US" dirty="0"/>
              <a:t>The language is declared with the lang attribute.</a:t>
            </a:r>
            <a:endParaRPr lang="en-US" dirty="0"/>
          </a:p>
          <a:p>
            <a:endParaRPr lang="en-US" dirty="0"/>
          </a:p>
          <a:p>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838200" y="762000"/>
            <a:ext cx="11049000" cy="7003777"/>
          </a:xfrm>
        </p:spPr>
        <p:txBody>
          <a:bodyPr/>
          <a:lstStyle/>
          <a:p>
            <a:r>
              <a:rPr lang="en-US" dirty="0"/>
              <a:t>Declaring a language is important for accessibility applications (screen readers) and search engines:</a:t>
            </a:r>
            <a:endParaRPr lang="en-US" dirty="0"/>
          </a:p>
          <a:p>
            <a:pPr algn="l">
              <a:lnSpc>
                <a:spcPct val="90000"/>
              </a:lnSpc>
              <a:spcBef>
                <a:spcPts val="1200"/>
              </a:spcBef>
            </a:pPr>
            <a:r>
              <a:rPr lang="en-US" dirty="0"/>
              <a:t>&lt;!DOCTYPE html&gt;</a:t>
            </a:r>
            <a:br>
              <a:rPr lang="en-US" dirty="0"/>
            </a:br>
            <a:r>
              <a:rPr lang="en-US" dirty="0"/>
              <a:t>&lt;html lang="</a:t>
            </a:r>
            <a:r>
              <a:rPr lang="en-US" dirty="0" err="1"/>
              <a:t>en</a:t>
            </a:r>
            <a:r>
              <a:rPr lang="en-US" dirty="0"/>
              <a:t>-US"&gt;</a:t>
            </a:r>
            <a:br>
              <a:rPr lang="en-US" dirty="0"/>
            </a:br>
            <a:r>
              <a:rPr lang="en-US" dirty="0"/>
              <a:t>&lt;body&gt;</a:t>
            </a:r>
            <a:br>
              <a:rPr lang="en-US" dirty="0"/>
            </a:br>
            <a:r>
              <a:rPr lang="en-US" dirty="0"/>
              <a:t>...</a:t>
            </a:r>
            <a:br>
              <a:rPr lang="en-US" dirty="0"/>
            </a:br>
            <a:r>
              <a:rPr lang="en-US" dirty="0"/>
              <a:t>&lt;/body&gt;</a:t>
            </a:r>
            <a:br>
              <a:rPr lang="en-US" dirty="0"/>
            </a:br>
            <a:r>
              <a:rPr lang="en-US" dirty="0"/>
              <a:t>&lt;/html&gt; </a:t>
            </a:r>
            <a:endParaRPr lang="en-US" dirty="0"/>
          </a:p>
          <a:p>
            <a:pPr algn="l">
              <a:lnSpc>
                <a:spcPct val="90000"/>
              </a:lnSpc>
              <a:spcBef>
                <a:spcPts val="1200"/>
              </a:spcBef>
            </a:pPr>
            <a:r>
              <a:rPr lang="en-US" dirty="0"/>
              <a:t>The first two letters specify the language (</a:t>
            </a:r>
            <a:r>
              <a:rPr lang="en-US" dirty="0" err="1"/>
              <a:t>en</a:t>
            </a:r>
            <a:r>
              <a:rPr lang="en-US" dirty="0"/>
              <a:t>) If there is a dialect, add two more letters (US).</a:t>
            </a:r>
            <a:endParaRPr lang="en-US" dirty="0"/>
          </a:p>
          <a:p>
            <a:pPr algn="l">
              <a:lnSpc>
                <a:spcPct val="90000"/>
              </a:lnSpc>
              <a:spcBef>
                <a:spcPts val="1200"/>
              </a:spcBef>
            </a:pPr>
            <a:r>
              <a:rPr lang="en-IN" b="1" dirty="0"/>
              <a:t>The title Attribute</a:t>
            </a:r>
            <a:endParaRPr lang="en-IN" b="1" dirty="0"/>
          </a:p>
          <a:p>
            <a:pPr algn="l">
              <a:lnSpc>
                <a:spcPct val="90000"/>
              </a:lnSpc>
              <a:spcBef>
                <a:spcPts val="1200"/>
              </a:spcBef>
            </a:pPr>
            <a:r>
              <a:rPr lang="en-US" sz="2200" dirty="0"/>
              <a:t>Here, a title attribute is added to the &lt;p&gt; element. The value of the title attribute will be displayed as a tooltip when you mouse over the paragraph:</a:t>
            </a:r>
            <a:endParaRPr lang="en-US" sz="2200" dirty="0"/>
          </a:p>
          <a:p>
            <a:pPr algn="l">
              <a:lnSpc>
                <a:spcPct val="90000"/>
              </a:lnSpc>
              <a:spcBef>
                <a:spcPts val="1200"/>
              </a:spcBef>
            </a:pPr>
            <a:r>
              <a:rPr lang="en-US" sz="2200" dirty="0"/>
              <a:t>&lt;p title="I'm a tooltip"&gt;</a:t>
            </a:r>
            <a:br>
              <a:rPr lang="en-US" sz="2200" dirty="0"/>
            </a:br>
            <a:r>
              <a:rPr lang="en-US" sz="2200" dirty="0"/>
              <a:t>	This is a paragraph.</a:t>
            </a:r>
            <a:br>
              <a:rPr lang="en-US" sz="2200" dirty="0"/>
            </a:br>
            <a:r>
              <a:rPr lang="en-US" sz="2200" dirty="0"/>
              <a:t>&lt;/p&gt; </a:t>
            </a:r>
            <a:endParaRPr lang="en-US" sz="2200" dirty="0"/>
          </a:p>
          <a:p>
            <a:endParaRPr lang="en-US" dirty="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Formatting and Fonts</a:t>
            </a:r>
            <a:endParaRPr lang="en-IN" dirty="0"/>
          </a:p>
        </p:txBody>
      </p:sp>
      <p:sp>
        <p:nvSpPr>
          <p:cNvPr id="3" name="Text Placeholder 2"/>
          <p:cNvSpPr>
            <a:spLocks noGrp="1"/>
          </p:cNvSpPr>
          <p:nvPr>
            <p:ph type="body" idx="1"/>
          </p:nvPr>
        </p:nvSpPr>
        <p:spPr>
          <a:xfrm>
            <a:off x="685800" y="914400"/>
            <a:ext cx="11049000" cy="6169702"/>
          </a:xfrm>
        </p:spPr>
        <p:txBody>
          <a:bodyPr/>
          <a:lstStyle/>
          <a:p>
            <a:r>
              <a:rPr lang="en-IN" sz="2800" b="1" dirty="0"/>
              <a:t>HTML Headings</a:t>
            </a:r>
            <a:endParaRPr lang="en-IN" sz="2800" b="1" dirty="0"/>
          </a:p>
          <a:p>
            <a:r>
              <a:rPr lang="en-US" dirty="0"/>
              <a:t>Headings are defined with the &lt;h1&gt; to &lt;h6&gt; tags.</a:t>
            </a:r>
            <a:endParaRPr lang="en-US" dirty="0"/>
          </a:p>
          <a:p>
            <a:r>
              <a:rPr lang="en-US" dirty="0"/>
              <a:t>&lt;h1&gt; defines the most important heading. &lt;h6&gt; defines the least important heading.</a:t>
            </a:r>
            <a:endParaRPr lang="en-US" dirty="0"/>
          </a:p>
          <a:p>
            <a:r>
              <a:rPr lang="en-US" b="1" dirty="0"/>
              <a:t>Note:</a:t>
            </a:r>
            <a:r>
              <a:rPr lang="en-US" dirty="0"/>
              <a:t> Browsers automatically add some white space (a margin) before and after a heading.</a:t>
            </a:r>
            <a:endParaRPr lang="en-US" dirty="0"/>
          </a:p>
          <a:p>
            <a:r>
              <a:rPr lang="en-US" dirty="0"/>
              <a:t>Headings Are Important for Search engines to index the structure and content of your web pages.</a:t>
            </a:r>
            <a:endParaRPr lang="en-US" dirty="0"/>
          </a:p>
          <a:p>
            <a:r>
              <a:rPr lang="en-US" dirty="0"/>
              <a:t>Users often skim a page by its headings. It is important to use headings to show the document structure.</a:t>
            </a:r>
            <a:endParaRPr lang="en-IN" dirty="0"/>
          </a:p>
          <a:p>
            <a:endParaRPr lang="en-US" dirty="0"/>
          </a:p>
          <a:p>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Text Placeholder 2"/>
          <p:cNvSpPr>
            <a:spLocks noGrp="1"/>
          </p:cNvSpPr>
          <p:nvPr>
            <p:ph type="body" idx="1"/>
          </p:nvPr>
        </p:nvSpPr>
        <p:spPr>
          <a:xfrm>
            <a:off x="914400" y="990600"/>
            <a:ext cx="9309100" cy="5286768"/>
          </a:xfrm>
        </p:spPr>
        <p:txBody>
          <a:bodyPr/>
          <a:lstStyle/>
          <a:p>
            <a:pPr marL="0" lvl="0" indent="0" algn="l">
              <a:lnSpc>
                <a:spcPct val="90000"/>
              </a:lnSpc>
              <a:spcBef>
                <a:spcPts val="1200"/>
              </a:spcBef>
              <a:buClr>
                <a:srgbClr val="40BAD2"/>
              </a:buClr>
              <a:buNone/>
            </a:pPr>
            <a:r>
              <a:rPr lang="en-US" sz="2400" dirty="0"/>
              <a:t>&lt;html&gt;</a:t>
            </a:r>
            <a:endParaRPr lang="en-US" sz="2400" dirty="0"/>
          </a:p>
          <a:p>
            <a:pPr marL="0" lvl="0" indent="0" algn="l">
              <a:lnSpc>
                <a:spcPct val="90000"/>
              </a:lnSpc>
              <a:spcBef>
                <a:spcPts val="1200"/>
              </a:spcBef>
              <a:buClr>
                <a:srgbClr val="40BAD2"/>
              </a:buClr>
              <a:buNone/>
            </a:pPr>
            <a:r>
              <a:rPr lang="en-US" sz="2400" dirty="0"/>
              <a:t>	&lt;body&gt;</a:t>
            </a:r>
            <a:endParaRPr lang="en-US" sz="2400" dirty="0"/>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&lt;h1&gt;Heading 1&lt;/h1&gt;</a:t>
            </a:r>
            <a:endParaRPr lang="en-US" sz="2400" dirty="0">
              <a:solidFill>
                <a:schemeClr val="tx1"/>
              </a:solidFill>
              <a:latin typeface="Cambria" panose="02040503050406030204" pitchFamily="18" charset="0"/>
              <a:ea typeface="Cambria" panose="02040503050406030204" pitchFamily="18" charset="0"/>
            </a:endParaRPr>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&lt;h2&gt;Heading 2&lt;/h2&gt;</a:t>
            </a:r>
            <a:endParaRPr lang="en-US" sz="2400" dirty="0">
              <a:solidFill>
                <a:schemeClr val="tx1"/>
              </a:solidFill>
              <a:latin typeface="Cambria" panose="02040503050406030204" pitchFamily="18" charset="0"/>
              <a:ea typeface="Cambria" panose="02040503050406030204" pitchFamily="18" charset="0"/>
            </a:endParaRPr>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&lt;h3&gt;Heading 3&lt;/h3&gt;</a:t>
            </a:r>
            <a:endParaRPr lang="en-US" sz="2400" dirty="0">
              <a:solidFill>
                <a:schemeClr val="tx1"/>
              </a:solidFill>
              <a:latin typeface="Cambria" panose="02040503050406030204" pitchFamily="18" charset="0"/>
              <a:ea typeface="Cambria" panose="02040503050406030204" pitchFamily="18" charset="0"/>
            </a:endParaRPr>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&lt;h4&gt;Heading 4&lt;/h4&gt;</a:t>
            </a:r>
            <a:endParaRPr lang="en-US" sz="2400" dirty="0">
              <a:solidFill>
                <a:schemeClr val="tx1"/>
              </a:solidFill>
              <a:latin typeface="Cambria" panose="02040503050406030204" pitchFamily="18" charset="0"/>
              <a:ea typeface="Cambria" panose="02040503050406030204" pitchFamily="18" charset="0"/>
            </a:endParaRPr>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&lt;h5&gt;Heading 5&lt;/h5&gt;</a:t>
            </a:r>
            <a:endParaRPr lang="en-US" sz="2400" dirty="0">
              <a:solidFill>
                <a:schemeClr val="tx1"/>
              </a:solidFill>
              <a:latin typeface="Cambria" panose="02040503050406030204" pitchFamily="18" charset="0"/>
              <a:ea typeface="Cambria" panose="02040503050406030204" pitchFamily="18" charset="0"/>
            </a:endParaRPr>
          </a:p>
          <a:p>
            <a:pPr marL="1257300" lvl="3" indent="0" algn="l">
              <a:lnSpc>
                <a:spcPct val="90000"/>
              </a:lnSpc>
              <a:spcBef>
                <a:spcPts val="250"/>
              </a:spcBef>
              <a:spcAft>
                <a:spcPts val="250"/>
              </a:spcAft>
              <a:buClr>
                <a:srgbClr val="40BAD2"/>
              </a:buClr>
              <a:buNone/>
            </a:pPr>
            <a:r>
              <a:rPr lang="en-US" sz="2400" dirty="0">
                <a:solidFill>
                  <a:schemeClr val="tx1"/>
                </a:solidFill>
                <a:latin typeface="Cambria" panose="02040503050406030204" pitchFamily="18" charset="0"/>
                <a:ea typeface="Cambria" panose="02040503050406030204" pitchFamily="18" charset="0"/>
              </a:rPr>
              <a:t>&lt;h6&gt;Heading 6&lt;/h6&gt;</a:t>
            </a:r>
            <a:endParaRPr lang="en-US" sz="2400" dirty="0"/>
          </a:p>
          <a:p>
            <a:pPr marL="0" lvl="0" indent="0" algn="l">
              <a:lnSpc>
                <a:spcPct val="90000"/>
              </a:lnSpc>
              <a:spcBef>
                <a:spcPts val="1200"/>
              </a:spcBef>
              <a:buClr>
                <a:srgbClr val="40BAD2"/>
              </a:buClr>
              <a:buNone/>
            </a:pPr>
            <a:r>
              <a:rPr lang="en-US" sz="2400" dirty="0"/>
              <a:t>	&lt;/body&gt;</a:t>
            </a:r>
            <a:endParaRPr lang="en-US" sz="2400" dirty="0"/>
          </a:p>
          <a:p>
            <a:pPr marL="0" lvl="0" indent="0" algn="l">
              <a:lnSpc>
                <a:spcPct val="90000"/>
              </a:lnSpc>
              <a:spcBef>
                <a:spcPts val="1200"/>
              </a:spcBef>
              <a:buClr>
                <a:srgbClr val="40BAD2"/>
              </a:buClr>
              <a:buNone/>
            </a:pPr>
            <a:r>
              <a:rPr lang="en-US" sz="2400" dirty="0"/>
              <a:t>&lt;/html&gt;</a:t>
            </a:r>
            <a:endParaRPr lang="en-IN" sz="2400" dirty="0"/>
          </a:p>
          <a:p>
            <a:endParaRPr lang="en-US" sz="2400" dirty="0"/>
          </a:p>
          <a:p>
            <a:endParaRPr lang="en-IN"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IN" dirty="0"/>
              <a:t>Bigger Headings</a:t>
            </a:r>
            <a:endParaRPr lang="en-IN" dirty="0"/>
          </a:p>
        </p:txBody>
      </p:sp>
      <p:sp>
        <p:nvSpPr>
          <p:cNvPr id="3" name="Text Placeholder 2"/>
          <p:cNvSpPr>
            <a:spLocks noGrp="1"/>
          </p:cNvSpPr>
          <p:nvPr>
            <p:ph type="body" idx="1"/>
          </p:nvPr>
        </p:nvSpPr>
        <p:spPr>
          <a:xfrm>
            <a:off x="914400" y="838200"/>
            <a:ext cx="10591800" cy="5523372"/>
          </a:xfrm>
        </p:spPr>
        <p:txBody>
          <a:bodyPr/>
          <a:lstStyle/>
          <a:p>
            <a:r>
              <a:rPr lang="en-US" dirty="0"/>
              <a:t>Each HTML heading has a default size. However, you can specify the size for any heading with the style attribute, using the CSS font-size property:</a:t>
            </a:r>
            <a:endParaRPr lang="en-US" dirty="0"/>
          </a:p>
          <a:p>
            <a:r>
              <a:rPr lang="en-US" dirty="0"/>
              <a:t>&lt;html&gt;</a:t>
            </a:r>
            <a:endParaRPr lang="en-US" dirty="0"/>
          </a:p>
          <a:p>
            <a:r>
              <a:rPr lang="en-US" dirty="0"/>
              <a:t>	&lt;body&gt;</a:t>
            </a:r>
            <a:endParaRPr lang="en-US" dirty="0"/>
          </a:p>
          <a:p>
            <a:r>
              <a:rPr lang="en-US" dirty="0"/>
              <a:t>		&lt;h1 style="font-size:60px;"&gt;Heading 1&lt;/h1&gt;</a:t>
            </a:r>
            <a:endParaRPr lang="en-US" dirty="0"/>
          </a:p>
          <a:p>
            <a:r>
              <a:rPr lang="en-US" dirty="0"/>
              <a:t>		&lt;p&gt;You can change the size of a heading with the style attribute, using the font-size property.&lt;/p&gt;</a:t>
            </a:r>
            <a:endParaRPr lang="en-US" dirty="0"/>
          </a:p>
          <a:p>
            <a:r>
              <a:rPr lang="en-US" dirty="0"/>
              <a:t>	&lt;/body&gt;</a:t>
            </a:r>
            <a:endParaRPr lang="en-US" dirty="0"/>
          </a:p>
          <a:p>
            <a:r>
              <a:rPr lang="en-US" dirty="0"/>
              <a:t>&lt;/html&gt;</a:t>
            </a:r>
            <a:endParaRPr lang="en-US" dirty="0"/>
          </a:p>
          <a:p>
            <a:endParaRPr lang="en-US" dirty="0"/>
          </a:p>
          <a:p>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IN" dirty="0"/>
              <a:t>HTML Horizontal Rules</a:t>
            </a:r>
            <a:endParaRPr lang="en-IN" dirty="0"/>
          </a:p>
        </p:txBody>
      </p:sp>
      <p:sp>
        <p:nvSpPr>
          <p:cNvPr id="3" name="Text Placeholder 2"/>
          <p:cNvSpPr>
            <a:spLocks noGrp="1"/>
          </p:cNvSpPr>
          <p:nvPr>
            <p:ph type="body" idx="1"/>
          </p:nvPr>
        </p:nvSpPr>
        <p:spPr>
          <a:xfrm>
            <a:off x="685800" y="762000"/>
            <a:ext cx="10972800" cy="7046866"/>
          </a:xfrm>
        </p:spPr>
        <p:txBody>
          <a:bodyPr/>
          <a:lstStyle/>
          <a:p>
            <a:r>
              <a:rPr lang="en-US" b="1" dirty="0"/>
              <a:t>HTML Horizontal Rules:</a:t>
            </a:r>
            <a:endParaRPr lang="en-US" b="1" dirty="0"/>
          </a:p>
          <a:p>
            <a:r>
              <a:rPr lang="en-US" dirty="0"/>
              <a:t>The &lt;</a:t>
            </a:r>
            <a:r>
              <a:rPr lang="en-US" dirty="0" err="1"/>
              <a:t>hr</a:t>
            </a:r>
            <a:r>
              <a:rPr lang="en-US" dirty="0"/>
              <a:t>&gt; tag defines a thematic break in an HTML page, and is most often displayed as a horizontal rule.</a:t>
            </a:r>
            <a:endParaRPr lang="en-US" dirty="0"/>
          </a:p>
          <a:p>
            <a:r>
              <a:rPr lang="en-US" dirty="0"/>
              <a:t>The &lt;</a:t>
            </a:r>
            <a:r>
              <a:rPr lang="en-US" dirty="0" err="1"/>
              <a:t>hr</a:t>
            </a:r>
            <a:r>
              <a:rPr lang="en-US" dirty="0"/>
              <a:t>&gt; element is used to separate content (or define a change) in an HTML page</a:t>
            </a:r>
            <a:endParaRPr lang="en-US" dirty="0"/>
          </a:p>
          <a:p>
            <a:r>
              <a:rPr lang="en-US" sz="1800" dirty="0"/>
              <a:t>&lt;html&gt;</a:t>
            </a:r>
            <a:endParaRPr lang="en-US" sz="1800" dirty="0"/>
          </a:p>
          <a:p>
            <a:r>
              <a:rPr lang="en-US" sz="1800" dirty="0"/>
              <a:t>	&lt;head&gt;</a:t>
            </a:r>
            <a:endParaRPr lang="en-US" sz="1800" dirty="0"/>
          </a:p>
          <a:p>
            <a:r>
              <a:rPr lang="en-US" sz="1800" dirty="0"/>
              <a:t>		&lt;title&gt;1st webpage&lt;/title&gt;</a:t>
            </a:r>
            <a:endParaRPr lang="en-US" sz="1800" dirty="0"/>
          </a:p>
          <a:p>
            <a:r>
              <a:rPr lang="en-US" sz="1800" dirty="0"/>
              <a:t>	&lt;/head&gt;</a:t>
            </a:r>
            <a:endParaRPr lang="en-US" sz="1800" dirty="0"/>
          </a:p>
          <a:p>
            <a:r>
              <a:rPr lang="en-US" sz="1800" dirty="0"/>
              <a:t>	&lt;body&gt;</a:t>
            </a:r>
            <a:endParaRPr lang="en-US" sz="1800" dirty="0"/>
          </a:p>
          <a:p>
            <a:r>
              <a:rPr lang="en-US" sz="1800" dirty="0"/>
              <a:t>		&lt;h1&gt;My First Heading&lt;/h1&gt;</a:t>
            </a:r>
            <a:endParaRPr lang="en-US" sz="1800" dirty="0"/>
          </a:p>
          <a:p>
            <a:r>
              <a:rPr lang="en-US" sz="1800" dirty="0"/>
              <a:t>		&lt;</a:t>
            </a:r>
            <a:r>
              <a:rPr lang="en-US" sz="1800" dirty="0" err="1"/>
              <a:t>hr</a:t>
            </a:r>
            <a:r>
              <a:rPr lang="en-US" sz="1800" dirty="0"/>
              <a:t>/&gt;</a:t>
            </a:r>
            <a:endParaRPr lang="en-US" sz="1800" dirty="0"/>
          </a:p>
          <a:p>
            <a:r>
              <a:rPr lang="en-US" sz="1800" dirty="0"/>
              <a:t>		&lt;p&gt;My first paragraph.&lt;/p&gt;</a:t>
            </a:r>
            <a:endParaRPr lang="en-US" sz="1800" dirty="0"/>
          </a:p>
          <a:p>
            <a:r>
              <a:rPr lang="en-US" sz="1800" dirty="0"/>
              <a:t>	&lt;/body&gt;</a:t>
            </a:r>
            <a:endParaRPr lang="en-US" sz="1800" dirty="0"/>
          </a:p>
          <a:p>
            <a:r>
              <a:rPr lang="en-US" sz="1800" dirty="0"/>
              <a:t>&lt;/html&gt;</a:t>
            </a:r>
            <a:endParaRPr lang="en-US" sz="1800" dirty="0"/>
          </a:p>
          <a:p>
            <a:endParaRPr lang="en-US" sz="1800" dirty="0"/>
          </a:p>
          <a:p>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HTML Paragraphs</a:t>
            </a:r>
            <a:endParaRPr lang="en-IN" dirty="0"/>
          </a:p>
        </p:txBody>
      </p:sp>
      <p:sp>
        <p:nvSpPr>
          <p:cNvPr id="3" name="Text Placeholder 2"/>
          <p:cNvSpPr>
            <a:spLocks noGrp="1"/>
          </p:cNvSpPr>
          <p:nvPr>
            <p:ph type="body" idx="1"/>
          </p:nvPr>
        </p:nvSpPr>
        <p:spPr>
          <a:xfrm>
            <a:off x="1250950" y="1289050"/>
            <a:ext cx="9309100" cy="5015540"/>
          </a:xfrm>
        </p:spPr>
        <p:txBody>
          <a:bodyPr/>
          <a:lstStyle/>
          <a:p>
            <a:r>
              <a:rPr lang="en-US" dirty="0"/>
              <a:t>The HTML &lt;p&gt; element defines a paragraph.</a:t>
            </a:r>
            <a:endParaRPr lang="en-US" dirty="0"/>
          </a:p>
          <a:p>
            <a:r>
              <a:rPr lang="en-US" b="1" dirty="0"/>
              <a:t>Note:</a:t>
            </a:r>
            <a:r>
              <a:rPr lang="en-US" dirty="0"/>
              <a:t> Browsers automatically add some white space (a margin) before and after a paragraph.</a:t>
            </a:r>
            <a:endParaRPr lang="en-US" dirty="0"/>
          </a:p>
          <a:p>
            <a:r>
              <a:rPr lang="en-US" dirty="0"/>
              <a:t>You cannot be sure how HTML will be displayed. Large or small screens, and resized windows will create different results.</a:t>
            </a:r>
            <a:endParaRPr lang="en-US" dirty="0"/>
          </a:p>
          <a:p>
            <a:r>
              <a:rPr lang="en-US" dirty="0"/>
              <a:t>With HTML, you cannot change the output by adding extra spaces or extra lines in your HTML code.</a:t>
            </a:r>
            <a:endParaRPr lang="en-US" dirty="0"/>
          </a:p>
          <a:p>
            <a:r>
              <a:rPr lang="en-US" dirty="0"/>
              <a:t>The browser will remove any extra spaces and extra lines when the page is displayed:</a:t>
            </a:r>
            <a:endParaRPr lang="en-IN" dirty="0"/>
          </a:p>
          <a:p>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0634135" y="6356350"/>
            <a:ext cx="1530927" cy="365125"/>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C11CE39-2868-44A2-A0C6-827D458F7A8B}" type="slidenum">
              <a:rPr lang="en-IN" smtClean="0"/>
            </a:fld>
            <a:endParaRPr lang="en-IN"/>
          </a:p>
        </p:txBody>
      </p:sp>
      <p:sp>
        <p:nvSpPr>
          <p:cNvPr id="3" name="Rectangle 2"/>
          <p:cNvSpPr/>
          <p:nvPr/>
        </p:nvSpPr>
        <p:spPr>
          <a:xfrm>
            <a:off x="635540" y="178766"/>
            <a:ext cx="9811965" cy="7017306"/>
          </a:xfrm>
          <a:prstGeom prst="rect">
            <a:avLst/>
          </a:prstGeom>
        </p:spPr>
        <p:txBody>
          <a:bodyPr wrap="square">
            <a:spAutoFit/>
          </a:bodyPr>
          <a:lstStyle/>
          <a:p>
            <a:r>
              <a:rPr lang="en-US" dirty="0">
                <a:solidFill>
                  <a:schemeClr val="tx1"/>
                </a:solidFill>
                <a:latin typeface="Cambria" panose="02040503050406030204" pitchFamily="18" charset="0"/>
                <a:ea typeface="Cambria" panose="02040503050406030204" pitchFamily="18" charset="0"/>
              </a:rPr>
              <a:t>&lt;html&gt;</a:t>
            </a:r>
            <a:endParaRPr lang="en-US" dirty="0">
              <a:solidFill>
                <a:schemeClr val="tx1"/>
              </a:solidFill>
              <a:latin typeface="Cambria" panose="02040503050406030204" pitchFamily="18" charset="0"/>
              <a:ea typeface="Cambria" panose="02040503050406030204" pitchFamily="18" charset="0"/>
            </a:endParaRPr>
          </a:p>
          <a:p>
            <a:r>
              <a:rPr lang="en-US" dirty="0">
                <a:solidFill>
                  <a:schemeClr val="tx1"/>
                </a:solidFill>
                <a:latin typeface="Cambria" panose="02040503050406030204" pitchFamily="18" charset="0"/>
                <a:ea typeface="Cambria" panose="02040503050406030204" pitchFamily="18" charset="0"/>
              </a:rPr>
              <a:t>	&lt;body&gt;</a:t>
            </a:r>
            <a:endParaRPr lang="en-US" dirty="0">
              <a:solidFill>
                <a:schemeClr val="tx1"/>
              </a:solidFill>
              <a:latin typeface="Cambria" panose="02040503050406030204" pitchFamily="18" charset="0"/>
              <a:ea typeface="Cambria" panose="02040503050406030204" pitchFamily="18" charset="0"/>
            </a:endParaRPr>
          </a:p>
          <a:p>
            <a:endParaRPr lang="en-US" dirty="0">
              <a:solidFill>
                <a:schemeClr val="tx1"/>
              </a:solidFill>
              <a:latin typeface="Cambria" panose="02040503050406030204" pitchFamily="18" charset="0"/>
              <a:ea typeface="Cambria" panose="02040503050406030204" pitchFamily="18" charset="0"/>
            </a:endParaRPr>
          </a:p>
          <a:p>
            <a:r>
              <a:rPr lang="en-US" dirty="0">
                <a:solidFill>
                  <a:schemeClr val="tx1"/>
                </a:solidFill>
                <a:latin typeface="Cambria" panose="02040503050406030204" pitchFamily="18" charset="0"/>
                <a:ea typeface="Cambria" panose="02040503050406030204" pitchFamily="18" charset="0"/>
              </a:rPr>
              <a:t>		&lt;p&gt;</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This paragraph</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contains a lot of lines</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in the source code,</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but the browser </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ignores it.</a:t>
            </a:r>
            <a:endParaRPr lang="en-US" dirty="0">
              <a:solidFill>
                <a:schemeClr val="tx1"/>
              </a:solidFill>
              <a:latin typeface="Cambria" panose="02040503050406030204" pitchFamily="18" charset="0"/>
              <a:ea typeface="Cambria" panose="02040503050406030204" pitchFamily="18" charset="0"/>
            </a:endParaRPr>
          </a:p>
          <a:p>
            <a:r>
              <a:rPr lang="en-US" dirty="0">
                <a:solidFill>
                  <a:schemeClr val="tx1"/>
                </a:solidFill>
                <a:latin typeface="Cambria" panose="02040503050406030204" pitchFamily="18" charset="0"/>
                <a:ea typeface="Cambria" panose="02040503050406030204" pitchFamily="18" charset="0"/>
              </a:rPr>
              <a:t>		&lt;/p&gt;</a:t>
            </a:r>
            <a:endParaRPr lang="en-US" dirty="0">
              <a:solidFill>
                <a:schemeClr val="tx1"/>
              </a:solidFill>
              <a:latin typeface="Cambria" panose="02040503050406030204" pitchFamily="18" charset="0"/>
              <a:ea typeface="Cambria" panose="02040503050406030204" pitchFamily="18" charset="0"/>
            </a:endParaRPr>
          </a:p>
          <a:p>
            <a:pPr marL="855980" lvl="1">
              <a:buNone/>
            </a:pPr>
            <a:r>
              <a:rPr lang="en-US" dirty="0">
                <a:solidFill>
                  <a:schemeClr val="tx1"/>
                </a:solidFill>
                <a:latin typeface="Cambria" panose="02040503050406030204" pitchFamily="18" charset="0"/>
                <a:ea typeface="Cambria" panose="02040503050406030204" pitchFamily="18" charset="0"/>
              </a:rPr>
              <a:t>&lt;p&gt;</a:t>
            </a:r>
            <a:endParaRPr lang="en-US" dirty="0">
              <a:solidFill>
                <a:schemeClr val="tx1"/>
              </a:solidFill>
              <a:latin typeface="Cambria" panose="02040503050406030204" pitchFamily="18" charset="0"/>
              <a:ea typeface="Cambria" panose="02040503050406030204" pitchFamily="18" charset="0"/>
            </a:endParaRPr>
          </a:p>
          <a:p>
            <a:pPr marL="2111375" lvl="2">
              <a:buNone/>
            </a:pPr>
            <a:r>
              <a:rPr lang="en-US" dirty="0">
                <a:solidFill>
                  <a:schemeClr val="tx1"/>
                </a:solidFill>
                <a:latin typeface="Cambria" panose="02040503050406030204" pitchFamily="18" charset="0"/>
                <a:ea typeface="Cambria" panose="02040503050406030204" pitchFamily="18" charset="0"/>
              </a:rPr>
              <a:t>This paragraph</a:t>
            </a:r>
            <a:endParaRPr lang="en-US" dirty="0">
              <a:solidFill>
                <a:schemeClr val="tx1"/>
              </a:solidFill>
              <a:latin typeface="Cambria" panose="02040503050406030204" pitchFamily="18" charset="0"/>
              <a:ea typeface="Cambria" panose="02040503050406030204" pitchFamily="18" charset="0"/>
            </a:endParaRPr>
          </a:p>
          <a:p>
            <a:pPr marL="2111375" lvl="2">
              <a:buNone/>
            </a:pPr>
            <a:r>
              <a:rPr lang="en-US" dirty="0">
                <a:solidFill>
                  <a:schemeClr val="tx1"/>
                </a:solidFill>
                <a:latin typeface="Cambria" panose="02040503050406030204" pitchFamily="18" charset="0"/>
                <a:ea typeface="Cambria" panose="02040503050406030204" pitchFamily="18" charset="0"/>
              </a:rPr>
              <a:t>contains      a lot of spaces</a:t>
            </a:r>
            <a:endParaRPr lang="en-US" dirty="0">
              <a:solidFill>
                <a:schemeClr val="tx1"/>
              </a:solidFill>
              <a:latin typeface="Cambria" panose="02040503050406030204" pitchFamily="18" charset="0"/>
              <a:ea typeface="Cambria" panose="02040503050406030204" pitchFamily="18" charset="0"/>
            </a:endParaRPr>
          </a:p>
          <a:p>
            <a:pPr marL="2111375" lvl="2">
              <a:buNone/>
            </a:pPr>
            <a:r>
              <a:rPr lang="en-US" dirty="0">
                <a:solidFill>
                  <a:schemeClr val="tx1"/>
                </a:solidFill>
                <a:latin typeface="Cambria" panose="02040503050406030204" pitchFamily="18" charset="0"/>
                <a:ea typeface="Cambria" panose="02040503050406030204" pitchFamily="18" charset="0"/>
              </a:rPr>
              <a:t>in the source     code,</a:t>
            </a:r>
            <a:endParaRPr lang="en-US" dirty="0">
              <a:solidFill>
                <a:schemeClr val="tx1"/>
              </a:solidFill>
              <a:latin typeface="Cambria" panose="02040503050406030204" pitchFamily="18" charset="0"/>
              <a:ea typeface="Cambria" panose="02040503050406030204" pitchFamily="18" charset="0"/>
            </a:endParaRPr>
          </a:p>
          <a:p>
            <a:pPr marL="2111375" lvl="2">
              <a:buNone/>
            </a:pPr>
            <a:r>
              <a:rPr lang="en-US" dirty="0">
                <a:solidFill>
                  <a:schemeClr val="tx1"/>
                </a:solidFill>
                <a:latin typeface="Cambria" panose="02040503050406030204" pitchFamily="18" charset="0"/>
                <a:ea typeface="Cambria" panose="02040503050406030204" pitchFamily="18" charset="0"/>
              </a:rPr>
              <a:t>but the    browser </a:t>
            </a:r>
            <a:endParaRPr lang="en-US" dirty="0">
              <a:solidFill>
                <a:schemeClr val="tx1"/>
              </a:solidFill>
              <a:latin typeface="Cambria" panose="02040503050406030204" pitchFamily="18" charset="0"/>
              <a:ea typeface="Cambria" panose="02040503050406030204" pitchFamily="18" charset="0"/>
            </a:endParaRPr>
          </a:p>
          <a:p>
            <a:pPr marL="2111375" lvl="2">
              <a:buNone/>
            </a:pPr>
            <a:r>
              <a:rPr lang="en-US" dirty="0">
                <a:solidFill>
                  <a:schemeClr val="tx1"/>
                </a:solidFill>
                <a:latin typeface="Cambria" panose="02040503050406030204" pitchFamily="18" charset="0"/>
                <a:ea typeface="Cambria" panose="02040503050406030204" pitchFamily="18" charset="0"/>
              </a:rPr>
              <a:t>ignores it.</a:t>
            </a:r>
            <a:endParaRPr lang="en-US" dirty="0">
              <a:solidFill>
                <a:schemeClr val="tx1"/>
              </a:solidFill>
              <a:latin typeface="Cambria" panose="02040503050406030204" pitchFamily="18" charset="0"/>
              <a:ea typeface="Cambria" panose="02040503050406030204" pitchFamily="18" charset="0"/>
            </a:endParaRPr>
          </a:p>
          <a:p>
            <a:pPr marL="855980" lvl="1">
              <a:buNone/>
            </a:pPr>
            <a:r>
              <a:rPr lang="en-US" dirty="0">
                <a:solidFill>
                  <a:schemeClr val="tx1"/>
                </a:solidFill>
                <a:latin typeface="Cambria" panose="02040503050406030204" pitchFamily="18" charset="0"/>
                <a:ea typeface="Cambria" panose="02040503050406030204" pitchFamily="18" charset="0"/>
              </a:rPr>
              <a:t>&lt;/p&gt;</a:t>
            </a:r>
            <a:endParaRPr lang="en-US" dirty="0">
              <a:solidFill>
                <a:schemeClr val="tx1"/>
              </a:solidFill>
              <a:latin typeface="Cambria" panose="02040503050406030204" pitchFamily="18" charset="0"/>
              <a:ea typeface="Cambria" panose="02040503050406030204" pitchFamily="18" charset="0"/>
            </a:endParaRPr>
          </a:p>
          <a:p>
            <a:pPr marL="855980" lvl="1">
              <a:buNone/>
            </a:pPr>
            <a:r>
              <a:rPr lang="en-US" dirty="0">
                <a:solidFill>
                  <a:schemeClr val="tx1"/>
                </a:solidFill>
                <a:latin typeface="Cambria" panose="02040503050406030204" pitchFamily="18" charset="0"/>
                <a:ea typeface="Cambria" panose="02040503050406030204" pitchFamily="18" charset="0"/>
              </a:rPr>
              <a:t>&lt;p&gt;</a:t>
            </a:r>
            <a:endParaRPr lang="en-US" dirty="0">
              <a:solidFill>
                <a:schemeClr val="tx1"/>
              </a:solidFill>
              <a:latin typeface="Cambria" panose="02040503050406030204" pitchFamily="18" charset="0"/>
              <a:ea typeface="Cambria" panose="02040503050406030204" pitchFamily="18" charset="0"/>
            </a:endParaRPr>
          </a:p>
          <a:p>
            <a:pPr marL="2062480" lvl="1">
              <a:buNone/>
            </a:pPr>
            <a:r>
              <a:rPr lang="en-US" dirty="0">
                <a:solidFill>
                  <a:schemeClr val="tx1"/>
                </a:solidFill>
                <a:latin typeface="Cambria" panose="02040503050406030204" pitchFamily="18" charset="0"/>
                <a:ea typeface="Cambria" panose="02040503050406030204" pitchFamily="18" charset="0"/>
              </a:rPr>
              <a:t>The number of lines in a paragraph depends on the size of the browser window. If you resize the browser window, the number of lines in this paragraph will change.</a:t>
            </a:r>
            <a:endParaRPr lang="en-US" dirty="0">
              <a:solidFill>
                <a:schemeClr val="tx1"/>
              </a:solidFill>
              <a:latin typeface="Cambria" panose="02040503050406030204" pitchFamily="18" charset="0"/>
              <a:ea typeface="Cambria" panose="02040503050406030204" pitchFamily="18" charset="0"/>
            </a:endParaRPr>
          </a:p>
          <a:p>
            <a:pPr marL="855980" lvl="1">
              <a:buNone/>
            </a:pPr>
            <a:r>
              <a:rPr lang="en-US" dirty="0">
                <a:solidFill>
                  <a:schemeClr val="tx1"/>
                </a:solidFill>
                <a:latin typeface="Cambria" panose="02040503050406030204" pitchFamily="18" charset="0"/>
                <a:ea typeface="Cambria" panose="02040503050406030204" pitchFamily="18" charset="0"/>
              </a:rPr>
              <a:t>&lt;/p&gt;</a:t>
            </a:r>
            <a:endParaRPr lang="en-US" dirty="0">
              <a:solidFill>
                <a:schemeClr val="tx1"/>
              </a:solidFill>
              <a:latin typeface="Cambria" panose="02040503050406030204" pitchFamily="18" charset="0"/>
              <a:ea typeface="Cambria" panose="02040503050406030204" pitchFamily="18" charset="0"/>
            </a:endParaRPr>
          </a:p>
          <a:p>
            <a:pPr marL="233680" lvl="1">
              <a:buNone/>
            </a:pPr>
            <a:r>
              <a:rPr lang="en-IN" dirty="0">
                <a:solidFill>
                  <a:schemeClr val="tx1"/>
                </a:solidFill>
                <a:latin typeface="Cambria" panose="02040503050406030204" pitchFamily="18" charset="0"/>
                <a:ea typeface="Cambria" panose="02040503050406030204" pitchFamily="18" charset="0"/>
              </a:rPr>
              <a:t>&lt;/body&gt;</a:t>
            </a:r>
            <a:endParaRPr lang="en-IN" dirty="0">
              <a:solidFill>
                <a:schemeClr val="tx1"/>
              </a:solidFill>
              <a:latin typeface="Cambria" panose="02040503050406030204" pitchFamily="18" charset="0"/>
              <a:ea typeface="Cambria" panose="02040503050406030204" pitchFamily="18" charset="0"/>
            </a:endParaRPr>
          </a:p>
          <a:p>
            <a:pPr marL="0" lvl="1">
              <a:buNone/>
            </a:pPr>
            <a:r>
              <a:rPr lang="en-IN" dirty="0">
                <a:solidFill>
                  <a:schemeClr val="tx1"/>
                </a:solidFill>
                <a:latin typeface="Cambria" panose="02040503050406030204" pitchFamily="18" charset="0"/>
                <a:ea typeface="Cambria" panose="02040503050406030204" pitchFamily="18" charset="0"/>
              </a:rPr>
              <a:t>&lt;/html&gt;</a:t>
            </a:r>
            <a:endParaRPr lang="en-IN" dirty="0">
              <a:solidFill>
                <a:schemeClr val="tx1"/>
              </a:solidFill>
              <a:latin typeface="Cambria" panose="02040503050406030204" pitchFamily="18" charset="0"/>
              <a:ea typeface="Cambria" panose="02040503050406030204" pitchFamily="18" charset="0"/>
            </a:endParaRPr>
          </a:p>
          <a:p>
            <a:endParaRPr lang="en-IN"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 tag</a:t>
            </a:r>
            <a:endParaRPr lang="en-IN" dirty="0"/>
          </a:p>
        </p:txBody>
      </p:sp>
      <p:sp>
        <p:nvSpPr>
          <p:cNvPr id="3" name="Text Placeholder 2"/>
          <p:cNvSpPr>
            <a:spLocks noGrp="1"/>
          </p:cNvSpPr>
          <p:nvPr>
            <p:ph type="body" idx="1"/>
          </p:nvPr>
        </p:nvSpPr>
        <p:spPr>
          <a:xfrm>
            <a:off x="914400" y="762000"/>
            <a:ext cx="10439400" cy="6742167"/>
          </a:xfrm>
        </p:spPr>
        <p:txBody>
          <a:bodyPr/>
          <a:lstStyle/>
          <a:p>
            <a:r>
              <a:rPr lang="en-IN" b="1" dirty="0"/>
              <a:t>The Poem Problem:</a:t>
            </a:r>
            <a:endParaRPr lang="en-IN" b="1" dirty="0"/>
          </a:p>
          <a:p>
            <a:pPr marL="0" indent="0">
              <a:lnSpc>
                <a:spcPct val="120000"/>
              </a:lnSpc>
              <a:buNone/>
            </a:pPr>
            <a:r>
              <a:rPr lang="en-US" dirty="0"/>
              <a:t>&lt;html&gt;</a:t>
            </a:r>
            <a:endParaRPr lang="en-US" dirty="0"/>
          </a:p>
          <a:p>
            <a:pPr marL="0" indent="0">
              <a:lnSpc>
                <a:spcPct val="120000"/>
              </a:lnSpc>
              <a:buNone/>
            </a:pPr>
            <a:r>
              <a:rPr lang="en-US" dirty="0"/>
              <a:t>	&lt;body&gt;</a:t>
            </a:r>
            <a:endParaRPr lang="en-US" dirty="0"/>
          </a:p>
          <a:p>
            <a:pPr marL="0" indent="0">
              <a:lnSpc>
                <a:spcPct val="120000"/>
              </a:lnSpc>
              <a:buNone/>
            </a:pPr>
            <a:r>
              <a:rPr lang="en-US" dirty="0"/>
              <a:t>		&lt;p&gt;</a:t>
            </a:r>
            <a:endParaRPr lang="en-US" dirty="0"/>
          </a:p>
          <a:p>
            <a:pPr marL="2171700" lvl="5" indent="0">
              <a:lnSpc>
                <a:spcPct val="120000"/>
              </a:lnSpc>
              <a:buNone/>
            </a:pPr>
            <a:r>
              <a:rPr lang="en-US" sz="2200" dirty="0">
                <a:solidFill>
                  <a:schemeClr val="tx1"/>
                </a:solidFill>
                <a:latin typeface="Cambria" panose="02040503050406030204" pitchFamily="18" charset="0"/>
                <a:ea typeface="Cambria" panose="02040503050406030204" pitchFamily="18" charset="0"/>
              </a:rPr>
              <a:t>  My Bonnie lies over the ocean.</a:t>
            </a: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r>
              <a:rPr lang="en-US" sz="2200" dirty="0">
                <a:solidFill>
                  <a:schemeClr val="tx1"/>
                </a:solidFill>
                <a:latin typeface="Cambria" panose="02040503050406030204" pitchFamily="18" charset="0"/>
                <a:ea typeface="Cambria" panose="02040503050406030204" pitchFamily="18" charset="0"/>
              </a:rPr>
              <a:t>  My Bonnie lies over the sea.</a:t>
            </a: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r>
              <a:rPr lang="en-US" sz="2200" dirty="0">
                <a:solidFill>
                  <a:schemeClr val="tx1"/>
                </a:solidFill>
                <a:latin typeface="Cambria" panose="02040503050406030204" pitchFamily="18" charset="0"/>
                <a:ea typeface="Cambria" panose="02040503050406030204" pitchFamily="18" charset="0"/>
              </a:rPr>
              <a:t>  My Bonnie lies over the ocean.</a:t>
            </a: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r>
              <a:rPr lang="en-US" sz="2200" dirty="0">
                <a:solidFill>
                  <a:schemeClr val="tx1"/>
                </a:solidFill>
                <a:latin typeface="Cambria" panose="02040503050406030204" pitchFamily="18" charset="0"/>
                <a:ea typeface="Cambria" panose="02040503050406030204" pitchFamily="18" charset="0"/>
              </a:rPr>
              <a:t>  </a:t>
            </a:r>
            <a:endParaRPr lang="en-US" sz="2200" dirty="0">
              <a:solidFill>
                <a:schemeClr val="tx1"/>
              </a:solidFill>
              <a:latin typeface="Cambria" panose="02040503050406030204" pitchFamily="18" charset="0"/>
              <a:ea typeface="Cambria" panose="02040503050406030204" pitchFamily="18" charset="0"/>
            </a:endParaRPr>
          </a:p>
          <a:p>
            <a:pPr marL="2171700" lvl="5" indent="0">
              <a:lnSpc>
                <a:spcPct val="120000"/>
              </a:lnSpc>
              <a:buNone/>
            </a:pPr>
            <a:r>
              <a:rPr lang="en-US" sz="2200" dirty="0">
                <a:solidFill>
                  <a:schemeClr val="tx1"/>
                </a:solidFill>
                <a:latin typeface="Cambria" panose="02040503050406030204" pitchFamily="18" charset="0"/>
                <a:ea typeface="Cambria" panose="02040503050406030204" pitchFamily="18" charset="0"/>
              </a:rPr>
              <a:t>  Oh, bring back my Bonnie to me.</a:t>
            </a:r>
            <a:endParaRPr lang="en-US" dirty="0"/>
          </a:p>
          <a:p>
            <a:pPr marL="0" indent="0">
              <a:lnSpc>
                <a:spcPct val="120000"/>
              </a:lnSpc>
              <a:buNone/>
            </a:pPr>
            <a:r>
              <a:rPr lang="en-US" dirty="0"/>
              <a:t>		&lt;/p&gt;</a:t>
            </a:r>
            <a:endParaRPr lang="en-US" dirty="0"/>
          </a:p>
          <a:p>
            <a:pPr marL="0" indent="0">
              <a:lnSpc>
                <a:spcPct val="120000"/>
              </a:lnSpc>
              <a:buNone/>
            </a:pPr>
            <a:r>
              <a:rPr lang="en-US" dirty="0"/>
              <a:t>	&lt;/body&gt;</a:t>
            </a:r>
            <a:endParaRPr lang="en-US" dirty="0"/>
          </a:p>
          <a:p>
            <a:pPr marL="0" indent="0">
              <a:lnSpc>
                <a:spcPct val="120000"/>
              </a:lnSpc>
              <a:buNone/>
            </a:pPr>
            <a:r>
              <a:rPr lang="en-US" dirty="0"/>
              <a:t>&lt;/html&gt;</a:t>
            </a:r>
            <a:endParaRPr lang="en-IN" dirty="0"/>
          </a:p>
          <a:p>
            <a:endParaRPr lang="en-US" dirty="0"/>
          </a:p>
          <a:p>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 Tag</a:t>
            </a:r>
            <a:endParaRPr lang="en-IN" dirty="0"/>
          </a:p>
        </p:txBody>
      </p:sp>
      <p:sp>
        <p:nvSpPr>
          <p:cNvPr id="3" name="Text Placeholder 2"/>
          <p:cNvSpPr>
            <a:spLocks noGrp="1"/>
          </p:cNvSpPr>
          <p:nvPr>
            <p:ph type="body" idx="1"/>
          </p:nvPr>
        </p:nvSpPr>
        <p:spPr>
          <a:xfrm>
            <a:off x="1250950" y="1289050"/>
            <a:ext cx="9309100" cy="6031203"/>
          </a:xfrm>
        </p:spPr>
        <p:txBody>
          <a:bodyPr/>
          <a:lstStyle/>
          <a:p>
            <a:r>
              <a:rPr lang="en-US" dirty="0"/>
              <a:t>This poem will display on a single line.</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4000" y="1838739"/>
            <a:ext cx="6320118" cy="370425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 Tag</a:t>
            </a:r>
            <a:endParaRPr lang="en-IN" dirty="0"/>
          </a:p>
        </p:txBody>
      </p:sp>
      <p:sp>
        <p:nvSpPr>
          <p:cNvPr id="3" name="Text Placeholder 2"/>
          <p:cNvSpPr>
            <a:spLocks noGrp="1"/>
          </p:cNvSpPr>
          <p:nvPr>
            <p:ph type="body" idx="1"/>
          </p:nvPr>
        </p:nvSpPr>
        <p:spPr>
          <a:xfrm>
            <a:off x="1066800" y="838200"/>
            <a:ext cx="10591800" cy="6908366"/>
          </a:xfrm>
        </p:spPr>
        <p:txBody>
          <a:bodyPr/>
          <a:lstStyle/>
          <a:p>
            <a:r>
              <a:rPr lang="en-US" dirty="0"/>
              <a:t>The HTML &lt;pre&gt; element defines preformatted text.</a:t>
            </a:r>
            <a:endParaRPr lang="en-US" dirty="0"/>
          </a:p>
          <a:p>
            <a:r>
              <a:rPr lang="en-US" dirty="0"/>
              <a:t>The text inside a &lt;pre&gt; element is displayed in a fixed-width font (usually Courier), and it preserves both spaces and line breaks</a:t>
            </a:r>
            <a:endParaRPr lang="en-IN" dirty="0"/>
          </a:p>
          <a:p>
            <a:pPr marL="0" indent="0">
              <a:buNone/>
            </a:pPr>
            <a:r>
              <a:rPr lang="en-US" sz="1800" dirty="0"/>
              <a:t>&lt;html&gt;</a:t>
            </a:r>
            <a:endParaRPr lang="en-US" sz="1800" dirty="0"/>
          </a:p>
          <a:p>
            <a:pPr marL="0" indent="0">
              <a:buNone/>
            </a:pPr>
            <a:r>
              <a:rPr lang="en-US" sz="1800" dirty="0"/>
              <a:t>	&lt;body&gt;</a:t>
            </a:r>
            <a:endParaRPr lang="en-US" sz="1800" dirty="0"/>
          </a:p>
          <a:p>
            <a:pPr marL="0" indent="0">
              <a:buNone/>
            </a:pPr>
            <a:r>
              <a:rPr lang="en-US" sz="1800" dirty="0"/>
              <a:t>		&lt;pre&gt;</a:t>
            </a:r>
            <a:endParaRPr lang="en-US" sz="1800" dirty="0"/>
          </a:p>
          <a:p>
            <a:pPr marL="2171700" lvl="5" indent="0">
              <a:buNone/>
            </a:pPr>
            <a:r>
              <a:rPr lang="en-US" dirty="0">
                <a:solidFill>
                  <a:schemeClr val="tx1"/>
                </a:solidFill>
                <a:latin typeface="Cambria" panose="02040503050406030204" pitchFamily="18" charset="0"/>
                <a:ea typeface="Cambria" panose="02040503050406030204" pitchFamily="18" charset="0"/>
              </a:rPr>
              <a:t>  My Bonnie lies over the ocean.</a:t>
            </a:r>
            <a:endParaRPr lang="en-US" dirty="0">
              <a:solidFill>
                <a:schemeClr val="tx1"/>
              </a:solidFill>
              <a:latin typeface="Cambria" panose="02040503050406030204" pitchFamily="18" charset="0"/>
              <a:ea typeface="Cambria" panose="02040503050406030204" pitchFamily="18" charset="0"/>
            </a:endParaRPr>
          </a:p>
          <a:p>
            <a:pPr marL="2171700" lvl="5" indent="0">
              <a:buNone/>
            </a:pP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  My Bonnie lies over the sea.</a:t>
            </a:r>
            <a:endParaRPr lang="en-US" dirty="0">
              <a:solidFill>
                <a:schemeClr val="tx1"/>
              </a:solidFill>
              <a:latin typeface="Cambria" panose="02040503050406030204" pitchFamily="18" charset="0"/>
              <a:ea typeface="Cambria" panose="02040503050406030204" pitchFamily="18" charset="0"/>
            </a:endParaRPr>
          </a:p>
          <a:p>
            <a:pPr marL="2171700" lvl="5" indent="0">
              <a:buNone/>
            </a:pP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  My Bonnie lies over the ocean.</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  </a:t>
            </a:r>
            <a:endParaRPr lang="en-US" dirty="0">
              <a:solidFill>
                <a:schemeClr val="tx1"/>
              </a:solidFill>
              <a:latin typeface="Cambria" panose="02040503050406030204" pitchFamily="18" charset="0"/>
              <a:ea typeface="Cambria" panose="02040503050406030204" pitchFamily="18" charset="0"/>
            </a:endParaRPr>
          </a:p>
          <a:p>
            <a:pPr marL="2171700" lvl="5" indent="0">
              <a:buNone/>
            </a:pPr>
            <a:r>
              <a:rPr lang="en-US" dirty="0">
                <a:solidFill>
                  <a:schemeClr val="tx1"/>
                </a:solidFill>
                <a:latin typeface="Cambria" panose="02040503050406030204" pitchFamily="18" charset="0"/>
                <a:ea typeface="Cambria" panose="02040503050406030204" pitchFamily="18" charset="0"/>
              </a:rPr>
              <a:t>  Oh, bring back my Bonnie to me.</a:t>
            </a:r>
            <a:endParaRPr lang="en-US" dirty="0">
              <a:solidFill>
                <a:schemeClr val="tx1"/>
              </a:solidFill>
              <a:latin typeface="Cambria" panose="02040503050406030204" pitchFamily="18" charset="0"/>
              <a:ea typeface="Cambria" panose="02040503050406030204" pitchFamily="18" charset="0"/>
            </a:endParaRPr>
          </a:p>
          <a:p>
            <a:pPr marL="0" indent="0">
              <a:buNone/>
            </a:pPr>
            <a:r>
              <a:rPr lang="en-US" sz="1800" dirty="0"/>
              <a:t>		&lt;/pre&gt;</a:t>
            </a:r>
            <a:endParaRPr lang="en-US" sz="1800" dirty="0"/>
          </a:p>
          <a:p>
            <a:pPr marL="0" indent="0">
              <a:buNone/>
            </a:pPr>
            <a:r>
              <a:rPr lang="en-US" sz="1800" dirty="0"/>
              <a:t>	&lt;/body&gt;</a:t>
            </a:r>
            <a:endParaRPr lang="en-US" sz="1800" dirty="0"/>
          </a:p>
          <a:p>
            <a:pPr marL="0" indent="0">
              <a:buNone/>
            </a:pPr>
            <a:r>
              <a:rPr lang="en-US" sz="1800" dirty="0"/>
              <a:t>&lt;/html&gt;</a:t>
            </a:r>
            <a:endParaRPr lang="en-IN" sz="1800" dirty="0"/>
          </a:p>
          <a:p>
            <a:endParaRPr lang="en-US" dirty="0"/>
          </a:p>
          <a:p>
            <a:endParaRPr lang="en-I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 Tag</a:t>
            </a:r>
            <a:endParaRPr lang="en-IN" dirty="0"/>
          </a:p>
        </p:txBody>
      </p:sp>
      <p:sp>
        <p:nvSpPr>
          <p:cNvPr id="3" name="Text Placeholder 2"/>
          <p:cNvSpPr>
            <a:spLocks noGrp="1"/>
          </p:cNvSpPr>
          <p:nvPr>
            <p:ph type="body" idx="1"/>
          </p:nvPr>
        </p:nvSpPr>
        <p:spPr>
          <a:xfrm>
            <a:off x="1250950" y="1289050"/>
            <a:ext cx="9309100" cy="1460721"/>
          </a:xfrm>
        </p:spPr>
        <p:txBody>
          <a:bodyPr/>
          <a:lstStyle/>
          <a:p>
            <a:r>
              <a:rPr lang="en-US" dirty="0"/>
              <a:t>This poem will have formatting</a:t>
            </a:r>
            <a:endParaRPr lang="en-US" dirty="0"/>
          </a:p>
          <a:p>
            <a:endParaRPr lang="en-US" dirty="0"/>
          </a:p>
          <a:p>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4000" y="2019410"/>
            <a:ext cx="6320118" cy="370425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Tag</a:t>
            </a:r>
            <a:endParaRPr lang="en-IN" dirty="0"/>
          </a:p>
        </p:txBody>
      </p:sp>
      <p:sp>
        <p:nvSpPr>
          <p:cNvPr id="3" name="Text Placeholder 2"/>
          <p:cNvSpPr>
            <a:spLocks noGrp="1"/>
          </p:cNvSpPr>
          <p:nvPr>
            <p:ph type="body" idx="1"/>
          </p:nvPr>
        </p:nvSpPr>
        <p:spPr>
          <a:xfrm>
            <a:off x="914400" y="762000"/>
            <a:ext cx="10712450" cy="6539034"/>
          </a:xfrm>
        </p:spPr>
        <p:txBody>
          <a:bodyPr/>
          <a:lstStyle/>
          <a:p>
            <a:r>
              <a:rPr lang="en-US" b="1" dirty="0"/>
              <a:t>Br tag:</a:t>
            </a:r>
            <a:endParaRPr lang="en-US" b="1" dirty="0"/>
          </a:p>
          <a:p>
            <a:r>
              <a:rPr lang="en-US" dirty="0"/>
              <a:t>The HTML &lt;</a:t>
            </a:r>
            <a:r>
              <a:rPr lang="en-US" dirty="0" err="1"/>
              <a:t>br</a:t>
            </a:r>
            <a:r>
              <a:rPr lang="en-US" dirty="0"/>
              <a:t>&gt; element defines a line break.</a:t>
            </a:r>
            <a:endParaRPr lang="en-US" dirty="0"/>
          </a:p>
          <a:p>
            <a:r>
              <a:rPr lang="en-US" dirty="0"/>
              <a:t>Use &lt;</a:t>
            </a:r>
            <a:r>
              <a:rPr lang="en-US" dirty="0" err="1"/>
              <a:t>br</a:t>
            </a:r>
            <a:r>
              <a:rPr lang="en-US" dirty="0"/>
              <a:t>&gt; if you want a line break (a new line) without starting a new paragraph.</a:t>
            </a:r>
            <a:endParaRPr lang="en-US" dirty="0"/>
          </a:p>
          <a:p>
            <a:r>
              <a:rPr lang="en-US" dirty="0"/>
              <a:t>The &lt;</a:t>
            </a:r>
            <a:r>
              <a:rPr lang="en-US" dirty="0" err="1"/>
              <a:t>br</a:t>
            </a:r>
            <a:r>
              <a:rPr lang="en-US" dirty="0"/>
              <a:t>&gt; tag is an empty tag, which means that it has no end tag.</a:t>
            </a:r>
            <a:endParaRPr lang="en-US" dirty="0"/>
          </a:p>
          <a:p>
            <a:pPr marL="0" indent="0">
              <a:buNone/>
            </a:pPr>
            <a:r>
              <a:rPr lang="en-US" dirty="0"/>
              <a:t>&lt;html&gt;</a:t>
            </a:r>
            <a:endParaRPr lang="en-US" dirty="0"/>
          </a:p>
          <a:p>
            <a:pPr marL="0" indent="0">
              <a:buNone/>
            </a:pPr>
            <a:r>
              <a:rPr lang="en-US" dirty="0"/>
              <a:t>	&lt;body&gt;</a:t>
            </a:r>
            <a:endParaRPr lang="en-US" dirty="0"/>
          </a:p>
          <a:p>
            <a:pPr marL="0" indent="0">
              <a:buNone/>
            </a:pPr>
            <a:endParaRPr lang="en-US" dirty="0"/>
          </a:p>
          <a:p>
            <a:pPr marL="0" indent="0">
              <a:buNone/>
            </a:pPr>
            <a:r>
              <a:rPr lang="en-US" dirty="0"/>
              <a:t>		&lt;p&gt;This is&lt;</a:t>
            </a:r>
            <a:r>
              <a:rPr lang="en-US" dirty="0" err="1"/>
              <a:t>br</a:t>
            </a:r>
            <a:r>
              <a:rPr lang="en-US" dirty="0"/>
              <a:t>&gt;a paragraph&lt;</a:t>
            </a:r>
            <a:r>
              <a:rPr lang="en-US" dirty="0" err="1"/>
              <a:t>br</a:t>
            </a:r>
            <a:r>
              <a:rPr lang="en-US" dirty="0"/>
              <a:t>&gt;with line breaks&lt;/p&gt;</a:t>
            </a:r>
            <a:endParaRPr lang="en-US" dirty="0"/>
          </a:p>
          <a:p>
            <a:pPr marL="0" indent="0">
              <a:buNone/>
            </a:pPr>
            <a:endParaRPr lang="en-US" dirty="0"/>
          </a:p>
          <a:p>
            <a:pPr marL="0" indent="0">
              <a:buNone/>
            </a:pPr>
            <a:r>
              <a:rPr lang="en-US" dirty="0"/>
              <a:t>	&lt;/body&gt;</a:t>
            </a:r>
            <a:endParaRPr lang="en-US" dirty="0"/>
          </a:p>
          <a:p>
            <a:pPr marL="0" indent="0">
              <a:buNone/>
            </a:pPr>
            <a:r>
              <a:rPr lang="en-US" dirty="0"/>
              <a:t>&lt;/html&gt;</a:t>
            </a:r>
            <a:endParaRPr lang="en-IN" dirty="0"/>
          </a:p>
          <a:p>
            <a:endParaRPr lang="en-US" dirty="0"/>
          </a:p>
          <a:p>
            <a:endParaRPr lang="en-I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Styles </a:t>
            </a:r>
            <a:endParaRPr lang="en-IN" dirty="0"/>
          </a:p>
        </p:txBody>
      </p:sp>
      <p:sp>
        <p:nvSpPr>
          <p:cNvPr id="3" name="Text Placeholder 2"/>
          <p:cNvSpPr>
            <a:spLocks noGrp="1"/>
          </p:cNvSpPr>
          <p:nvPr>
            <p:ph type="body" idx="1"/>
          </p:nvPr>
        </p:nvSpPr>
        <p:spPr>
          <a:xfrm>
            <a:off x="838200" y="914400"/>
            <a:ext cx="10591800" cy="5523372"/>
          </a:xfrm>
        </p:spPr>
        <p:txBody>
          <a:bodyPr/>
          <a:lstStyle/>
          <a:p>
            <a:r>
              <a:rPr lang="en-US" dirty="0"/>
              <a:t>Setting the style of an HTML element, can be done with the style attribute.</a:t>
            </a:r>
            <a:endParaRPr lang="en-US" dirty="0"/>
          </a:p>
          <a:p>
            <a:r>
              <a:rPr lang="en-IN" dirty="0">
                <a:solidFill>
                  <a:srgbClr val="FF0000"/>
                </a:solidFill>
              </a:rPr>
              <a:t>&lt;</a:t>
            </a:r>
            <a:r>
              <a:rPr lang="en-IN" i="1" dirty="0" err="1">
                <a:solidFill>
                  <a:srgbClr val="FF0000"/>
                </a:solidFill>
              </a:rPr>
              <a:t>tagname</a:t>
            </a:r>
            <a:r>
              <a:rPr lang="en-IN" dirty="0">
                <a:solidFill>
                  <a:srgbClr val="FF0000"/>
                </a:solidFill>
              </a:rPr>
              <a:t> style="</a:t>
            </a:r>
            <a:r>
              <a:rPr lang="en-IN" i="1" dirty="0" err="1">
                <a:solidFill>
                  <a:srgbClr val="FF0000"/>
                </a:solidFill>
              </a:rPr>
              <a:t>property</a:t>
            </a:r>
            <a:r>
              <a:rPr lang="en-IN" dirty="0" err="1">
                <a:solidFill>
                  <a:srgbClr val="FF0000"/>
                </a:solidFill>
              </a:rPr>
              <a:t>:</a:t>
            </a:r>
            <a:r>
              <a:rPr lang="en-IN" i="1" dirty="0" err="1">
                <a:solidFill>
                  <a:srgbClr val="FF0000"/>
                </a:solidFill>
              </a:rPr>
              <a:t>value</a:t>
            </a:r>
            <a:r>
              <a:rPr lang="en-IN" i="1" dirty="0">
                <a:solidFill>
                  <a:srgbClr val="FF0000"/>
                </a:solidFill>
              </a:rPr>
              <a:t>;</a:t>
            </a:r>
            <a:r>
              <a:rPr lang="en-IN" dirty="0">
                <a:solidFill>
                  <a:srgbClr val="FF0000"/>
                </a:solidFill>
              </a:rPr>
              <a:t>"&gt; </a:t>
            </a:r>
            <a:endParaRPr lang="en-IN" dirty="0">
              <a:solidFill>
                <a:srgbClr val="FF0000"/>
              </a:solidFill>
            </a:endParaRPr>
          </a:p>
          <a:p>
            <a:r>
              <a:rPr lang="en-US" dirty="0"/>
              <a:t>The </a:t>
            </a:r>
            <a:r>
              <a:rPr lang="en-US" b="1" i="1" dirty="0"/>
              <a:t>property</a:t>
            </a:r>
            <a:r>
              <a:rPr lang="en-US" dirty="0"/>
              <a:t> is a CSS property. The </a:t>
            </a:r>
            <a:r>
              <a:rPr lang="en-US" b="1" i="1" dirty="0"/>
              <a:t>value</a:t>
            </a:r>
            <a:r>
              <a:rPr lang="en-US" dirty="0"/>
              <a:t> is a CSS value.</a:t>
            </a:r>
            <a:endParaRPr lang="en-IN" dirty="0"/>
          </a:p>
          <a:p>
            <a:r>
              <a:rPr lang="en-US" b="1" dirty="0">
                <a:solidFill>
                  <a:srgbClr val="FF0000"/>
                </a:solidFill>
              </a:rPr>
              <a:t>style attribute: </a:t>
            </a:r>
            <a:r>
              <a:rPr lang="en-US" dirty="0"/>
              <a:t>for styling HTML elements</a:t>
            </a:r>
            <a:endParaRPr lang="en-US" dirty="0"/>
          </a:p>
          <a:p>
            <a:r>
              <a:rPr lang="en-US" b="1" dirty="0">
                <a:solidFill>
                  <a:srgbClr val="FF0000"/>
                </a:solidFill>
              </a:rPr>
              <a:t> background-color: </a:t>
            </a:r>
            <a:r>
              <a:rPr lang="en-US" dirty="0"/>
              <a:t>for background color</a:t>
            </a:r>
            <a:endParaRPr lang="en-US" dirty="0"/>
          </a:p>
          <a:p>
            <a:r>
              <a:rPr lang="en-US" b="1" dirty="0">
                <a:solidFill>
                  <a:srgbClr val="FF0000"/>
                </a:solidFill>
              </a:rPr>
              <a:t> color : </a:t>
            </a:r>
            <a:r>
              <a:rPr lang="en-US" dirty="0"/>
              <a:t>for text colors</a:t>
            </a:r>
            <a:endParaRPr lang="en-US" dirty="0"/>
          </a:p>
          <a:p>
            <a:r>
              <a:rPr lang="en-US" b="1" dirty="0">
                <a:solidFill>
                  <a:srgbClr val="FF0000"/>
                </a:solidFill>
              </a:rPr>
              <a:t> font-family: </a:t>
            </a:r>
            <a:r>
              <a:rPr lang="en-US" dirty="0"/>
              <a:t>for text fonts</a:t>
            </a:r>
            <a:endParaRPr lang="en-US" dirty="0"/>
          </a:p>
          <a:p>
            <a:r>
              <a:rPr lang="en-US" dirty="0"/>
              <a:t> </a:t>
            </a:r>
            <a:r>
              <a:rPr lang="en-US" b="1" dirty="0">
                <a:solidFill>
                  <a:srgbClr val="FF0000"/>
                </a:solidFill>
              </a:rPr>
              <a:t>font-size:</a:t>
            </a:r>
            <a:r>
              <a:rPr lang="en-US" dirty="0">
                <a:solidFill>
                  <a:srgbClr val="FF0000"/>
                </a:solidFill>
              </a:rPr>
              <a:t> </a:t>
            </a:r>
            <a:r>
              <a:rPr lang="en-US" dirty="0"/>
              <a:t>for text sizes</a:t>
            </a:r>
            <a:endParaRPr lang="en-US" dirty="0"/>
          </a:p>
          <a:p>
            <a:r>
              <a:rPr lang="en-US" b="1" dirty="0">
                <a:solidFill>
                  <a:srgbClr val="FF0000"/>
                </a:solidFill>
              </a:rPr>
              <a:t> text-align: </a:t>
            </a:r>
            <a:r>
              <a:rPr lang="en-US" dirty="0"/>
              <a:t>for text alignment</a:t>
            </a:r>
            <a:endParaRPr lang="en-IN" dirty="0"/>
          </a:p>
          <a:p>
            <a:endParaRPr lang="en-US" dirty="0"/>
          </a:p>
          <a:p>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91" y="9271"/>
            <a:ext cx="8004175" cy="553998"/>
          </a:xfrm>
        </p:spPr>
        <p:txBody>
          <a:bodyPr/>
          <a:lstStyle/>
          <a:p>
            <a:r>
              <a:rPr lang="en-IN" b="1" dirty="0"/>
              <a:t>Background </a:t>
            </a:r>
            <a:r>
              <a:rPr lang="en-IN" b="1" dirty="0" err="1"/>
              <a:t>Color</a:t>
            </a:r>
            <a:endParaRPr lang="en-IN" dirty="0"/>
          </a:p>
        </p:txBody>
      </p:sp>
      <p:sp>
        <p:nvSpPr>
          <p:cNvPr id="3" name="Text Placeholder 2"/>
          <p:cNvSpPr>
            <a:spLocks noGrp="1"/>
          </p:cNvSpPr>
          <p:nvPr>
            <p:ph type="body" idx="1"/>
          </p:nvPr>
        </p:nvSpPr>
        <p:spPr>
          <a:xfrm>
            <a:off x="685800" y="939419"/>
            <a:ext cx="11125200" cy="5909310"/>
          </a:xfrm>
        </p:spPr>
        <p:txBody>
          <a:bodyPr/>
          <a:lstStyle/>
          <a:p>
            <a:r>
              <a:rPr lang="en-US" dirty="0"/>
              <a:t>The CSS</a:t>
            </a:r>
            <a:r>
              <a:rPr lang="en-US" dirty="0">
                <a:solidFill>
                  <a:srgbClr val="FF0000"/>
                </a:solidFill>
              </a:rPr>
              <a:t> </a:t>
            </a:r>
            <a:r>
              <a:rPr lang="en-US" b="1" dirty="0">
                <a:solidFill>
                  <a:srgbClr val="FF0000"/>
                </a:solidFill>
              </a:rPr>
              <a:t>background-color</a:t>
            </a:r>
            <a:r>
              <a:rPr lang="en-US" dirty="0">
                <a:solidFill>
                  <a:srgbClr val="FF0000"/>
                </a:solidFill>
              </a:rPr>
              <a:t> </a:t>
            </a:r>
            <a:r>
              <a:rPr lang="en-US" dirty="0"/>
              <a:t>property defines the background color for an HTML element.</a:t>
            </a:r>
            <a:endParaRPr lang="en-US" dirty="0"/>
          </a:p>
          <a:p>
            <a:pPr marL="182880" lvl="0" indent="-182880" algn="l">
              <a:lnSpc>
                <a:spcPct val="90000"/>
              </a:lnSpc>
              <a:spcBef>
                <a:spcPts val="1200"/>
              </a:spcBef>
              <a:buClr>
                <a:srgbClr val="40BAD2"/>
              </a:buClr>
              <a:buFont typeface="Wingdings 2" panose="05020102010507070707" pitchFamily="18" charset="2"/>
              <a:buChar char=""/>
            </a:pPr>
            <a:r>
              <a:rPr lang="en-US" dirty="0"/>
              <a:t>&lt;body style="</a:t>
            </a:r>
            <a:r>
              <a:rPr lang="en-US" dirty="0" err="1"/>
              <a:t>background-color:powderblue</a:t>
            </a:r>
            <a:r>
              <a:rPr lang="en-US" dirty="0"/>
              <a:t>;"&gt;</a:t>
            </a:r>
            <a:br>
              <a:rPr lang="en-US" dirty="0"/>
            </a:br>
            <a:br>
              <a:rPr lang="en-US" dirty="0"/>
            </a:br>
            <a:r>
              <a:rPr lang="en-US" dirty="0"/>
              <a:t>	&lt;h1&gt;This is a heading&lt;/h1&gt;</a:t>
            </a:r>
            <a:br>
              <a:rPr lang="en-US" dirty="0"/>
            </a:br>
            <a:r>
              <a:rPr lang="en-US" dirty="0"/>
              <a:t>	&lt;p&gt;This is a paragraph.&lt;/p&gt;</a:t>
            </a:r>
            <a:br>
              <a:rPr lang="en-US" dirty="0"/>
            </a:br>
            <a:br>
              <a:rPr lang="en-US" dirty="0"/>
            </a:br>
            <a:r>
              <a:rPr lang="en-US" dirty="0"/>
              <a:t>&lt;/body&gt;</a:t>
            </a:r>
            <a:endParaRPr lang="en-US" dirty="0"/>
          </a:p>
          <a:p>
            <a:r>
              <a:rPr lang="en-IN" b="1" dirty="0"/>
              <a:t>Font family</a:t>
            </a:r>
            <a:endParaRPr lang="en-IN" b="1" dirty="0"/>
          </a:p>
          <a:p>
            <a:r>
              <a:rPr lang="en-US" dirty="0"/>
              <a:t>The CSS</a:t>
            </a:r>
            <a:r>
              <a:rPr lang="en-US" b="1" dirty="0">
                <a:solidFill>
                  <a:srgbClr val="FF0000"/>
                </a:solidFill>
              </a:rPr>
              <a:t> font-family </a:t>
            </a:r>
            <a:r>
              <a:rPr lang="en-US" dirty="0"/>
              <a:t>property defines the font to be used for an HTML element</a:t>
            </a:r>
            <a:endParaRPr lang="en-US" dirty="0"/>
          </a:p>
          <a:p>
            <a:pPr marL="0" lvl="0" indent="0" algn="l">
              <a:lnSpc>
                <a:spcPct val="90000"/>
              </a:lnSpc>
              <a:spcBef>
                <a:spcPts val="1200"/>
              </a:spcBef>
              <a:buClr>
                <a:srgbClr val="40BAD2"/>
              </a:buClr>
              <a:buNone/>
            </a:pPr>
            <a:r>
              <a:rPr lang="en-US" sz="2400" dirty="0"/>
              <a:t>&lt;body&gt;</a:t>
            </a:r>
            <a:endParaRPr lang="en-US" sz="2400" dirty="0"/>
          </a:p>
          <a:p>
            <a:pPr marL="0" lvl="0" indent="0" algn="l">
              <a:lnSpc>
                <a:spcPct val="90000"/>
              </a:lnSpc>
              <a:spcBef>
                <a:spcPts val="1200"/>
              </a:spcBef>
              <a:buClr>
                <a:srgbClr val="40BAD2"/>
              </a:buClr>
              <a:buNone/>
            </a:pPr>
            <a:r>
              <a:rPr lang="en-US" sz="2400" dirty="0"/>
              <a:t>	&lt;h1 style="</a:t>
            </a:r>
            <a:r>
              <a:rPr lang="en-US" sz="2400" dirty="0" err="1"/>
              <a:t>font-family:verdana</a:t>
            </a:r>
            <a:r>
              <a:rPr lang="en-US" sz="2400" dirty="0"/>
              <a:t>;"&gt;This is a heading&lt;/h1&gt;</a:t>
            </a:r>
            <a:endParaRPr lang="en-US" sz="2400" dirty="0"/>
          </a:p>
          <a:p>
            <a:pPr marL="0" lvl="0" indent="0" algn="l">
              <a:lnSpc>
                <a:spcPct val="90000"/>
              </a:lnSpc>
              <a:spcBef>
                <a:spcPts val="1200"/>
              </a:spcBef>
              <a:buClr>
                <a:srgbClr val="40BAD2"/>
              </a:buClr>
              <a:buNone/>
            </a:pPr>
            <a:r>
              <a:rPr lang="en-US" sz="2400" dirty="0"/>
              <a:t>	&lt;p style="</a:t>
            </a:r>
            <a:r>
              <a:rPr lang="en-US" sz="2400" dirty="0" err="1"/>
              <a:t>font-family:courier</a:t>
            </a:r>
            <a:r>
              <a:rPr lang="en-US" sz="2400" dirty="0"/>
              <a:t>;"&gt;This is a paragraph.&lt;/p&gt;</a:t>
            </a:r>
            <a:endParaRPr lang="en-US" sz="2400" dirty="0"/>
          </a:p>
          <a:p>
            <a:pPr marL="0" lvl="0" indent="0" algn="l">
              <a:lnSpc>
                <a:spcPct val="90000"/>
              </a:lnSpc>
              <a:spcBef>
                <a:spcPts val="1200"/>
              </a:spcBef>
              <a:buClr>
                <a:srgbClr val="40BAD2"/>
              </a:buClr>
              <a:buNone/>
            </a:pPr>
            <a:r>
              <a:rPr lang="en-US" sz="2400" dirty="0"/>
              <a:t>&lt;/body&gt;</a:t>
            </a:r>
            <a:endParaRPr lang="en-US" sz="2400" dirty="0"/>
          </a:p>
          <a:p>
            <a:pPr marL="182880" lvl="0" indent="-182880" algn="l">
              <a:lnSpc>
                <a:spcPct val="90000"/>
              </a:lnSpc>
              <a:spcBef>
                <a:spcPts val="1200"/>
              </a:spcBef>
              <a:buClr>
                <a:srgbClr val="40BAD2"/>
              </a:buClr>
              <a:buFont typeface="Wingdings 2" panose="05020102010507070707" pitchFamily="18" charset="2"/>
              <a:buChar char=""/>
            </a:pPr>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914400" y="762000"/>
            <a:ext cx="10820400" cy="6366679"/>
          </a:xfrm>
        </p:spPr>
        <p:txBody>
          <a:bodyPr/>
          <a:lstStyle/>
          <a:p>
            <a:r>
              <a:rPr lang="en-IN" b="1" dirty="0"/>
              <a:t>Font </a:t>
            </a:r>
            <a:r>
              <a:rPr lang="en-IN" b="1" dirty="0" err="1"/>
              <a:t>color</a:t>
            </a:r>
            <a:endParaRPr lang="en-IN" b="1" dirty="0"/>
          </a:p>
          <a:p>
            <a:r>
              <a:rPr lang="en-IN" b="1" dirty="0"/>
              <a:t>T</a:t>
            </a:r>
            <a:r>
              <a:rPr lang="en-US" dirty="0"/>
              <a:t>he CSS</a:t>
            </a:r>
            <a:r>
              <a:rPr lang="en-US" b="1" dirty="0">
                <a:solidFill>
                  <a:srgbClr val="FF0000"/>
                </a:solidFill>
              </a:rPr>
              <a:t> color </a:t>
            </a:r>
            <a:r>
              <a:rPr lang="en-US" dirty="0"/>
              <a:t>property defines the font to be used for an HTML element.</a:t>
            </a:r>
            <a:endParaRPr lang="en-US" dirty="0"/>
          </a:p>
          <a:p>
            <a:pPr marL="0" lvl="0" indent="0" algn="l">
              <a:lnSpc>
                <a:spcPct val="90000"/>
              </a:lnSpc>
              <a:spcBef>
                <a:spcPts val="1200"/>
              </a:spcBef>
              <a:buClr>
                <a:srgbClr val="40BAD2"/>
              </a:buClr>
              <a:buNone/>
            </a:pPr>
            <a:r>
              <a:rPr lang="en-US" sz="2400" dirty="0"/>
              <a:t>&lt;body&gt;</a:t>
            </a:r>
            <a:endParaRPr lang="en-US" sz="2400" dirty="0"/>
          </a:p>
          <a:p>
            <a:pPr marL="0" lvl="0" indent="0" algn="l">
              <a:lnSpc>
                <a:spcPct val="90000"/>
              </a:lnSpc>
              <a:spcBef>
                <a:spcPts val="1200"/>
              </a:spcBef>
              <a:buClr>
                <a:srgbClr val="40BAD2"/>
              </a:buClr>
              <a:buNone/>
            </a:pPr>
            <a:r>
              <a:rPr lang="en-US" sz="2400" dirty="0"/>
              <a:t>	&lt;h1 style=“</a:t>
            </a:r>
            <a:r>
              <a:rPr lang="en-US" sz="2400" dirty="0" err="1"/>
              <a:t>color:red</a:t>
            </a:r>
            <a:r>
              <a:rPr lang="en-US" sz="2400" dirty="0"/>
              <a:t>;"&gt;This is a heading&lt;/h1&gt;</a:t>
            </a:r>
            <a:endParaRPr lang="en-US" sz="2400" dirty="0"/>
          </a:p>
          <a:p>
            <a:pPr marL="0" lvl="0" indent="0" algn="l">
              <a:lnSpc>
                <a:spcPct val="90000"/>
              </a:lnSpc>
              <a:spcBef>
                <a:spcPts val="1200"/>
              </a:spcBef>
              <a:buClr>
                <a:srgbClr val="40BAD2"/>
              </a:buClr>
              <a:buNone/>
            </a:pPr>
            <a:r>
              <a:rPr lang="en-US" sz="2400" dirty="0"/>
              <a:t>	&lt;p style="</a:t>
            </a:r>
            <a:r>
              <a:rPr lang="en-US" sz="2400" dirty="0" err="1"/>
              <a:t>font-family:courier</a:t>
            </a:r>
            <a:r>
              <a:rPr lang="en-US" sz="2400" dirty="0"/>
              <a:t>;"&gt;This is a paragraph.&lt;/p&gt;</a:t>
            </a:r>
            <a:endParaRPr lang="en-US" sz="2400" dirty="0"/>
          </a:p>
          <a:p>
            <a:pPr marL="0" lvl="0" indent="0" algn="l">
              <a:lnSpc>
                <a:spcPct val="90000"/>
              </a:lnSpc>
              <a:spcBef>
                <a:spcPts val="1200"/>
              </a:spcBef>
              <a:buClr>
                <a:srgbClr val="40BAD2"/>
              </a:buClr>
              <a:buNone/>
            </a:pPr>
            <a:r>
              <a:rPr lang="en-US" sz="2400" dirty="0"/>
              <a:t>&lt;/body&gt;</a:t>
            </a:r>
            <a:endParaRPr lang="en-IN" sz="2400" dirty="0"/>
          </a:p>
          <a:p>
            <a:r>
              <a:rPr lang="en-IN" b="1" dirty="0"/>
              <a:t>Text Size</a:t>
            </a:r>
            <a:endParaRPr lang="en-IN" b="1" dirty="0"/>
          </a:p>
          <a:p>
            <a:r>
              <a:rPr lang="en-US" dirty="0"/>
              <a:t>The CSS </a:t>
            </a:r>
            <a:r>
              <a:rPr lang="en-US" b="1" dirty="0">
                <a:solidFill>
                  <a:srgbClr val="FF0000"/>
                </a:solidFill>
              </a:rPr>
              <a:t>font-size</a:t>
            </a:r>
            <a:r>
              <a:rPr lang="en-US" dirty="0"/>
              <a:t> property defines the text size for an HTML element.</a:t>
            </a:r>
            <a:endParaRPr lang="en-US" dirty="0"/>
          </a:p>
          <a:p>
            <a:pPr marL="0" lvl="0" indent="0" algn="l">
              <a:lnSpc>
                <a:spcPct val="90000"/>
              </a:lnSpc>
              <a:spcBef>
                <a:spcPts val="1200"/>
              </a:spcBef>
              <a:buClr>
                <a:srgbClr val="40BAD2"/>
              </a:buClr>
              <a:buNone/>
            </a:pPr>
            <a:r>
              <a:rPr lang="en-US" sz="2400" dirty="0"/>
              <a:t>	&lt;body&gt;</a:t>
            </a:r>
            <a:endParaRPr lang="en-US" sz="2400" dirty="0"/>
          </a:p>
          <a:p>
            <a:pPr marL="0" lvl="0" indent="0" algn="l">
              <a:lnSpc>
                <a:spcPct val="90000"/>
              </a:lnSpc>
              <a:spcBef>
                <a:spcPts val="1200"/>
              </a:spcBef>
              <a:buClr>
                <a:srgbClr val="40BAD2"/>
              </a:buClr>
              <a:buNone/>
            </a:pPr>
            <a:r>
              <a:rPr lang="en-US" sz="2400" dirty="0"/>
              <a:t>		&lt;h1 style="font-size:300%;"&gt;This is a heading&lt;/h1&gt;</a:t>
            </a:r>
            <a:endParaRPr lang="en-US" sz="2400" dirty="0"/>
          </a:p>
          <a:p>
            <a:pPr marL="0" lvl="0" indent="0" algn="l">
              <a:lnSpc>
                <a:spcPct val="90000"/>
              </a:lnSpc>
              <a:spcBef>
                <a:spcPts val="1200"/>
              </a:spcBef>
              <a:buClr>
                <a:srgbClr val="40BAD2"/>
              </a:buClr>
              <a:buNone/>
            </a:pPr>
            <a:r>
              <a:rPr lang="en-US" sz="2400" dirty="0"/>
              <a:t>		&lt;p style="font-size:160%;"&gt;This is a paragraph.&lt;/p&gt;</a:t>
            </a:r>
            <a:endParaRPr lang="en-US" sz="2400" dirty="0"/>
          </a:p>
          <a:p>
            <a:pPr marL="0" lvl="0" indent="0" algn="l">
              <a:lnSpc>
                <a:spcPct val="90000"/>
              </a:lnSpc>
              <a:spcBef>
                <a:spcPts val="1200"/>
              </a:spcBef>
              <a:buClr>
                <a:srgbClr val="40BAD2"/>
              </a:buClr>
              <a:buNone/>
            </a:pPr>
            <a:r>
              <a:rPr lang="en-US" sz="2400" dirty="0"/>
              <a:t>	&lt;/body&gt;</a:t>
            </a:r>
            <a:endParaRPr lang="en-US" sz="2400" dirty="0"/>
          </a:p>
          <a:p>
            <a:endParaRPr lang="en-I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26028</Words>
  <Application>WPS Presentation</Application>
  <PresentationFormat>Widescreen</PresentationFormat>
  <Paragraphs>720</Paragraphs>
  <Slides>68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68</vt:i4>
      </vt:variant>
    </vt:vector>
  </HeadingPairs>
  <TitlesOfParts>
    <vt:vector size="87" baseType="lpstr">
      <vt:lpstr>Arial</vt:lpstr>
      <vt:lpstr>SimSun</vt:lpstr>
      <vt:lpstr>Wingdings</vt:lpstr>
      <vt:lpstr>Cambria</vt:lpstr>
      <vt:lpstr>Thonburi</vt:lpstr>
      <vt:lpstr>Cambria</vt:lpstr>
      <vt:lpstr>苹方-简</vt:lpstr>
      <vt:lpstr>Times New Roman</vt:lpstr>
      <vt:lpstr>Arial MT</vt:lpstr>
      <vt:lpstr>Open Sans Bold</vt:lpstr>
      <vt:lpstr>Times New Roman</vt:lpstr>
      <vt:lpstr>Microsoft YaHei</vt:lpstr>
      <vt:lpstr>汉仪旗黑</vt:lpstr>
      <vt:lpstr>Arial Unicode MS</vt:lpstr>
      <vt:lpstr>Aptos</vt:lpstr>
      <vt:lpstr>Helvetica Neue</vt:lpstr>
      <vt:lpstr>Wingdings 2</vt:lpstr>
      <vt:lpstr>Calibri</vt:lpstr>
      <vt:lpstr>Office Theme</vt:lpstr>
      <vt:lpstr>Introduction to Web and HTML 	</vt:lpstr>
      <vt:lpstr>Topics Covered</vt:lpstr>
      <vt:lpstr>CO Mapping</vt:lpstr>
      <vt:lpstr>Introduction to WWW</vt:lpstr>
      <vt:lpstr>Internet vs. www</vt:lpstr>
      <vt:lpstr>Internet vs. www</vt:lpstr>
      <vt:lpstr>Introduction to Web Servers</vt:lpstr>
      <vt:lpstr>PowerPoint 演示文稿</vt:lpstr>
      <vt:lpstr>Introduction to Web Servers</vt:lpstr>
      <vt:lpstr>Introduction to Web Servers</vt:lpstr>
      <vt:lpstr>Introduction to Web Servers</vt:lpstr>
      <vt:lpstr>Example</vt:lpstr>
      <vt:lpstr>Example</vt:lpstr>
      <vt:lpstr>Example</vt:lpstr>
      <vt:lpstr>Introduction to Web Browser</vt:lpstr>
      <vt:lpstr>Introduction to Web Browser</vt:lpstr>
      <vt:lpstr>Introduction to Web Browser</vt:lpstr>
      <vt:lpstr>Introduction to Web Browser</vt:lpstr>
      <vt:lpstr>Introduction to Web Browser</vt:lpstr>
      <vt:lpstr>Component of a Web browser </vt:lpstr>
      <vt:lpstr>Component of a Web browser </vt:lpstr>
      <vt:lpstr>Component of a Web browser </vt:lpstr>
      <vt:lpstr>PowerPoint 演示文稿</vt:lpstr>
      <vt:lpstr>How does a browser work?</vt:lpstr>
      <vt:lpstr>How does a browser work?</vt:lpstr>
      <vt:lpstr>HTTP request and Response Model 	 </vt:lpstr>
      <vt:lpstr>HTTP request and Response Model</vt:lpstr>
      <vt:lpstr>HTTP request and Response Model</vt:lpstr>
      <vt:lpstr>Architecture</vt:lpstr>
      <vt:lpstr>HTTP Request Method</vt:lpstr>
      <vt:lpstr>HTTP Request Methods</vt:lpstr>
      <vt:lpstr>HTTP Request Methods</vt:lpstr>
      <vt:lpstr>HTTP Request Methods</vt:lpstr>
      <vt:lpstr>HTTP Request Methods</vt:lpstr>
      <vt:lpstr>HTTP Request Methods</vt:lpstr>
      <vt:lpstr>HTTP Request Methods</vt:lpstr>
      <vt:lpstr>HTTP Request Methods</vt:lpstr>
      <vt:lpstr>HTTP Response Message</vt:lpstr>
      <vt:lpstr>HTTP Response Message</vt:lpstr>
      <vt:lpstr>HTTP Response Message</vt:lpstr>
      <vt:lpstr>Difference between http and https</vt:lpstr>
      <vt:lpstr>Structure of HTML	 </vt:lpstr>
      <vt:lpstr>Structure of HTML	</vt:lpstr>
      <vt:lpstr>Structure of HTML	</vt:lpstr>
      <vt:lpstr>Structure of HTML	</vt:lpstr>
      <vt:lpstr>Doctype  in HTML</vt:lpstr>
      <vt:lpstr>HTML Elements, tags and attributes</vt:lpstr>
      <vt:lpstr>HTML Elements, tags and attributes</vt:lpstr>
      <vt:lpstr>HTML Elements, tags and attributes</vt:lpstr>
      <vt:lpstr>HTML Attributes</vt:lpstr>
      <vt:lpstr>HTML Attributes</vt:lpstr>
      <vt:lpstr>HTML Attributes</vt:lpstr>
      <vt:lpstr>PowerPoint 演示文稿</vt:lpstr>
      <vt:lpstr>Formatting and Fonts</vt:lpstr>
      <vt:lpstr>Example</vt:lpstr>
      <vt:lpstr>Bigger Headings</vt:lpstr>
      <vt:lpstr>HTML Horizontal Rules</vt:lpstr>
      <vt:lpstr>HTML Paragraphs</vt:lpstr>
      <vt:lpstr>PowerPoint 演示文稿</vt:lpstr>
      <vt:lpstr>PRE tag</vt:lpstr>
      <vt:lpstr>Pre Tag</vt:lpstr>
      <vt:lpstr>Pre Tag</vt:lpstr>
      <vt:lpstr>Pre Tag</vt:lpstr>
      <vt:lpstr>Break Tag</vt:lpstr>
      <vt:lpstr>HTML Styles </vt:lpstr>
      <vt:lpstr>Background Color</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Jigar Dave</cp:lastModifiedBy>
  <cp:revision>60</cp:revision>
  <dcterms:created xsi:type="dcterms:W3CDTF">2025-07-09T06:54:02Z</dcterms:created>
  <dcterms:modified xsi:type="dcterms:W3CDTF">2025-07-09T06:54:02Z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2024-02-20T05:30:00Z</vt:filetime>
  </property>
  <property fmtid="{D5CDD505-2E9C-101B-9397-08002B2CF9AE}" pid="3" name="Creator">
    <vt:lpwstr>Microsoft® PowerPoint® 2013</vt:lpwstr>
  </property>
  <property fmtid="{D5CDD505-2E9C-101B-9397-08002B2CF9AE}" pid="4" name="LastSaved">
    <vt:filetime>2025-03-18T05:30:00Z</vt:filetime>
  </property>
  <property fmtid="{D5CDD505-2E9C-101B-9397-08002B2CF9AE}" pid="5" name="Producer">
    <vt:lpwstr>Microsoft® PowerPoint® 2013</vt:lpwstr>
  </property>
  <property fmtid="{D5CDD505-2E9C-101B-9397-08002B2CF9AE}" pid="6" name="ICV">
    <vt:lpwstr>A8C62A4BB86E00A40A126E6841244AA8_42</vt:lpwstr>
  </property>
  <property fmtid="{D5CDD505-2E9C-101B-9397-08002B2CF9AE}" pid="7" name="KSOProductBuildVer">
    <vt:lpwstr>1033-6.12.2.8699</vt:lpwstr>
  </property>
</Properties>
</file>